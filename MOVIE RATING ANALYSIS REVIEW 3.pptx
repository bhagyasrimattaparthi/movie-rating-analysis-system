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0.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8" r:id="rId2"/>
    <p:sldId id="257" r:id="rId3"/>
    <p:sldId id="260" r:id="rId4"/>
    <p:sldId id="261" r:id="rId5"/>
    <p:sldId id="262" r:id="rId6"/>
    <p:sldId id="263" r:id="rId7"/>
    <p:sldId id="264" r:id="rId8"/>
    <p:sldId id="265" r:id="rId9"/>
    <p:sldId id="269" r:id="rId10"/>
    <p:sldId id="270" r:id="rId11"/>
    <p:sldId id="273" r:id="rId12"/>
    <p:sldId id="282" r:id="rId13"/>
    <p:sldId id="283" r:id="rId14"/>
    <p:sldId id="284" r:id="rId15"/>
    <p:sldId id="285" r:id="rId16"/>
    <p:sldId id="286" r:id="rId17"/>
    <p:sldId id="287" r:id="rId18"/>
    <p:sldId id="288" r:id="rId19"/>
    <p:sldId id="266" r:id="rId20"/>
    <p:sldId id="267" r:id="rId21"/>
    <p:sldId id="268" r:id="rId22"/>
    <p:sldId id="289" r:id="rId23"/>
    <p:sldId id="29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691B2-158E-406B-B066-369810138F6E}"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03B2A-CB03-471F-AB67-534B124260D4}" type="slidenum">
              <a:rPr lang="en-IN" smtClean="0"/>
              <a:t>‹#›</a:t>
            </a:fld>
            <a:endParaRPr lang="en-IN"/>
          </a:p>
        </p:txBody>
      </p:sp>
    </p:spTree>
    <p:extLst>
      <p:ext uri="{BB962C8B-B14F-4D97-AF65-F5344CB8AC3E}">
        <p14:creationId xmlns:p14="http://schemas.microsoft.com/office/powerpoint/2010/main" val="529407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24E1FE4-A89D-4E59-815C-5F7DC52C78BC}" type="slidenum">
              <a:rPr lang="en-IN" smtClean="0"/>
              <a:t>1</a:t>
            </a:fld>
            <a:endParaRPr lang="en-IN"/>
          </a:p>
        </p:txBody>
      </p:sp>
    </p:spTree>
    <p:extLst>
      <p:ext uri="{BB962C8B-B14F-4D97-AF65-F5344CB8AC3E}">
        <p14:creationId xmlns:p14="http://schemas.microsoft.com/office/powerpoint/2010/main" val="3268658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203B2A-CB03-471F-AB67-534B124260D4}" type="slidenum">
              <a:rPr lang="en-IN" smtClean="0"/>
              <a:t>3</a:t>
            </a:fld>
            <a:endParaRPr lang="en-IN"/>
          </a:p>
        </p:txBody>
      </p:sp>
    </p:spTree>
    <p:extLst>
      <p:ext uri="{BB962C8B-B14F-4D97-AF65-F5344CB8AC3E}">
        <p14:creationId xmlns:p14="http://schemas.microsoft.com/office/powerpoint/2010/main" val="3588506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8A473-6B2D-2883-B95D-D85A87E942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CF0C78-464E-3C17-8B7D-B4BB86B3B3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261701-DB7C-D9FA-D14F-B39A75B38EBE}"/>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E31F9E20-B3A6-6F5A-D7F3-8670BFFD8D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3CACC8-7979-CD78-203C-18FDA529F7E9}"/>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1236457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4E79-C570-9358-22C8-6655DCAE6A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289666-A116-EF86-FCD5-D15D854DD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8A4897-8A56-EE47-1C52-7C4A9C57281E}"/>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A6B64252-7E92-9911-E932-8A3CB1BD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8AB49B-0FC3-1F37-468B-960EAF36B456}"/>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43886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202B-B620-29C9-EF7F-F2AAE20BA2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0F7043-7D4D-2FC5-E47D-5866A0FCCF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A7E2F2-4B64-BA0C-BEC8-708C45C7FB34}"/>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57AF6F4A-395F-9108-FFF1-CBD73C565E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502438-C567-C835-4AA1-8F8BBD1B9113}"/>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183364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9835-C8D9-18B2-E5D8-97C8DFF207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9CDEF2-0DD6-D2CE-70C8-5792124E89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836306-285E-C4A7-2C41-8BCF61BFFE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E7C372-052E-8537-419C-2AC265159A09}"/>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6" name="Footer Placeholder 5">
            <a:extLst>
              <a:ext uri="{FF2B5EF4-FFF2-40B4-BE49-F238E27FC236}">
                <a16:creationId xmlns:a16="http://schemas.microsoft.com/office/drawing/2014/main" id="{97B99A7F-AE81-2180-2323-5A86345D92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C4D4E6-4CA7-54EA-F44B-BF8413D1D409}"/>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3621561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0826-3E6A-553F-07FB-F7CC8F4868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53731B-137B-3E25-EC20-43AD661AD9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88DF7B-0E72-F896-28FD-BC0AD65B06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6677FF-99E9-C25B-4287-6EB5A3C9E9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A01910-3EC0-8A8A-58DB-96FB24AE4E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23A962-469E-C3A7-A35A-573AA2609E24}"/>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8" name="Footer Placeholder 7">
            <a:extLst>
              <a:ext uri="{FF2B5EF4-FFF2-40B4-BE49-F238E27FC236}">
                <a16:creationId xmlns:a16="http://schemas.microsoft.com/office/drawing/2014/main" id="{CFD97247-5814-4895-0400-31BE73D4F1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42CD68-9EC2-750C-1BFC-804C6F7C50A1}"/>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182175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7C11B-EAD9-82DA-4F86-9574BECCBC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D1833D-24BB-BCF6-12F3-02D7012F02E5}"/>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4" name="Footer Placeholder 3">
            <a:extLst>
              <a:ext uri="{FF2B5EF4-FFF2-40B4-BE49-F238E27FC236}">
                <a16:creationId xmlns:a16="http://schemas.microsoft.com/office/drawing/2014/main" id="{D46C69DA-855E-DF03-CB83-213FE2BFB2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D23019-F198-6139-9D35-956CA49965BC}"/>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243116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797373-A3D4-6464-7D86-D9F19B33F00C}"/>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3" name="Footer Placeholder 2">
            <a:extLst>
              <a:ext uri="{FF2B5EF4-FFF2-40B4-BE49-F238E27FC236}">
                <a16:creationId xmlns:a16="http://schemas.microsoft.com/office/drawing/2014/main" id="{4698609B-47CD-5CD9-1CCE-135D4DBB6A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2208B1-1B20-65C4-CAA2-FF4FE76285D7}"/>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3413698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EFD5-A315-3B54-AFCD-4F523B8253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19870E-2AA6-42D1-233C-502C6B336D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3B9986-F653-7167-C0B6-948127E3C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77B3AB-D350-DE94-4AB4-2A9DC29C6643}"/>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6" name="Footer Placeholder 5">
            <a:extLst>
              <a:ext uri="{FF2B5EF4-FFF2-40B4-BE49-F238E27FC236}">
                <a16:creationId xmlns:a16="http://schemas.microsoft.com/office/drawing/2014/main" id="{69066791-F37E-2C9D-8F01-E7473D571C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9D7841-906C-CC79-B047-ABE56CA1FF9F}"/>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2555248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3E55E-6D66-37E2-71D4-070FE584EB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B21C13-87BF-3E5C-633B-6A8AE15D2E7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944CBA-C018-E79F-F33D-4FD29AFAD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DF178E-80E6-60BE-452F-342AC4BD445D}"/>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6" name="Footer Placeholder 5">
            <a:extLst>
              <a:ext uri="{FF2B5EF4-FFF2-40B4-BE49-F238E27FC236}">
                <a16:creationId xmlns:a16="http://schemas.microsoft.com/office/drawing/2014/main" id="{239358E1-5B2F-D62A-1F91-C959F99E17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8CD36A-1A3D-7CFF-429E-CD1FF0D636FF}"/>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1519961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1213-F651-B3BF-55D1-CFF4295721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17D36E-D7E7-9B55-B085-9BFA03A997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97D2AB-FC92-5075-789E-879776F2457B}"/>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1C2DD674-ABBD-E13A-A692-A10D538F60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BBF8BF-438F-8E14-0D73-DB9309EF534C}"/>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3355778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95A53D-817A-76DC-052E-6DF253DE9D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37325A-4F63-D768-2F1E-087AF51582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CEDC8-3D27-4BA3-5680-0EE0A27549B6}"/>
              </a:ext>
            </a:extLst>
          </p:cNvPr>
          <p:cNvSpPr>
            <a:spLocks noGrp="1"/>
          </p:cNvSpPr>
          <p:nvPr>
            <p:ph type="dt" sz="half" idx="10"/>
          </p:nvPr>
        </p:nvSpPr>
        <p:spPr/>
        <p:txBody>
          <a:body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A6E18475-2304-1773-76AD-8B06BE720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6B1392-B971-914D-3E85-DD56CB9CA69A}"/>
              </a:ext>
            </a:extLst>
          </p:cNvPr>
          <p:cNvSpPr>
            <a:spLocks noGrp="1"/>
          </p:cNvSpPr>
          <p:nvPr>
            <p:ph type="sldNum" sz="quarter" idx="12"/>
          </p:nvPr>
        </p:nvSpPr>
        <p:spPr/>
        <p:txBody>
          <a:bodyPr/>
          <a:lstStyle/>
          <a:p>
            <a:fld id="{41D4BBCA-75EE-48DB-A717-E709E6D27339}" type="slidenum">
              <a:rPr lang="en-IN" smtClean="0"/>
              <a:t>‹#›</a:t>
            </a:fld>
            <a:endParaRPr lang="en-IN"/>
          </a:p>
        </p:txBody>
      </p:sp>
    </p:spTree>
    <p:extLst>
      <p:ext uri="{BB962C8B-B14F-4D97-AF65-F5344CB8AC3E}">
        <p14:creationId xmlns:p14="http://schemas.microsoft.com/office/powerpoint/2010/main" val="4191539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D4413F-2A45-252D-6786-B8225DC2CB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BFF537-ABB1-648E-8A7F-6C82BD045C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C7CAED-6680-1CEB-26E1-3D395F66FB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A6CF1-880C-49B9-8DA0-C8112322BDB9}" type="datetimeFigureOut">
              <a:rPr lang="en-IN" smtClean="0"/>
              <a:t>30-10-2026</a:t>
            </a:fld>
            <a:endParaRPr lang="en-IN"/>
          </a:p>
        </p:txBody>
      </p:sp>
      <p:sp>
        <p:nvSpPr>
          <p:cNvPr id="5" name="Footer Placeholder 4">
            <a:extLst>
              <a:ext uri="{FF2B5EF4-FFF2-40B4-BE49-F238E27FC236}">
                <a16:creationId xmlns:a16="http://schemas.microsoft.com/office/drawing/2014/main" id="{FCEA86C6-A82F-3FAC-3B51-B98BA6E98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996C6D-24BA-D7CC-2A66-770EDBB19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4BBCA-75EE-48DB-A717-E709E6D27339}" type="slidenum">
              <a:rPr lang="en-IN" smtClean="0"/>
              <a:t>‹#›</a:t>
            </a:fld>
            <a:endParaRPr lang="en-IN"/>
          </a:p>
        </p:txBody>
      </p:sp>
    </p:spTree>
    <p:extLst>
      <p:ext uri="{BB962C8B-B14F-4D97-AF65-F5344CB8AC3E}">
        <p14:creationId xmlns:p14="http://schemas.microsoft.com/office/powerpoint/2010/main" val="2760600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880D27B-F76D-0C92-22E2-5134498C19E4}"/>
              </a:ext>
            </a:extLst>
          </p:cNvPr>
          <p:cNvPicPr/>
          <p:nvPr/>
        </p:nvPicPr>
        <p:blipFill>
          <a:blip r:embed="rId3" cstate="print"/>
          <a:stretch>
            <a:fillRect/>
          </a:stretch>
        </p:blipFill>
        <p:spPr>
          <a:xfrm>
            <a:off x="3383280" y="270433"/>
            <a:ext cx="4610910" cy="628649"/>
          </a:xfrm>
          <a:prstGeom prst="rect">
            <a:avLst/>
          </a:prstGeom>
        </p:spPr>
      </p:pic>
      <p:sp>
        <p:nvSpPr>
          <p:cNvPr id="7" name="TextBox 6">
            <a:extLst>
              <a:ext uri="{FF2B5EF4-FFF2-40B4-BE49-F238E27FC236}">
                <a16:creationId xmlns:a16="http://schemas.microsoft.com/office/drawing/2014/main" id="{8A5A8807-265A-3DCF-3017-C62B685CC7FA}"/>
              </a:ext>
            </a:extLst>
          </p:cNvPr>
          <p:cNvSpPr txBox="1"/>
          <p:nvPr/>
        </p:nvSpPr>
        <p:spPr>
          <a:xfrm>
            <a:off x="3148734" y="1027098"/>
            <a:ext cx="5681171" cy="1631216"/>
          </a:xfrm>
          <a:prstGeom prst="rect">
            <a:avLst/>
          </a:prstGeom>
          <a:noFill/>
        </p:spPr>
        <p:txBody>
          <a:bodyPr wrap="square">
            <a:spAutoFit/>
          </a:bodyPr>
          <a:lstStyle/>
          <a:p>
            <a:pPr algn="ctr">
              <a:defRPr sz="3400" b="1">
                <a:solidFill>
                  <a:srgbClr val="1F3756"/>
                </a:solidFill>
              </a:defRPr>
            </a:pPr>
            <a:r>
              <a:rPr sz="2400" b="1" dirty="0">
                <a:latin typeface="Times New Roman" panose="02020603050405020304" pitchFamily="18" charset="0"/>
                <a:cs typeface="Times New Roman" panose="02020603050405020304" pitchFamily="18" charset="0"/>
              </a:rPr>
              <a:t>Data Analysis Essentials</a:t>
            </a:r>
            <a:br>
              <a:rPr sz="2400" dirty="0">
                <a:latin typeface="Times New Roman" panose="02020603050405020304" pitchFamily="18" charset="0"/>
                <a:cs typeface="Times New Roman" panose="02020603050405020304" pitchFamily="18" charset="0"/>
              </a:rPr>
            </a:br>
            <a:r>
              <a:rPr sz="2400" b="1" dirty="0">
                <a:latin typeface="Times New Roman" panose="02020603050405020304" pitchFamily="18" charset="0"/>
                <a:cs typeface="Times New Roman" panose="02020603050405020304" pitchFamily="18" charset="0"/>
              </a:rPr>
              <a:t>Cornerstone Project — Second Review</a:t>
            </a:r>
            <a:br>
              <a:rPr dirty="0"/>
            </a:br>
            <a:r>
              <a:rPr sz="3000" b="1" dirty="0">
                <a:solidFill>
                  <a:srgbClr val="7030A0"/>
                </a:solidFill>
                <a:latin typeface="Times New Roman" panose="02020603050405020304" pitchFamily="18" charset="0"/>
                <a:cs typeface="Times New Roman" panose="02020603050405020304" pitchFamily="18" charset="0"/>
              </a:rPr>
              <a:t>Movie Rating Analysis System</a:t>
            </a:r>
            <a:endParaRPr lang="en-IN" sz="3000" b="1" dirty="0">
              <a:solidFill>
                <a:srgbClr val="7030A0"/>
              </a:solidFill>
              <a:latin typeface="Times New Roman" panose="02020603050405020304" pitchFamily="18" charset="0"/>
              <a:cs typeface="Times New Roman" panose="02020603050405020304" pitchFamily="18" charset="0"/>
            </a:endParaRPr>
          </a:p>
          <a:p>
            <a:pPr algn="ctr">
              <a:defRPr sz="3400" b="1">
                <a:solidFill>
                  <a:srgbClr val="1F3756"/>
                </a:solidFill>
              </a:defRPr>
            </a:pPr>
            <a:r>
              <a:rPr lang="en-IN" sz="2200" dirty="0">
                <a:latin typeface="Times New Roman" panose="02020603050405020304" pitchFamily="18" charset="0"/>
                <a:cs typeface="Times New Roman" panose="02020603050405020304" pitchFamily="18" charset="0"/>
              </a:rPr>
              <a:t>Batch - 7</a:t>
            </a:r>
            <a:endParaRPr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A624A0C-2094-3812-B44E-CD2E8F8AF39E}"/>
              </a:ext>
            </a:extLst>
          </p:cNvPr>
          <p:cNvSpPr txBox="1"/>
          <p:nvPr/>
        </p:nvSpPr>
        <p:spPr>
          <a:xfrm>
            <a:off x="1612490" y="2491635"/>
            <a:ext cx="8967019" cy="4278094"/>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Presented by</a:t>
            </a:r>
          </a:p>
          <a:p>
            <a:pPr algn="ctr"/>
            <a:endParaRPr lang="en-IN" sz="2000" b="1"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M. Bhagya Sri (25B11AI720)</a:t>
            </a:r>
          </a:p>
          <a:p>
            <a:pPr algn="ctr"/>
            <a:r>
              <a:rPr lang="en-IN" sz="2000" dirty="0">
                <a:latin typeface="Times New Roman" panose="02020603050405020304" pitchFamily="18" charset="0"/>
                <a:cs typeface="Times New Roman" panose="02020603050405020304" pitchFamily="18" charset="0"/>
              </a:rPr>
              <a:t>  B. </a:t>
            </a:r>
            <a:r>
              <a:rPr lang="en-IN" sz="2000" dirty="0" err="1">
                <a:latin typeface="Times New Roman" panose="02020603050405020304" pitchFamily="18" charset="0"/>
                <a:cs typeface="Times New Roman" panose="02020603050405020304" pitchFamily="18" charset="0"/>
              </a:rPr>
              <a:t>Jyostnavi</a:t>
            </a:r>
            <a:r>
              <a:rPr lang="en-IN" sz="2000" dirty="0">
                <a:latin typeface="Times New Roman" panose="02020603050405020304" pitchFamily="18" charset="0"/>
                <a:cs typeface="Times New Roman" panose="02020603050405020304" pitchFamily="18" charset="0"/>
              </a:rPr>
              <a:t> (25B11AI081)</a:t>
            </a:r>
          </a:p>
          <a:p>
            <a:pPr algn="ctr"/>
            <a:r>
              <a:rPr lang="en-IN" sz="2000" dirty="0">
                <a:latin typeface="Times New Roman" panose="02020603050405020304" pitchFamily="18" charset="0"/>
                <a:cs typeface="Times New Roman" panose="02020603050405020304" pitchFamily="18" charset="0"/>
              </a:rPr>
              <a:t>N. Swathi (26B21AI081)</a:t>
            </a:r>
          </a:p>
          <a:p>
            <a:pPr algn="ctr"/>
            <a:r>
              <a:rPr lang="en-IN" sz="2000" dirty="0">
                <a:latin typeface="Times New Roman" panose="02020603050405020304" pitchFamily="18" charset="0"/>
                <a:cs typeface="Times New Roman" panose="02020603050405020304" pitchFamily="18" charset="0"/>
              </a:rPr>
              <a:t>K. Sri Bhargavi(26B21AI050)</a:t>
            </a:r>
          </a:p>
          <a:p>
            <a:pPr algn="ctr"/>
            <a:endParaRPr lang="en-IN" sz="2000" dirty="0">
              <a:latin typeface="Times New Roman" panose="02020603050405020304" pitchFamily="18" charset="0"/>
              <a:cs typeface="Times New Roman" panose="02020603050405020304" pitchFamily="18" charset="0"/>
            </a:endParaRPr>
          </a:p>
          <a:p>
            <a:pPr algn="ctr"/>
            <a:r>
              <a:rPr lang="en-IN" sz="2000" dirty="0"/>
              <a:t>Department of Artificial Intelligence &amp; Machine Learning</a:t>
            </a:r>
          </a:p>
          <a:p>
            <a:pPr lvl="0" algn="ctr">
              <a:lnSpc>
                <a:spcPct val="150000"/>
              </a:lnSpc>
            </a:pPr>
            <a:r>
              <a:rPr lang="en-US" sz="2000" b="1" dirty="0">
                <a:solidFill>
                  <a:srgbClr val="7030A0"/>
                </a:solidFill>
                <a:latin typeface="Times New Roman" panose="02020603050405020304" pitchFamily="18" charset="0"/>
                <a:ea typeface="Times New Roman"/>
                <a:cs typeface="Times New Roman" panose="02020603050405020304" pitchFamily="18" charset="0"/>
                <a:sym typeface="Times New Roman"/>
              </a:rPr>
              <a:t>Under esteemed guidance of:</a:t>
            </a:r>
            <a:endParaRPr lang="en-US" sz="2000" dirty="0">
              <a:solidFill>
                <a:srgbClr val="7030A0"/>
              </a:solidFill>
              <a:latin typeface="Times New Roman" panose="02020603050405020304" pitchFamily="18" charset="0"/>
              <a:cs typeface="Times New Roman" panose="02020603050405020304" pitchFamily="18" charset="0"/>
            </a:endParaRPr>
          </a:p>
          <a:p>
            <a:pPr algn="ctr"/>
            <a:r>
              <a:rPr lang="en-US" sz="2000" noProof="1">
                <a:latin typeface="Times New Roman" panose="02020603050405020304" pitchFamily="18" charset="0"/>
                <a:cs typeface="Times New Roman" panose="02020603050405020304" pitchFamily="18" charset="0"/>
              </a:rPr>
              <a:t>Mr.B.Sai Venkata Ganesh  </a:t>
            </a:r>
          </a:p>
          <a:p>
            <a:pPr algn="ctr"/>
            <a:r>
              <a:rPr lang="en-US" sz="2000" noProof="1">
                <a:latin typeface="Times New Roman" panose="02020603050405020304" pitchFamily="18" charset="0"/>
                <a:cs typeface="Times New Roman" panose="02020603050405020304" pitchFamily="18" charset="0"/>
              </a:rPr>
              <a:t>M.Tech</a:t>
            </a:r>
            <a:r>
              <a:rPr lang="en-US" sz="2000" dirty="0">
                <a:latin typeface="Times New Roman" panose="02020603050405020304" pitchFamily="18" charset="0"/>
                <a:cs typeface="Times New Roman" panose="02020603050405020304" pitchFamily="18" charset="0"/>
              </a:rPr>
              <a:t>, Assistant Professor (AIML) </a:t>
            </a:r>
          </a:p>
          <a:p>
            <a:pPr algn="ctr"/>
            <a:endParaRPr lang="en-IN" sz="2000" dirty="0">
              <a:latin typeface="Times New Roman" panose="02020603050405020304" pitchFamily="18" charset="0"/>
              <a:cs typeface="Times New Roman" panose="02020603050405020304" pitchFamily="18" charset="0"/>
            </a:endParaRPr>
          </a:p>
          <a:p>
            <a:pPr algn="ctr"/>
            <a:r>
              <a:rPr lang="en-IN" sz="2200" dirty="0"/>
              <a:t> </a:t>
            </a:r>
          </a:p>
        </p:txBody>
      </p:sp>
    </p:spTree>
    <p:extLst>
      <p:ext uri="{BB962C8B-B14F-4D97-AF65-F5344CB8AC3E}">
        <p14:creationId xmlns:p14="http://schemas.microsoft.com/office/powerpoint/2010/main" val="224081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A9AC8383-3516-F331-2BE0-36929F00196D}"/>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5EE3686D-7052-655F-5380-2F4283F62AD2}"/>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EF1270C6-1371-0B51-6EDE-DEFFA76A69F2}"/>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48F0AE9C-FEC5-5FBE-B53D-CB7081BEC9F3}"/>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F0312D3-3A74-F229-2A92-DB66CE554399}"/>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032CBF8D-4D00-4408-F356-9501B127B9A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PROPOSED SYSTEM</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Card">
            <a:extLst>
              <a:ext uri="{FF2B5EF4-FFF2-40B4-BE49-F238E27FC236}">
                <a16:creationId xmlns:a16="http://schemas.microsoft.com/office/drawing/2014/main" id="{072173A1-4160-BE81-3DD4-A93C0FCBD461}"/>
              </a:ext>
            </a:extLst>
          </p:cNvPr>
          <p:cNvSpPr/>
          <p:nvPr/>
        </p:nvSpPr>
        <p:spPr>
          <a:xfrm>
            <a:off x="1296987" y="1414858"/>
            <a:ext cx="4415552" cy="2901503"/>
          </a:xfrm>
          <a:prstGeom prst="roundRect">
            <a:avLst>
              <a:gd name="adj" fmla="val 2703"/>
            </a:avLst>
          </a:prstGeom>
          <a:solidFill>
            <a:schemeClr val="bg2"/>
          </a:solidFill>
          <a:ln w="12700">
            <a:solidFill>
              <a:schemeClr val="bg2"/>
            </a:solidFill>
            <a:prstDash val="solid"/>
          </a:ln>
        </p:spPr>
        <p:txBody>
          <a:bodyPr/>
          <a:lstStyle/>
          <a:p>
            <a:pPr lvl="0"/>
            <a:r>
              <a:rPr lang="en-IN" sz="2000" dirty="0">
                <a:solidFill>
                  <a:srgbClr val="C00000"/>
                </a:solidFill>
                <a:latin typeface="Times New Roman" panose="02020603050405020304" pitchFamily="18" charset="0"/>
                <a:cs typeface="Times New Roman" panose="02020603050405020304" pitchFamily="18" charset="0"/>
              </a:rPr>
              <a:t>Existing System :</a:t>
            </a:r>
          </a:p>
          <a:p>
            <a:pPr lvl="0"/>
            <a:endParaRPr lang="en-IN" sz="2000" dirty="0">
              <a:solidFill>
                <a:srgbClr val="C00000"/>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Movie data is stored in different formats.</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Searching and analysing movie details manually takes time.</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Comparing movies and TV shows is difficult.</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Identifying popular genres and countries is not easy.</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Data analysis requires more manual effort.</a:t>
            </a:r>
          </a:p>
        </p:txBody>
      </p:sp>
      <p:sp>
        <p:nvSpPr>
          <p:cNvPr id="12" name="Card">
            <a:extLst>
              <a:ext uri="{FF2B5EF4-FFF2-40B4-BE49-F238E27FC236}">
                <a16:creationId xmlns:a16="http://schemas.microsoft.com/office/drawing/2014/main" id="{875C0A10-4C18-6F62-D6CB-97B70E24FE7C}"/>
              </a:ext>
            </a:extLst>
          </p:cNvPr>
          <p:cNvSpPr/>
          <p:nvPr/>
        </p:nvSpPr>
        <p:spPr>
          <a:xfrm>
            <a:off x="6479461" y="1414859"/>
            <a:ext cx="4415552" cy="2901502"/>
          </a:xfrm>
          <a:prstGeom prst="roundRect">
            <a:avLst>
              <a:gd name="adj" fmla="val 2703"/>
            </a:avLst>
          </a:prstGeom>
          <a:solidFill>
            <a:schemeClr val="bg2"/>
          </a:solidFill>
          <a:ln w="12700">
            <a:solidFill>
              <a:schemeClr val="bg2"/>
            </a:solidFill>
            <a:prstDash val="solid"/>
          </a:ln>
        </p:spPr>
        <p:txBody>
          <a:bodyPr/>
          <a:lstStyle/>
          <a:p>
            <a:r>
              <a:rPr lang="en-US" dirty="0">
                <a:solidFill>
                  <a:schemeClr val="accent6"/>
                </a:solidFill>
                <a:latin typeface="Times New Roman" panose="02020603050405020304" pitchFamily="18" charset="0"/>
                <a:cs typeface="Times New Roman" panose="02020603050405020304" pitchFamily="18" charset="0"/>
              </a:rPr>
              <a:t>Proposed System :</a:t>
            </a:r>
          </a:p>
          <a:p>
            <a:endParaRPr lang="en-US" dirty="0">
              <a:solidFill>
                <a:schemeClr val="accent6"/>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Uses a single Netflix dataset.</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Cleans and organizes movie information.</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Analyses Movies and TV Shows separately.</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Identifies popular countries and genres.</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Studies content ratings and release-year trends.</a:t>
            </a:r>
          </a:p>
          <a:p>
            <a:pPr marL="285750" lvl="0" indent="-285750">
              <a:buFont typeface="Arial" panose="020B0604020202020204" pitchFamily="34" charset="0"/>
              <a:buChar char="•"/>
            </a:pPr>
            <a:r>
              <a:rPr lang="en-IN" sz="1700" dirty="0">
                <a:latin typeface="Times New Roman" panose="02020603050405020304" pitchFamily="18" charset="0"/>
                <a:cs typeface="Times New Roman" panose="02020603050405020304" pitchFamily="18" charset="0"/>
              </a:rPr>
              <a:t>Presents results using data visualizations</a:t>
            </a:r>
            <a:r>
              <a:rPr lang="en-IN" dirty="0"/>
              <a:t>.</a:t>
            </a:r>
          </a:p>
          <a:p>
            <a:endParaRPr lang="en-IN" dirty="0">
              <a:solidFill>
                <a:schemeClr val="accent6"/>
              </a:solidFill>
              <a:latin typeface="Times New Roman" panose="02020603050405020304" pitchFamily="18" charset="0"/>
              <a:cs typeface="Times New Roman" panose="02020603050405020304" pitchFamily="18" charset="0"/>
            </a:endParaRPr>
          </a:p>
        </p:txBody>
      </p:sp>
      <p:sp>
        <p:nvSpPr>
          <p:cNvPr id="15" name="Text 9">
            <a:extLst>
              <a:ext uri="{FF2B5EF4-FFF2-40B4-BE49-F238E27FC236}">
                <a16:creationId xmlns:a16="http://schemas.microsoft.com/office/drawing/2014/main" id="{34F37D3E-2658-AA74-CAE0-B89E95AB1A59}"/>
              </a:ext>
            </a:extLst>
          </p:cNvPr>
          <p:cNvSpPr txBox="1"/>
          <p:nvPr/>
        </p:nvSpPr>
        <p:spPr>
          <a:xfrm>
            <a:off x="437707" y="5082988"/>
            <a:ext cx="1250576" cy="887506"/>
          </a:xfrm>
          <a:prstGeom prst="rect">
            <a:avLst/>
          </a:prstGeom>
          <a:solidFill>
            <a:schemeClr val="accent1"/>
          </a:solidFill>
          <a:ln/>
        </p:spPr>
        <p:txBody>
          <a:bodyPr wrap="square" lIns="560" tIns="560" rIns="560" bIns="560" rtlCol="0" anchor="ctr"/>
          <a:lstStyle/>
          <a:p>
            <a:pPr algn="ctr"/>
            <a:r>
              <a:rPr lang="en-US" sz="1400" b="1" dirty="0">
                <a:solidFill>
                  <a:schemeClr val="bg1"/>
                </a:solidFill>
                <a:latin typeface="Times New Roman" pitchFamily="34" charset="0"/>
                <a:cs typeface="Times New Roman" pitchFamily="34" charset="-120"/>
              </a:rPr>
              <a:t>Data Loading</a:t>
            </a:r>
            <a:endParaRPr lang="en-US" sz="1400" dirty="0"/>
          </a:p>
        </p:txBody>
      </p:sp>
      <p:sp>
        <p:nvSpPr>
          <p:cNvPr id="9" name="Text 9">
            <a:extLst>
              <a:ext uri="{FF2B5EF4-FFF2-40B4-BE49-F238E27FC236}">
                <a16:creationId xmlns:a16="http://schemas.microsoft.com/office/drawing/2014/main" id="{9E1B536C-6C19-ABE2-C292-0F7BA7568791}"/>
              </a:ext>
            </a:extLst>
          </p:cNvPr>
          <p:cNvSpPr txBox="1"/>
          <p:nvPr/>
        </p:nvSpPr>
        <p:spPr>
          <a:xfrm>
            <a:off x="4343699" y="5082988"/>
            <a:ext cx="1250576" cy="887506"/>
          </a:xfrm>
          <a:prstGeom prst="rect">
            <a:avLst/>
          </a:prstGeom>
          <a:solidFill>
            <a:schemeClr val="accent1"/>
          </a:solidFill>
          <a:ln/>
        </p:spPr>
        <p:txBody>
          <a:bodyPr wrap="square" lIns="560" tIns="560" rIns="560" bIns="560" rtlCol="0" anchor="ctr"/>
          <a:lstStyle/>
          <a:p>
            <a:pPr algn="ctr"/>
            <a:r>
              <a:rPr lang="en-IN" sz="1400" b="1" dirty="0">
                <a:solidFill>
                  <a:schemeClr val="bg1"/>
                </a:solidFill>
                <a:latin typeface="Times New Roman" panose="02020603050405020304" pitchFamily="18" charset="0"/>
                <a:cs typeface="Times New Roman" panose="02020603050405020304" pitchFamily="18" charset="0"/>
              </a:rPr>
              <a:t>Preprocessing </a:t>
            </a:r>
            <a:endParaRPr lang="en-US" sz="1324" b="1" dirty="0">
              <a:solidFill>
                <a:schemeClr val="bg1"/>
              </a:solidFill>
              <a:latin typeface="Times New Roman" panose="02020603050405020304" pitchFamily="18" charset="0"/>
              <a:cs typeface="Times New Roman" panose="02020603050405020304" pitchFamily="18" charset="0"/>
            </a:endParaRPr>
          </a:p>
        </p:txBody>
      </p:sp>
      <p:sp>
        <p:nvSpPr>
          <p:cNvPr id="13" name="Text 9">
            <a:extLst>
              <a:ext uri="{FF2B5EF4-FFF2-40B4-BE49-F238E27FC236}">
                <a16:creationId xmlns:a16="http://schemas.microsoft.com/office/drawing/2014/main" id="{93E38934-5662-0AEF-7F6A-A2FE17B826D9}"/>
              </a:ext>
            </a:extLst>
          </p:cNvPr>
          <p:cNvSpPr txBox="1"/>
          <p:nvPr/>
        </p:nvSpPr>
        <p:spPr>
          <a:xfrm>
            <a:off x="8370561" y="5082988"/>
            <a:ext cx="1250576" cy="887506"/>
          </a:xfrm>
          <a:prstGeom prst="rect">
            <a:avLst/>
          </a:prstGeom>
          <a:solidFill>
            <a:schemeClr val="accent1"/>
          </a:solidFill>
          <a:ln/>
        </p:spPr>
        <p:txBody>
          <a:bodyPr wrap="square" lIns="560" tIns="560" rIns="560" bIns="560" rtlCol="0" anchor="ctr"/>
          <a:lstStyle/>
          <a:p>
            <a:pPr algn="ctr"/>
            <a:r>
              <a:rPr lang="en-IN" sz="1400" b="1" dirty="0">
                <a:solidFill>
                  <a:schemeClr val="bg1"/>
                </a:solidFill>
                <a:latin typeface="Times New Roman" panose="02020603050405020304" pitchFamily="18" charset="0"/>
                <a:cs typeface="Times New Roman" panose="02020603050405020304" pitchFamily="18" charset="0"/>
              </a:rPr>
              <a:t>Visualization</a:t>
            </a:r>
            <a:endParaRPr lang="en-US" sz="1324" b="1" dirty="0">
              <a:solidFill>
                <a:schemeClr val="bg1"/>
              </a:solidFill>
              <a:latin typeface="Times New Roman" panose="02020603050405020304" pitchFamily="18" charset="0"/>
              <a:cs typeface="Times New Roman" panose="02020603050405020304" pitchFamily="18" charset="0"/>
            </a:endParaRPr>
          </a:p>
        </p:txBody>
      </p:sp>
      <p:sp>
        <p:nvSpPr>
          <p:cNvPr id="16" name="Text 9">
            <a:extLst>
              <a:ext uri="{FF2B5EF4-FFF2-40B4-BE49-F238E27FC236}">
                <a16:creationId xmlns:a16="http://schemas.microsoft.com/office/drawing/2014/main" id="{B930DE2D-4EA0-807A-2FFD-07B85402E2C6}"/>
              </a:ext>
            </a:extLst>
          </p:cNvPr>
          <p:cNvSpPr txBox="1"/>
          <p:nvPr/>
        </p:nvSpPr>
        <p:spPr>
          <a:xfrm>
            <a:off x="2390703" y="5082988"/>
            <a:ext cx="1250576" cy="887506"/>
          </a:xfrm>
          <a:prstGeom prst="rect">
            <a:avLst/>
          </a:prstGeom>
          <a:solidFill>
            <a:schemeClr val="accent2"/>
          </a:solidFill>
          <a:ln/>
        </p:spPr>
        <p:txBody>
          <a:bodyPr wrap="square" lIns="560" tIns="560" rIns="560" bIns="560" rtlCol="0" anchor="ctr"/>
          <a:lstStyle/>
          <a:p>
            <a:pPr algn="ctr"/>
            <a:r>
              <a:rPr lang="en-IN" sz="1400" b="1" dirty="0">
                <a:solidFill>
                  <a:schemeClr val="bg1"/>
                </a:solidFill>
                <a:latin typeface="Times New Roman" panose="02020603050405020304" pitchFamily="18" charset="0"/>
                <a:cs typeface="Times New Roman" panose="02020603050405020304" pitchFamily="18" charset="0"/>
              </a:rPr>
              <a:t>Data Cleaning</a:t>
            </a:r>
            <a:endParaRPr lang="en-US" sz="1324" b="1" dirty="0">
              <a:solidFill>
                <a:schemeClr val="bg1"/>
              </a:solidFill>
              <a:latin typeface="Times New Roman" panose="02020603050405020304" pitchFamily="18" charset="0"/>
              <a:cs typeface="Times New Roman" panose="02020603050405020304" pitchFamily="18" charset="0"/>
            </a:endParaRPr>
          </a:p>
        </p:txBody>
      </p:sp>
      <p:sp>
        <p:nvSpPr>
          <p:cNvPr id="18" name="Text 9">
            <a:extLst>
              <a:ext uri="{FF2B5EF4-FFF2-40B4-BE49-F238E27FC236}">
                <a16:creationId xmlns:a16="http://schemas.microsoft.com/office/drawing/2014/main" id="{F79B8CCF-F1B4-FC30-4DEC-3321BB2EAB0F}"/>
              </a:ext>
            </a:extLst>
          </p:cNvPr>
          <p:cNvSpPr txBox="1"/>
          <p:nvPr/>
        </p:nvSpPr>
        <p:spPr>
          <a:xfrm>
            <a:off x="10383992" y="5082988"/>
            <a:ext cx="1250576" cy="887506"/>
          </a:xfrm>
          <a:prstGeom prst="rect">
            <a:avLst/>
          </a:prstGeom>
          <a:solidFill>
            <a:schemeClr val="accent2"/>
          </a:solidFill>
          <a:ln/>
        </p:spPr>
        <p:txBody>
          <a:bodyPr wrap="square" lIns="560" tIns="560" rIns="560" bIns="560" rtlCol="0" anchor="ctr"/>
          <a:lstStyle/>
          <a:p>
            <a:pPr algn="ctr"/>
            <a:r>
              <a:rPr lang="en-US" sz="1400" b="1" dirty="0">
                <a:solidFill>
                  <a:schemeClr val="bg1"/>
                </a:solidFill>
                <a:latin typeface="Times New Roman" panose="02020603050405020304" pitchFamily="18" charset="0"/>
                <a:cs typeface="Times New Roman" panose="02020603050405020304" pitchFamily="18" charset="0"/>
              </a:rPr>
              <a:t>Results</a:t>
            </a:r>
          </a:p>
        </p:txBody>
      </p:sp>
      <p:sp>
        <p:nvSpPr>
          <p:cNvPr id="20" name="Text 9">
            <a:extLst>
              <a:ext uri="{FF2B5EF4-FFF2-40B4-BE49-F238E27FC236}">
                <a16:creationId xmlns:a16="http://schemas.microsoft.com/office/drawing/2014/main" id="{EE0F8ACF-FE51-B6D3-CD8F-930664EF345F}"/>
              </a:ext>
            </a:extLst>
          </p:cNvPr>
          <p:cNvSpPr txBox="1"/>
          <p:nvPr/>
        </p:nvSpPr>
        <p:spPr>
          <a:xfrm>
            <a:off x="6357130" y="5082988"/>
            <a:ext cx="1250576" cy="887506"/>
          </a:xfrm>
          <a:prstGeom prst="rect">
            <a:avLst/>
          </a:prstGeom>
          <a:solidFill>
            <a:schemeClr val="accent2"/>
          </a:solidFill>
          <a:ln/>
        </p:spPr>
        <p:txBody>
          <a:bodyPr wrap="square" lIns="560" tIns="560" rIns="560" bIns="560" rtlCol="0" anchor="ctr"/>
          <a:lstStyle/>
          <a:p>
            <a:pPr algn="ctr"/>
            <a:r>
              <a:rPr lang="en-IN" sz="1400" b="1" dirty="0">
                <a:solidFill>
                  <a:schemeClr val="bg1"/>
                </a:solidFill>
                <a:latin typeface="Times New Roman" panose="02020603050405020304" pitchFamily="18" charset="0"/>
                <a:cs typeface="Times New Roman" panose="02020603050405020304" pitchFamily="18" charset="0"/>
              </a:rPr>
              <a:t>Data Analysis</a:t>
            </a:r>
            <a:endParaRPr lang="en-US" sz="1324" b="1"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B57C657E-D9B2-D640-EE19-A75D707D094F}"/>
              </a:ext>
            </a:extLst>
          </p:cNvPr>
          <p:cNvSpPr txBox="1"/>
          <p:nvPr/>
        </p:nvSpPr>
        <p:spPr>
          <a:xfrm>
            <a:off x="437707" y="4515008"/>
            <a:ext cx="2779607"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SYSTEM WORKFLOW :</a:t>
            </a:r>
            <a:endParaRPr lang="en-IN" b="1"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05B0E6C2-838A-B299-5EB6-8EB1D9D4F375}"/>
              </a:ext>
            </a:extLst>
          </p:cNvPr>
          <p:cNvSpPr txBox="1"/>
          <p:nvPr/>
        </p:nvSpPr>
        <p:spPr>
          <a:xfrm>
            <a:off x="1833109" y="5342075"/>
            <a:ext cx="737754" cy="369332"/>
          </a:xfrm>
          <a:prstGeom prst="rect">
            <a:avLst/>
          </a:prstGeom>
          <a:noFill/>
        </p:spPr>
        <p:txBody>
          <a:bodyPr wrap="square" rtlCol="0">
            <a:spAutoFit/>
          </a:bodyPr>
          <a:lstStyle/>
          <a:p>
            <a:r>
              <a:rPr lang="en-US" b="1" dirty="0">
                <a:latin typeface="+mj-lt"/>
                <a:cs typeface="Times New Roman" panose="02020603050405020304" pitchFamily="18" charset="0"/>
              </a:rPr>
              <a:t>-&gt;</a:t>
            </a:r>
            <a:endParaRPr lang="en-IN" b="1" dirty="0">
              <a:latin typeface="+mj-lt"/>
              <a:cs typeface="Times New Roman" panose="02020603050405020304" pitchFamily="18" charset="0"/>
            </a:endParaRPr>
          </a:p>
        </p:txBody>
      </p:sp>
      <p:sp>
        <p:nvSpPr>
          <p:cNvPr id="25" name="TextBox 24">
            <a:extLst>
              <a:ext uri="{FF2B5EF4-FFF2-40B4-BE49-F238E27FC236}">
                <a16:creationId xmlns:a16="http://schemas.microsoft.com/office/drawing/2014/main" id="{F52B521B-0F4B-FF92-117A-0A824D4E745E}"/>
              </a:ext>
            </a:extLst>
          </p:cNvPr>
          <p:cNvSpPr txBox="1"/>
          <p:nvPr/>
        </p:nvSpPr>
        <p:spPr>
          <a:xfrm>
            <a:off x="9801297" y="5337796"/>
            <a:ext cx="737754" cy="369332"/>
          </a:xfrm>
          <a:prstGeom prst="rect">
            <a:avLst/>
          </a:prstGeom>
          <a:noFill/>
        </p:spPr>
        <p:txBody>
          <a:bodyPr wrap="square" rtlCol="0">
            <a:spAutoFit/>
          </a:bodyPr>
          <a:lstStyle/>
          <a:p>
            <a:r>
              <a:rPr lang="en-US" b="1" dirty="0">
                <a:latin typeface="+mj-lt"/>
                <a:cs typeface="Times New Roman" panose="02020603050405020304" pitchFamily="18" charset="0"/>
              </a:rPr>
              <a:t>-&gt;</a:t>
            </a:r>
            <a:endParaRPr lang="en-IN" b="1" dirty="0">
              <a:latin typeface="+mj-lt"/>
              <a:cs typeface="Times New Roman" panose="02020603050405020304" pitchFamily="18" charset="0"/>
            </a:endParaRPr>
          </a:p>
        </p:txBody>
      </p:sp>
      <p:sp>
        <p:nvSpPr>
          <p:cNvPr id="27" name="TextBox 26">
            <a:extLst>
              <a:ext uri="{FF2B5EF4-FFF2-40B4-BE49-F238E27FC236}">
                <a16:creationId xmlns:a16="http://schemas.microsoft.com/office/drawing/2014/main" id="{2EC1664A-E877-17ED-F920-E0158A5B9360}"/>
              </a:ext>
            </a:extLst>
          </p:cNvPr>
          <p:cNvSpPr txBox="1"/>
          <p:nvPr/>
        </p:nvSpPr>
        <p:spPr>
          <a:xfrm>
            <a:off x="7735836" y="5350428"/>
            <a:ext cx="737754" cy="369332"/>
          </a:xfrm>
          <a:prstGeom prst="rect">
            <a:avLst/>
          </a:prstGeom>
          <a:noFill/>
        </p:spPr>
        <p:txBody>
          <a:bodyPr wrap="square" rtlCol="0">
            <a:spAutoFit/>
          </a:bodyPr>
          <a:lstStyle/>
          <a:p>
            <a:r>
              <a:rPr lang="en-US" b="1" dirty="0">
                <a:latin typeface="+mj-lt"/>
                <a:cs typeface="Times New Roman" panose="02020603050405020304" pitchFamily="18" charset="0"/>
              </a:rPr>
              <a:t>-&gt;</a:t>
            </a:r>
            <a:endParaRPr lang="en-IN" b="1" dirty="0">
              <a:latin typeface="+mj-lt"/>
              <a:cs typeface="Times New Roman" panose="02020603050405020304" pitchFamily="18" charset="0"/>
            </a:endParaRPr>
          </a:p>
        </p:txBody>
      </p:sp>
      <p:sp>
        <p:nvSpPr>
          <p:cNvPr id="29" name="TextBox 28">
            <a:extLst>
              <a:ext uri="{FF2B5EF4-FFF2-40B4-BE49-F238E27FC236}">
                <a16:creationId xmlns:a16="http://schemas.microsoft.com/office/drawing/2014/main" id="{65FDEEF7-B961-17B6-4825-AB43006E0F5E}"/>
              </a:ext>
            </a:extLst>
          </p:cNvPr>
          <p:cNvSpPr txBox="1"/>
          <p:nvPr/>
        </p:nvSpPr>
        <p:spPr>
          <a:xfrm>
            <a:off x="5777901" y="5350428"/>
            <a:ext cx="737754" cy="369332"/>
          </a:xfrm>
          <a:prstGeom prst="rect">
            <a:avLst/>
          </a:prstGeom>
          <a:noFill/>
        </p:spPr>
        <p:txBody>
          <a:bodyPr wrap="square" rtlCol="0">
            <a:spAutoFit/>
          </a:bodyPr>
          <a:lstStyle/>
          <a:p>
            <a:r>
              <a:rPr lang="en-US" b="1" dirty="0">
                <a:latin typeface="+mj-lt"/>
                <a:cs typeface="Times New Roman" panose="02020603050405020304" pitchFamily="18" charset="0"/>
              </a:rPr>
              <a:t>-&gt;</a:t>
            </a:r>
            <a:endParaRPr lang="en-IN" b="1" dirty="0">
              <a:latin typeface="+mj-lt"/>
              <a:cs typeface="Times New Roman" panose="02020603050405020304" pitchFamily="18" charset="0"/>
            </a:endParaRPr>
          </a:p>
        </p:txBody>
      </p:sp>
      <p:sp>
        <p:nvSpPr>
          <p:cNvPr id="31" name="TextBox 30">
            <a:extLst>
              <a:ext uri="{FF2B5EF4-FFF2-40B4-BE49-F238E27FC236}">
                <a16:creationId xmlns:a16="http://schemas.microsoft.com/office/drawing/2014/main" id="{3BC6BFE7-D7C3-9F2E-BDDB-13BB44D29C23}"/>
              </a:ext>
            </a:extLst>
          </p:cNvPr>
          <p:cNvSpPr txBox="1"/>
          <p:nvPr/>
        </p:nvSpPr>
        <p:spPr>
          <a:xfrm>
            <a:off x="3782350" y="5337796"/>
            <a:ext cx="737754" cy="369332"/>
          </a:xfrm>
          <a:prstGeom prst="rect">
            <a:avLst/>
          </a:prstGeom>
          <a:noFill/>
        </p:spPr>
        <p:txBody>
          <a:bodyPr wrap="square" rtlCol="0">
            <a:spAutoFit/>
          </a:bodyPr>
          <a:lstStyle/>
          <a:p>
            <a:r>
              <a:rPr lang="en-US" b="1" dirty="0">
                <a:latin typeface="+mj-lt"/>
                <a:cs typeface="Times New Roman" panose="02020603050405020304" pitchFamily="18" charset="0"/>
              </a:rPr>
              <a:t>-&gt;</a:t>
            </a:r>
            <a:endParaRPr lang="en-IN" b="1" dirty="0">
              <a:latin typeface="+mj-lt"/>
              <a:cs typeface="Times New Roman" panose="02020603050405020304" pitchFamily="18" charset="0"/>
            </a:endParaRPr>
          </a:p>
        </p:txBody>
      </p:sp>
    </p:spTree>
    <p:extLst>
      <p:ext uri="{BB962C8B-B14F-4D97-AF65-F5344CB8AC3E}">
        <p14:creationId xmlns:p14="http://schemas.microsoft.com/office/powerpoint/2010/main" val="2829612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1C3F52B0-1718-0E71-EF9B-CF6C608FC946}"/>
              </a:ext>
            </a:extLst>
          </p:cNvPr>
          <p:cNvPicPr/>
          <p:nvPr/>
        </p:nvPicPr>
        <p:blipFill>
          <a:blip r:embed="rId3"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9C39696A-1B10-107F-DF02-5DCFB8FF8500}"/>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619D7AE8-F324-7E78-2C31-DB92DAA3F9F7}"/>
                </a:ext>
              </a:extLst>
            </p:cNvPr>
            <p:cNvPicPr/>
            <p:nvPr/>
          </p:nvPicPr>
          <p:blipFill>
            <a:blip r:embed="rId4"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DCEE5E7-B498-B160-7229-F75C029F6763}"/>
                </a:ext>
              </a:extLst>
            </p:cNvPr>
            <p:cNvPicPr/>
            <p:nvPr/>
          </p:nvPicPr>
          <p:blipFill>
            <a:blip r:embed="rId5"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174F6A8-281C-0147-E8B9-C09028BBD838}"/>
                </a:ext>
              </a:extLst>
            </p:cNvPr>
            <p:cNvPicPr/>
            <p:nvPr/>
          </p:nvPicPr>
          <p:blipFill>
            <a:blip r:embed="rId6"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557FE84-7C1B-152E-EEFD-EEF3107CCC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A</a:t>
              </a:r>
              <a:r>
                <a:rPr lang="en-IN" sz="2400" b="1" dirty="0">
                  <a:solidFill>
                    <a:schemeClr val="bg1"/>
                  </a:solidFill>
                  <a:latin typeface="Times New Roman" panose="02020603050405020304" pitchFamily="18" charset="0"/>
                  <a:cs typeface="Times New Roman" panose="02020603050405020304" pitchFamily="18" charset="0"/>
                </a:rPr>
                <a:t>BSTRACT</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94697213-F716-74D7-4CE3-21F53B255188}"/>
              </a:ext>
            </a:extLst>
          </p:cNvPr>
          <p:cNvSpPr txBox="1"/>
          <p:nvPr/>
        </p:nvSpPr>
        <p:spPr>
          <a:xfrm>
            <a:off x="795712" y="1547764"/>
            <a:ext cx="10738197" cy="2139047"/>
          </a:xfrm>
          <a:prstGeom prst="rect">
            <a:avLst/>
          </a:prstGeom>
          <a:noFill/>
        </p:spPr>
        <p:txBody>
          <a:bodyPr wrap="square">
            <a:spAutoFit/>
          </a:bodyPr>
          <a:lstStyle/>
          <a:p>
            <a:r>
              <a:rPr lang="en-IN" sz="1900" dirty="0">
                <a:latin typeface="Times New Roman" panose="02020603050405020304" pitchFamily="18" charset="0"/>
                <a:cs typeface="Times New Roman" panose="02020603050405020304" pitchFamily="18" charset="0"/>
              </a:rPr>
              <a:t>The Movie Rating Analysis System is a Python-based data analytics project developed using Pandas, NumPy and Matplotlib. It uses the Netflix Movies and TV Shows dataset containing 8,807 records and 12 columns. The system performs data loading, cleaning and preprocessing to handle missing values and duplicate records. It analyses different types of content, popular countries, genres, content ratings and release-year trends. Pandas and NumPy are used for data manipulation and statistical analysis, while Matplotlib is used to present the findings through charts. This project helps users understand the distribution and characteristics of movies and TV shows available on Netflix.</a:t>
            </a:r>
          </a:p>
        </p:txBody>
      </p:sp>
      <p:sp>
        <p:nvSpPr>
          <p:cNvPr id="11" name="Card">
            <a:extLst>
              <a:ext uri="{FF2B5EF4-FFF2-40B4-BE49-F238E27FC236}">
                <a16:creationId xmlns:a16="http://schemas.microsoft.com/office/drawing/2014/main" id="{AC60CA9B-ECB0-AF92-3E42-B7C62F00EBEC}"/>
              </a:ext>
            </a:extLst>
          </p:cNvPr>
          <p:cNvSpPr/>
          <p:nvPr/>
        </p:nvSpPr>
        <p:spPr>
          <a:xfrm>
            <a:off x="1350818" y="4129859"/>
            <a:ext cx="3752748" cy="1554480"/>
          </a:xfrm>
          <a:prstGeom prst="roundRect">
            <a:avLst>
              <a:gd name="adj" fmla="val 5882"/>
            </a:avLst>
          </a:prstGeom>
          <a:solidFill>
            <a:schemeClr val="bg2"/>
          </a:solidFill>
          <a:ln w="12700">
            <a:solidFill>
              <a:schemeClr val="bg2"/>
            </a:solidFill>
            <a:prstDash val="solid"/>
          </a:ln>
        </p:spPr>
        <p:txBody>
          <a:bodyPr/>
          <a:lstStyle/>
          <a:p>
            <a:pPr algn="ctr"/>
            <a:endParaRPr lang="en-IN" sz="2000" b="1" dirty="0">
              <a:solidFill>
                <a:schemeClr val="accent2"/>
              </a:solidFill>
              <a:latin typeface="Times New Roman" panose="02020603050405020304" pitchFamily="18" charset="0"/>
              <a:cs typeface="Times New Roman" panose="02020603050405020304" pitchFamily="18" charset="0"/>
            </a:endParaRPr>
          </a:p>
          <a:p>
            <a:pPr algn="ctr"/>
            <a:r>
              <a:rPr lang="en-IN" sz="2000" b="1" dirty="0">
                <a:solidFill>
                  <a:schemeClr val="accent2"/>
                </a:solidFill>
                <a:latin typeface="Times New Roman" panose="02020603050405020304" pitchFamily="18" charset="0"/>
                <a:cs typeface="Times New Roman" panose="02020603050405020304" pitchFamily="18" charset="0"/>
              </a:rPr>
              <a:t>8,807</a:t>
            </a:r>
          </a:p>
          <a:p>
            <a:pPr algn="ctr"/>
            <a:r>
              <a:rPr lang="en-IN" sz="2000" b="1" dirty="0">
                <a:solidFill>
                  <a:schemeClr val="accent2"/>
                </a:solidFill>
                <a:latin typeface="Times New Roman" panose="02020603050405020304" pitchFamily="18" charset="0"/>
                <a:cs typeface="Times New Roman" panose="02020603050405020304" pitchFamily="18" charset="0"/>
              </a:rPr>
              <a:t>Total records</a:t>
            </a:r>
          </a:p>
        </p:txBody>
      </p:sp>
      <p:sp>
        <p:nvSpPr>
          <p:cNvPr id="13" name="Card">
            <a:extLst>
              <a:ext uri="{FF2B5EF4-FFF2-40B4-BE49-F238E27FC236}">
                <a16:creationId xmlns:a16="http://schemas.microsoft.com/office/drawing/2014/main" id="{4A0AB954-6FBB-0F2C-51CC-02261BFC9572}"/>
              </a:ext>
            </a:extLst>
          </p:cNvPr>
          <p:cNvSpPr/>
          <p:nvPr/>
        </p:nvSpPr>
        <p:spPr>
          <a:xfrm>
            <a:off x="7012925" y="4129859"/>
            <a:ext cx="3752748" cy="1554480"/>
          </a:xfrm>
          <a:prstGeom prst="roundRect">
            <a:avLst>
              <a:gd name="adj" fmla="val 5882"/>
            </a:avLst>
          </a:prstGeom>
          <a:solidFill>
            <a:schemeClr val="bg2"/>
          </a:solidFill>
          <a:ln w="12700">
            <a:solidFill>
              <a:schemeClr val="bg2"/>
            </a:solidFill>
            <a:prstDash val="solid"/>
          </a:ln>
        </p:spPr>
        <p:txBody>
          <a:bodyPr/>
          <a:lstStyle/>
          <a:p>
            <a:pPr algn="ctr"/>
            <a:endParaRPr lang="en-IN" sz="2000" b="1" dirty="0">
              <a:solidFill>
                <a:schemeClr val="accent2"/>
              </a:solidFill>
              <a:latin typeface="Times New Roman" panose="02020603050405020304" pitchFamily="18" charset="0"/>
              <a:cs typeface="Times New Roman" panose="02020603050405020304" pitchFamily="18" charset="0"/>
            </a:endParaRPr>
          </a:p>
          <a:p>
            <a:pPr algn="ctr"/>
            <a:r>
              <a:rPr lang="en-IN" sz="2000" b="1" dirty="0">
                <a:solidFill>
                  <a:schemeClr val="accent2"/>
                </a:solidFill>
                <a:latin typeface="Times New Roman" panose="02020603050405020304" pitchFamily="18" charset="0"/>
                <a:cs typeface="Times New Roman" panose="02020603050405020304" pitchFamily="18" charset="0"/>
              </a:rPr>
              <a:t>12</a:t>
            </a:r>
          </a:p>
          <a:p>
            <a:pPr algn="ctr"/>
            <a:r>
              <a:rPr lang="en-IN" sz="2000" b="1" dirty="0">
                <a:solidFill>
                  <a:schemeClr val="accent2"/>
                </a:solidFill>
                <a:latin typeface="Times New Roman" panose="02020603050405020304" pitchFamily="18" charset="0"/>
                <a:cs typeface="Times New Roman" panose="02020603050405020304" pitchFamily="18" charset="0"/>
              </a:rPr>
              <a:t>Dataset columns</a:t>
            </a:r>
          </a:p>
        </p:txBody>
      </p:sp>
    </p:spTree>
    <p:extLst>
      <p:ext uri="{BB962C8B-B14F-4D97-AF65-F5344CB8AC3E}">
        <p14:creationId xmlns:p14="http://schemas.microsoft.com/office/powerpoint/2010/main" val="3233535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2E1F0EC6-AECD-FAAA-5F44-6DED60079D9B}"/>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D552F82F-15B6-36E4-9C60-8387C89DAFA1}"/>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3F6E4AA2-01BF-5D1A-4825-EEFD72710F64}"/>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1841D30-8D7B-9E42-8803-B077457A14CD}"/>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432F896-BEA5-0568-F26C-9E9DDFA3FF08}"/>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B9CD322-D706-AA9C-8CE7-F7F1670E051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PROBLEM STATEMENT</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79DB4E26-B689-9295-43F3-05148C8BFAD2}"/>
              </a:ext>
            </a:extLst>
          </p:cNvPr>
          <p:cNvSpPr txBox="1"/>
          <p:nvPr/>
        </p:nvSpPr>
        <p:spPr>
          <a:xfrm>
            <a:off x="872837" y="1470632"/>
            <a:ext cx="10733808" cy="4401205"/>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Nowadays, streaming platforms like Netflix provide a large collection of movies and TV shows belonging to different genres, countries, languages, and release years. Managing and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such a huge amount of data manually is difficult and time-consuming.</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 dataset may contain missing values, inconsistent information, and different types of records. Without proper data cleaning and analysis, it becomes difficult to understand the distribution of movies and TV shows, identify popular genres, study country-wise content availability, and observe changes in content over the years.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Therefore, the Movie Rating Analysis System is developed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the Netflix Movies and TV Shows dataset using Python. By applying data preprocessing, Pandas, NumPy, and data visualization techniques, the system extracts meaningful information and presents useful insights in an understandable format.</a:t>
            </a:r>
          </a:p>
          <a:p>
            <a:pPr>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202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8054-DE91-25A4-11CE-487D47D9719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323A149-56D9-090A-9224-2CB4F43F143F}"/>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30BF0A52-9025-28CA-A5B2-901207ED7C6E}"/>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147C8850-29E3-9DB3-7193-FF90DC53EF64}"/>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AC591A2-A810-9697-7CCB-7682ED3A3F84}"/>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4723C9B-2717-1008-6359-3DC02C82F673}"/>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24F7822-4D37-26EB-BA79-16D8DFAF6F0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OBJECTIVES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E256C681-FEA1-4BF5-EAFB-4871568C6AC9}"/>
              </a:ext>
            </a:extLst>
          </p:cNvPr>
          <p:cNvSpPr txBox="1"/>
          <p:nvPr/>
        </p:nvSpPr>
        <p:spPr>
          <a:xfrm>
            <a:off x="1228726" y="1232467"/>
            <a:ext cx="8424430" cy="5324535"/>
          </a:xfrm>
          <a:prstGeom prst="rect">
            <a:avLst/>
          </a:prstGeom>
          <a:noFill/>
        </p:spPr>
        <p:txBody>
          <a:bodyPr wrap="square">
            <a:spAutoFit/>
          </a:bodyPr>
          <a:lstStyle/>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collect and load the Netflix Movies and TV Shows dataset.</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understand the structure, size, and attributes of the dataset.</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identify and handle missing and duplicate values.</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perform data cleaning and preprocessing.</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the distribution of movies and TV shows.</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study genre-wise and country-wise content distribution.</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content classifications and release-year trends.</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represent the analysis results using suitable charts and visualizations.</a:t>
            </a:r>
          </a:p>
          <a:p>
            <a:pPr marL="342900" lvl="0" indent="-34290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To generate meaningful insights from the dataset.</a:t>
            </a:r>
          </a:p>
        </p:txBody>
      </p:sp>
    </p:spTree>
    <p:extLst>
      <p:ext uri="{BB962C8B-B14F-4D97-AF65-F5344CB8AC3E}">
        <p14:creationId xmlns:p14="http://schemas.microsoft.com/office/powerpoint/2010/main" val="290846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40CC-6A13-1D3E-60E8-81868FBE27D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AB9865A-801B-3FAE-4E62-5CF044FADC31}"/>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CA60081C-5713-2F01-51C7-AC3DD15C5FFD}"/>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D0E775DC-FD57-C997-2B85-23268E0777CF}"/>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50E35C1D-C2FD-B4F6-8ED8-70A825B590B8}"/>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616A92FC-2296-5E23-75A9-0EDE2301CDB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F9C3FE7-F533-E53F-5D9F-26E00B3AB3B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TOOLS &amp; TECHNOLOGIES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54557A63-1DB5-64C1-16BF-86A8A18ADDC1}"/>
              </a:ext>
            </a:extLst>
          </p:cNvPr>
          <p:cNvSpPr txBox="1"/>
          <p:nvPr/>
        </p:nvSpPr>
        <p:spPr>
          <a:xfrm>
            <a:off x="1104033" y="1322209"/>
            <a:ext cx="9099839" cy="5016758"/>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1. Programming Language</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Python – Used for data processing and analysis.</a:t>
            </a:r>
          </a:p>
          <a:p>
            <a:r>
              <a:rPr lang="en-IN" sz="2000" b="1" dirty="0">
                <a:latin typeface="Times New Roman" panose="02020603050405020304" pitchFamily="18" charset="0"/>
                <a:cs typeface="Times New Roman" panose="02020603050405020304" pitchFamily="18" charset="0"/>
              </a:rPr>
              <a:t>2. Libraries</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Pandas – Used for data loading, cleaning, and manipulation.</a:t>
            </a:r>
          </a:p>
          <a:p>
            <a:pPr lvl="0"/>
            <a:r>
              <a:rPr lang="en-IN" sz="2000" dirty="0">
                <a:latin typeface="Times New Roman" panose="02020603050405020304" pitchFamily="18" charset="0"/>
                <a:cs typeface="Times New Roman" panose="02020603050405020304" pitchFamily="18" charset="0"/>
              </a:rPr>
              <a:t>NumPy – Used for numerical operations and calculations.</a:t>
            </a:r>
          </a:p>
          <a:p>
            <a:pPr lvl="0"/>
            <a:r>
              <a:rPr lang="en-IN" sz="2000" dirty="0">
                <a:latin typeface="Times New Roman" panose="02020603050405020304" pitchFamily="18" charset="0"/>
                <a:cs typeface="Times New Roman" panose="02020603050405020304" pitchFamily="18" charset="0"/>
              </a:rPr>
              <a:t>Matplotlib – Used for creating graphs and visualizations.</a:t>
            </a:r>
          </a:p>
          <a:p>
            <a:r>
              <a:rPr lang="en-IN" sz="2000" b="1" dirty="0">
                <a:latin typeface="Times New Roman" panose="02020603050405020304" pitchFamily="18" charset="0"/>
                <a:cs typeface="Times New Roman" panose="02020603050405020304" pitchFamily="18" charset="0"/>
              </a:rPr>
              <a:t>3. Dataset</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Netflix Movies and TV Shows Dataset (</a:t>
            </a:r>
            <a:r>
              <a:rPr lang="en-IN" dirty="0">
                <a:latin typeface="Times New Roman" panose="02020603050405020304" pitchFamily="18" charset="0"/>
                <a:cs typeface="Times New Roman" panose="02020603050405020304" pitchFamily="18" charset="0"/>
              </a:rPr>
              <a:t>netflix_titles.csv</a:t>
            </a:r>
            <a:r>
              <a:rPr lang="en-IN" sz="2000" dirty="0">
                <a:latin typeface="Times New Roman" panose="02020603050405020304" pitchFamily="18" charset="0"/>
                <a:cs typeface="Times New Roman" panose="02020603050405020304" pitchFamily="18" charset="0"/>
              </a:rPr>
              <a:t>).</a:t>
            </a:r>
          </a:p>
          <a:p>
            <a:pPr lvl="0"/>
            <a:r>
              <a:rPr lang="en-IN" sz="2000" dirty="0">
                <a:latin typeface="Times New Roman" panose="02020603050405020304" pitchFamily="18" charset="0"/>
                <a:cs typeface="Times New Roman" panose="02020603050405020304" pitchFamily="18" charset="0"/>
              </a:rPr>
              <a:t>Contains information about movies, TV shows, genres, countries, ratings, and release years.</a:t>
            </a:r>
          </a:p>
          <a:p>
            <a:r>
              <a:rPr lang="en-IN" sz="2000" b="1" dirty="0">
                <a:latin typeface="Times New Roman" panose="02020603050405020304" pitchFamily="18" charset="0"/>
                <a:cs typeface="Times New Roman" panose="02020603050405020304" pitchFamily="18" charset="0"/>
              </a:rPr>
              <a:t>4. Development Platform</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 Jupyter Notebook – Mention the platform actually used for project implementation.</a:t>
            </a:r>
          </a:p>
          <a:p>
            <a:r>
              <a:rPr lang="en-IN" sz="2000" b="1" dirty="0">
                <a:latin typeface="Times New Roman" panose="02020603050405020304" pitchFamily="18" charset="0"/>
                <a:cs typeface="Times New Roman" panose="02020603050405020304" pitchFamily="18" charset="0"/>
              </a:rPr>
              <a:t>5. Presentation Tool</a:t>
            </a:r>
            <a:endParaRPr lang="en-IN" sz="2000" dirty="0">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Microsoft PowerPoint – Used to prepare project presentation slides.</a:t>
            </a:r>
          </a:p>
          <a:p>
            <a:pPr>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0087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D4CA7-80F6-FB62-2A4C-02CCE6709063}"/>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8C9D365-5A01-B122-146F-50DA606BBC2A}"/>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8C909181-01C0-4E65-00E8-0C4BDCF2E983}"/>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9FCF0B0D-C478-0DCF-02F1-BCFA00F7E36B}"/>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76039A8-2AC7-BD37-DC1C-6179347A5C31}"/>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E9742C6-7074-BD70-AF0A-70DF0B501FCF}"/>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BAEB12C-93FF-7DB0-4BDF-9B37E6D28FA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b="1" dirty="0">
                  <a:solidFill>
                    <a:schemeClr val="bg1"/>
                  </a:solidFill>
                  <a:latin typeface="Times New Roman" panose="02020603050405020304" pitchFamily="18" charset="0"/>
                  <a:cs typeface="Times New Roman" panose="02020603050405020304" pitchFamily="18" charset="0"/>
                </a:rPr>
                <a:t>DATASET DETAILS – BEFORE CLEANING</a:t>
              </a:r>
              <a:endParaRPr b="1" dirty="0">
                <a:solidFill>
                  <a:schemeClr val="bg1"/>
                </a:solidFill>
                <a:latin typeface="Times New Roman" panose="02020603050405020304" pitchFamily="18" charset="0"/>
                <a:cs typeface="Times New Roman" panose="02020603050405020304" pitchFamily="18" charset="0"/>
              </a:endParaRPr>
            </a:p>
          </p:txBody>
        </p:sp>
      </p:grpSp>
      <p:pic>
        <p:nvPicPr>
          <p:cNvPr id="14" name="Picture 13">
            <a:extLst>
              <a:ext uri="{FF2B5EF4-FFF2-40B4-BE49-F238E27FC236}">
                <a16:creationId xmlns:a16="http://schemas.microsoft.com/office/drawing/2014/main" id="{F70C232B-A881-A79A-8AF5-E7ABA8A01BDC}"/>
              </a:ext>
            </a:extLst>
          </p:cNvPr>
          <p:cNvPicPr>
            <a:picLocks noChangeAspect="1"/>
          </p:cNvPicPr>
          <p:nvPr/>
        </p:nvPicPr>
        <p:blipFill>
          <a:blip r:embed="rId6"/>
          <a:stretch>
            <a:fillRect/>
          </a:stretch>
        </p:blipFill>
        <p:spPr>
          <a:xfrm>
            <a:off x="6296891" y="1520890"/>
            <a:ext cx="5334000" cy="5053821"/>
          </a:xfrm>
          <a:prstGeom prst="rect">
            <a:avLst/>
          </a:prstGeom>
        </p:spPr>
      </p:pic>
      <p:sp>
        <p:nvSpPr>
          <p:cNvPr id="15" name="TextBox 14">
            <a:extLst>
              <a:ext uri="{FF2B5EF4-FFF2-40B4-BE49-F238E27FC236}">
                <a16:creationId xmlns:a16="http://schemas.microsoft.com/office/drawing/2014/main" id="{98648CDE-9335-5C2D-1F0B-37CC949E3B2D}"/>
              </a:ext>
            </a:extLst>
          </p:cNvPr>
          <p:cNvSpPr txBox="1"/>
          <p:nvPr/>
        </p:nvSpPr>
        <p:spPr>
          <a:xfrm>
            <a:off x="677756" y="1084818"/>
            <a:ext cx="257275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DATASET SUMMARY:</a:t>
            </a:r>
            <a:endParaRPr lang="en-IN"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BB09233-23C7-DE28-3310-1059DAB34AD4}"/>
              </a:ext>
            </a:extLst>
          </p:cNvPr>
          <p:cNvSpPr txBox="1"/>
          <p:nvPr/>
        </p:nvSpPr>
        <p:spPr>
          <a:xfrm>
            <a:off x="6241071" y="1084818"/>
            <a:ext cx="270041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DATASET ATTRIBUTE:</a:t>
            </a:r>
            <a:endParaRPr lang="en-IN"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EEE9CFC4-561B-D2AA-3E42-5C71D3A630D2}"/>
              </a:ext>
            </a:extLst>
          </p:cNvPr>
          <p:cNvPicPr>
            <a:picLocks noChangeAspect="1"/>
          </p:cNvPicPr>
          <p:nvPr/>
        </p:nvPicPr>
        <p:blipFill>
          <a:blip r:embed="rId7"/>
          <a:stretch>
            <a:fillRect/>
          </a:stretch>
        </p:blipFill>
        <p:spPr>
          <a:xfrm>
            <a:off x="602332" y="1520890"/>
            <a:ext cx="5296359" cy="5029636"/>
          </a:xfrm>
          <a:prstGeom prst="rect">
            <a:avLst/>
          </a:prstGeom>
        </p:spPr>
      </p:pic>
    </p:spTree>
    <p:extLst>
      <p:ext uri="{BB962C8B-B14F-4D97-AF65-F5344CB8AC3E}">
        <p14:creationId xmlns:p14="http://schemas.microsoft.com/office/powerpoint/2010/main" val="1310164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0A278-294C-27F0-18FF-D14EB0DFB65A}"/>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BDD2AD74-7C2F-493D-AA61-8478DE0673A7}"/>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2A8C89E8-4E58-AF42-C7DB-6569BA002767}"/>
              </a:ext>
            </a:extLst>
          </p:cNvPr>
          <p:cNvGrpSpPr/>
          <p:nvPr/>
        </p:nvGrpSpPr>
        <p:grpSpPr>
          <a:xfrm>
            <a:off x="2192483" y="283289"/>
            <a:ext cx="7252853" cy="1198311"/>
            <a:chOff x="1690806" y="47148"/>
            <a:chExt cx="6939982" cy="1198311"/>
          </a:xfrm>
        </p:grpSpPr>
        <p:pic>
          <p:nvPicPr>
            <p:cNvPr id="5" name="object 4">
              <a:extLst>
                <a:ext uri="{FF2B5EF4-FFF2-40B4-BE49-F238E27FC236}">
                  <a16:creationId xmlns:a16="http://schemas.microsoft.com/office/drawing/2014/main" id="{ADDC39F2-FFB4-AF0C-E0A1-3889BCBC8D6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7DD8719-6C68-D864-CE05-C39E8E4FC851}"/>
                </a:ext>
              </a:extLst>
            </p:cNvPr>
            <p:cNvPicPr/>
            <p:nvPr/>
          </p:nvPicPr>
          <p:blipFill>
            <a:blip r:embed="rId4" cstate="print"/>
            <a:stretch>
              <a:fillRect/>
            </a:stretch>
          </p:blipFill>
          <p:spPr>
            <a:xfrm>
              <a:off x="1690806" y="86439"/>
              <a:ext cx="6939982" cy="1092279"/>
            </a:xfrm>
            <a:prstGeom prst="rect">
              <a:avLst/>
            </a:prstGeom>
          </p:spPr>
        </p:pic>
        <p:pic>
          <p:nvPicPr>
            <p:cNvPr id="7" name="object 6">
              <a:extLst>
                <a:ext uri="{FF2B5EF4-FFF2-40B4-BE49-F238E27FC236}">
                  <a16:creationId xmlns:a16="http://schemas.microsoft.com/office/drawing/2014/main" id="{06ECC084-5F77-E06E-7FCE-479CE30C97CC}"/>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F1170449-35A3-3A91-CEBD-C1BC2C9A7337}"/>
                </a:ext>
              </a:extLst>
            </p:cNvPr>
            <p:cNvSpPr/>
            <p:nvPr/>
          </p:nvSpPr>
          <p:spPr>
            <a:xfrm>
              <a:off x="1889659" y="282892"/>
              <a:ext cx="625394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b="1" dirty="0">
                  <a:solidFill>
                    <a:schemeClr val="bg1"/>
                  </a:solidFill>
                  <a:latin typeface="Times New Roman" panose="02020603050405020304" pitchFamily="18" charset="0"/>
                  <a:cs typeface="Times New Roman" panose="02020603050405020304" pitchFamily="18" charset="0"/>
                </a:rPr>
                <a:t>CLEANING,MISSING VAULES &amp; DUPLICATE VALUES</a:t>
              </a:r>
              <a:endParaRPr b="1" dirty="0">
                <a:solidFill>
                  <a:schemeClr val="bg1"/>
                </a:solidFill>
                <a:latin typeface="Times New Roman" panose="02020603050405020304" pitchFamily="18" charset="0"/>
                <a:cs typeface="Times New Roman" panose="02020603050405020304" pitchFamily="18" charset="0"/>
              </a:endParaRPr>
            </a:p>
          </p:txBody>
        </p:sp>
      </p:grpSp>
      <p:graphicFrame>
        <p:nvGraphicFramePr>
          <p:cNvPr id="9" name="Table 8">
            <a:extLst>
              <a:ext uri="{FF2B5EF4-FFF2-40B4-BE49-F238E27FC236}">
                <a16:creationId xmlns:a16="http://schemas.microsoft.com/office/drawing/2014/main" id="{A087BC49-7337-2C56-AB3C-031D53A9A304}"/>
              </a:ext>
            </a:extLst>
          </p:cNvPr>
          <p:cNvGraphicFramePr>
            <a:graphicFrameLocks noGrp="1"/>
          </p:cNvGraphicFramePr>
          <p:nvPr>
            <p:extLst>
              <p:ext uri="{D42A27DB-BD31-4B8C-83A1-F6EECF244321}">
                <p14:modId xmlns:p14="http://schemas.microsoft.com/office/powerpoint/2010/main" val="2622575927"/>
              </p:ext>
            </p:extLst>
          </p:nvPr>
        </p:nvGraphicFramePr>
        <p:xfrm>
          <a:off x="474295" y="1159364"/>
          <a:ext cx="6213090" cy="2537880"/>
        </p:xfrm>
        <a:graphic>
          <a:graphicData uri="http://schemas.openxmlformats.org/drawingml/2006/table">
            <a:tbl>
              <a:tblPr firstRow="1" bandRow="1">
                <a:tableStyleId>{073A0DAA-6AF3-43AB-8588-CEC1D06C72B9}</a:tableStyleId>
              </a:tblPr>
              <a:tblGrid>
                <a:gridCol w="2071030">
                  <a:extLst>
                    <a:ext uri="{9D8B030D-6E8A-4147-A177-3AD203B41FA5}">
                      <a16:colId xmlns:a16="http://schemas.microsoft.com/office/drawing/2014/main" val="2083068518"/>
                    </a:ext>
                  </a:extLst>
                </a:gridCol>
                <a:gridCol w="2071030">
                  <a:extLst>
                    <a:ext uri="{9D8B030D-6E8A-4147-A177-3AD203B41FA5}">
                      <a16:colId xmlns:a16="http://schemas.microsoft.com/office/drawing/2014/main" val="994298625"/>
                    </a:ext>
                  </a:extLst>
                </a:gridCol>
                <a:gridCol w="2071030">
                  <a:extLst>
                    <a:ext uri="{9D8B030D-6E8A-4147-A177-3AD203B41FA5}">
                      <a16:colId xmlns:a16="http://schemas.microsoft.com/office/drawing/2014/main" val="2359061035"/>
                    </a:ext>
                  </a:extLst>
                </a:gridCol>
              </a:tblGrid>
              <a:tr h="474450">
                <a:tc>
                  <a:txBody>
                    <a:bodyPr/>
                    <a:lstStyle/>
                    <a:p>
                      <a:pPr algn="ctr"/>
                      <a:r>
                        <a:rPr lang="en-US" dirty="0">
                          <a:latin typeface="Times New Roman" panose="02020603050405020304" pitchFamily="18" charset="0"/>
                          <a:cs typeface="Times New Roman" panose="02020603050405020304" pitchFamily="18" charset="0"/>
                        </a:rPr>
                        <a:t>CHECK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BEFORE CLEANING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AFTER CLEANING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4425780"/>
                  </a:ext>
                </a:extLst>
              </a:tr>
              <a:tr h="474450">
                <a:tc>
                  <a:txBody>
                    <a:bodyPr/>
                    <a:lstStyle/>
                    <a:p>
                      <a:pPr algn="ctr"/>
                      <a:r>
                        <a:rPr lang="en-IN" dirty="0">
                          <a:latin typeface="Times New Roman" panose="02020603050405020304" pitchFamily="18" charset="0"/>
                          <a:cs typeface="Times New Roman" panose="02020603050405020304" pitchFamily="18" charset="0"/>
                        </a:rPr>
                        <a:t>Rows × Columns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8,807 ×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8,807 ×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8480034"/>
                  </a:ext>
                </a:extLst>
              </a:tr>
              <a:tr h="474450">
                <a:tc>
                  <a:txBody>
                    <a:bodyPr/>
                    <a:lstStyle/>
                    <a:p>
                      <a:pPr algn="ctr"/>
                      <a:r>
                        <a:rPr lang="en-IN" dirty="0">
                          <a:latin typeface="Times New Roman" panose="02020603050405020304" pitchFamily="18" charset="0"/>
                          <a:cs typeface="Times New Roman" panose="02020603050405020304" pitchFamily="18" charset="0"/>
                        </a:rPr>
                        <a:t>Duplicate rows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5 found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6510616"/>
                  </a:ext>
                </a:extLst>
              </a:tr>
              <a:tr h="474450">
                <a:tc>
                  <a:txBody>
                    <a:bodyPr/>
                    <a:lstStyle/>
                    <a:p>
                      <a:pPr algn="ctr"/>
                      <a:r>
                        <a:rPr lang="en-US" dirty="0">
                          <a:latin typeface="Times New Roman" panose="02020603050405020304" pitchFamily="18" charset="0"/>
                          <a:cs typeface="Times New Roman" panose="02020603050405020304" pitchFamily="18" charset="0"/>
                        </a:rPr>
                        <a:t>Missing values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4,314</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092813"/>
                  </a:ext>
                </a:extLst>
              </a:tr>
              <a:tr h="474450">
                <a:tc>
                  <a:txBody>
                    <a:bodyPr/>
                    <a:lstStyle/>
                    <a:p>
                      <a:pPr algn="ctr"/>
                      <a:r>
                        <a:rPr lang="en-US" dirty="0">
                          <a:latin typeface="Times New Roman" panose="02020603050405020304" pitchFamily="18" charset="0"/>
                          <a:cs typeface="Times New Roman" panose="02020603050405020304" pitchFamily="18" charset="0"/>
                        </a:rPr>
                        <a:t>Columns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191903"/>
                  </a:ext>
                </a:extLst>
              </a:tr>
            </a:tbl>
          </a:graphicData>
        </a:graphic>
      </p:graphicFrame>
      <p:pic>
        <p:nvPicPr>
          <p:cNvPr id="13" name="Picture 12">
            <a:extLst>
              <a:ext uri="{FF2B5EF4-FFF2-40B4-BE49-F238E27FC236}">
                <a16:creationId xmlns:a16="http://schemas.microsoft.com/office/drawing/2014/main" id="{A8343AC7-E9C5-2D01-BD96-6C12305FF8CE}"/>
              </a:ext>
            </a:extLst>
          </p:cNvPr>
          <p:cNvPicPr>
            <a:picLocks noChangeAspect="1"/>
          </p:cNvPicPr>
          <p:nvPr/>
        </p:nvPicPr>
        <p:blipFill>
          <a:blip r:embed="rId6"/>
          <a:stretch>
            <a:fillRect/>
          </a:stretch>
        </p:blipFill>
        <p:spPr>
          <a:xfrm>
            <a:off x="7687928" y="1132045"/>
            <a:ext cx="3475596" cy="2565199"/>
          </a:xfrm>
          <a:prstGeom prst="rect">
            <a:avLst/>
          </a:prstGeom>
        </p:spPr>
      </p:pic>
      <p:sp>
        <p:nvSpPr>
          <p:cNvPr id="15" name="Card">
            <a:extLst>
              <a:ext uri="{FF2B5EF4-FFF2-40B4-BE49-F238E27FC236}">
                <a16:creationId xmlns:a16="http://schemas.microsoft.com/office/drawing/2014/main" id="{3438D8F3-69B0-9820-AC56-7F8EA00DE7E5}"/>
              </a:ext>
            </a:extLst>
          </p:cNvPr>
          <p:cNvSpPr/>
          <p:nvPr/>
        </p:nvSpPr>
        <p:spPr>
          <a:xfrm>
            <a:off x="572193" y="4000870"/>
            <a:ext cx="4862252" cy="2377440"/>
          </a:xfrm>
          <a:prstGeom prst="roundRect">
            <a:avLst>
              <a:gd name="adj" fmla="val 3846"/>
            </a:avLst>
          </a:prstGeom>
          <a:solidFill>
            <a:schemeClr val="bg2"/>
          </a:solidFill>
          <a:ln w="12700">
            <a:solidFill>
              <a:schemeClr val="bg2"/>
            </a:solidFill>
            <a:prstDash val="solid"/>
          </a:ln>
        </p:spPr>
        <p:txBody>
          <a:bodyPr/>
          <a:lstStyle/>
          <a:p>
            <a:r>
              <a:rPr lang="en-US" b="1" dirty="0">
                <a:solidFill>
                  <a:schemeClr val="accent2"/>
                </a:solidFill>
                <a:latin typeface="Times New Roman" panose="02020603050405020304" pitchFamily="18" charset="0"/>
                <a:cs typeface="Times New Roman" panose="02020603050405020304" pitchFamily="18" charset="0"/>
              </a:rPr>
              <a:t>MISSING VALUES :</a:t>
            </a:r>
          </a:p>
          <a:p>
            <a:endParaRPr lang="en-US" b="1" dirty="0">
              <a:solidFill>
                <a:schemeClr val="accent2"/>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Total 4,314 missing values were identified.</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Missing values were handled using </a:t>
            </a:r>
            <a:r>
              <a:rPr lang="en-IN" dirty="0" err="1">
                <a:latin typeface="Times New Roman" panose="02020603050405020304" pitchFamily="18" charset="0"/>
                <a:cs typeface="Times New Roman" panose="02020603050405020304" pitchFamily="18" charset="0"/>
              </a:rPr>
              <a:t>fillna</a:t>
            </a:r>
            <a:r>
              <a:rPr lang="en-IN"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Suitable replacement values such as Unknown were used.</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 rows were removed for missing values.</a:t>
            </a:r>
          </a:p>
          <a:p>
            <a:endParaRPr lang="en-IN" b="1" dirty="0">
              <a:solidFill>
                <a:schemeClr val="accent2"/>
              </a:solidFill>
              <a:latin typeface="Times New Roman" panose="02020603050405020304" pitchFamily="18" charset="0"/>
              <a:cs typeface="Times New Roman" panose="02020603050405020304" pitchFamily="18" charset="0"/>
            </a:endParaRPr>
          </a:p>
        </p:txBody>
      </p:sp>
      <p:sp>
        <p:nvSpPr>
          <p:cNvPr id="17" name="Card">
            <a:extLst>
              <a:ext uri="{FF2B5EF4-FFF2-40B4-BE49-F238E27FC236}">
                <a16:creationId xmlns:a16="http://schemas.microsoft.com/office/drawing/2014/main" id="{F29BFA5C-5575-4005-77BD-9304E5D499DA}"/>
              </a:ext>
            </a:extLst>
          </p:cNvPr>
          <p:cNvSpPr/>
          <p:nvPr/>
        </p:nvSpPr>
        <p:spPr>
          <a:xfrm>
            <a:off x="6402422" y="4000870"/>
            <a:ext cx="5067524" cy="2377440"/>
          </a:xfrm>
          <a:prstGeom prst="roundRect">
            <a:avLst>
              <a:gd name="adj" fmla="val 3846"/>
            </a:avLst>
          </a:prstGeom>
          <a:solidFill>
            <a:schemeClr val="bg2"/>
          </a:solidFill>
          <a:ln w="12700">
            <a:solidFill>
              <a:schemeClr val="bg2"/>
            </a:solidFill>
            <a:prstDash val="solid"/>
          </a:ln>
        </p:spPr>
        <p:txBody>
          <a:bodyPr/>
          <a:lstStyle/>
          <a:p>
            <a:r>
              <a:rPr lang="en-US" b="1" dirty="0">
                <a:solidFill>
                  <a:schemeClr val="accent2"/>
                </a:solidFill>
                <a:latin typeface="Times New Roman" panose="02020603050405020304" pitchFamily="18" charset="0"/>
                <a:cs typeface="Times New Roman" panose="02020603050405020304" pitchFamily="18" charset="0"/>
              </a:rPr>
              <a:t>DUPLICATE RECORDS :</a:t>
            </a:r>
          </a:p>
          <a:p>
            <a:endParaRPr lang="en-US" b="1" dirty="0">
              <a:solidFill>
                <a:schemeClr val="accent2"/>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5 completely duplicated rows were identified.</a:t>
            </a:r>
          </a:p>
          <a:p>
            <a:pPr marL="285750" lvl="0" indent="-285750">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drop_duplicates</a:t>
            </a:r>
            <a:r>
              <a:rPr lang="en-IN" dirty="0">
                <a:latin typeface="Times New Roman" panose="02020603050405020304" pitchFamily="18" charset="0"/>
                <a:cs typeface="Times New Roman" panose="02020603050405020304" pitchFamily="18" charset="0"/>
              </a:rPr>
              <a:t>() was used to remove duplicate records.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After cleaning, 0 duplicate rows remained.</a:t>
            </a:r>
          </a:p>
          <a:p>
            <a:endParaRPr lang="en-IN"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954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4D7D6BC6-0253-4156-300D-38339B38F55F}"/>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498EC5F1-6730-4AAA-0C38-D2AE67791274}"/>
              </a:ext>
            </a:extLst>
          </p:cNvPr>
          <p:cNvGrpSpPr/>
          <p:nvPr/>
        </p:nvGrpSpPr>
        <p:grpSpPr>
          <a:xfrm>
            <a:off x="3261557" y="86469"/>
            <a:ext cx="5334000" cy="1198311"/>
            <a:chOff x="2648188" y="47148"/>
            <a:chExt cx="5103904" cy="1198311"/>
          </a:xfrm>
        </p:grpSpPr>
        <p:pic>
          <p:nvPicPr>
            <p:cNvPr id="5" name="object 4">
              <a:extLst>
                <a:ext uri="{FF2B5EF4-FFF2-40B4-BE49-F238E27FC236}">
                  <a16:creationId xmlns:a16="http://schemas.microsoft.com/office/drawing/2014/main" id="{DA799F62-AC4D-95DB-F977-BDEF27C55E0B}"/>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08B98A6F-5893-AF0D-6CDF-8A708AC637AF}"/>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A9AF679-C32C-DC29-06D6-36857703DBB5}"/>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7C1AD0E-5602-ED56-FBF0-9BF85A52579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LOADING</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2" name="Rounded Rectangle 5">
            <a:extLst>
              <a:ext uri="{FF2B5EF4-FFF2-40B4-BE49-F238E27FC236}">
                <a16:creationId xmlns:a16="http://schemas.microsoft.com/office/drawing/2014/main" id="{702248B4-AA7E-B8D9-29F8-63B6FA79E48D}"/>
              </a:ext>
            </a:extLst>
          </p:cNvPr>
          <p:cNvSpPr/>
          <p:nvPr/>
        </p:nvSpPr>
        <p:spPr>
          <a:xfrm>
            <a:off x="396437" y="1400801"/>
            <a:ext cx="4577497"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200" dirty="0">
                <a:latin typeface="Times New Roman" panose="02020603050405020304" pitchFamily="18" charset="0"/>
                <a:cs typeface="Times New Roman" panose="02020603050405020304" pitchFamily="18" charset="0"/>
              </a:rPr>
              <a:t> </a:t>
            </a:r>
          </a:p>
          <a:p>
            <a:r>
              <a:rPr lang="en-IN" sz="2000" b="1" dirty="0">
                <a:solidFill>
                  <a:schemeClr val="dk1"/>
                </a:solidFill>
                <a:latin typeface="Times New Roman" panose="02020603050405020304" pitchFamily="18" charset="0"/>
                <a:cs typeface="Times New Roman" panose="02020603050405020304" pitchFamily="18" charset="0"/>
              </a:rPr>
              <a:t>#IMPORT LIBRARIES</a:t>
            </a:r>
          </a:p>
          <a:p>
            <a:endParaRPr lang="en-IN" sz="2000" b="1" dirty="0">
              <a:solidFill>
                <a:schemeClr val="dk1"/>
              </a:solidFill>
              <a:latin typeface="Times New Roman" panose="02020603050405020304" pitchFamily="18" charset="0"/>
              <a:cs typeface="Times New Roman" panose="02020603050405020304" pitchFamily="18" charset="0"/>
            </a:endParaRPr>
          </a:p>
          <a:p>
            <a:r>
              <a:rPr lang="en-IN" dirty="0">
                <a:solidFill>
                  <a:schemeClr val="dk1"/>
                </a:solidFill>
                <a:latin typeface="Times New Roman" panose="02020603050405020304" pitchFamily="18" charset="0"/>
                <a:cs typeface="Times New Roman" panose="02020603050405020304" pitchFamily="18" charset="0"/>
              </a:rPr>
              <a:t>import pandas as pd</a:t>
            </a:r>
          </a:p>
          <a:p>
            <a:r>
              <a:rPr lang="en-IN" dirty="0">
                <a:solidFill>
                  <a:schemeClr val="dk1"/>
                </a:solidFill>
                <a:latin typeface="Times New Roman" panose="02020603050405020304" pitchFamily="18" charset="0"/>
                <a:cs typeface="Times New Roman" panose="02020603050405020304" pitchFamily="18" charset="0"/>
              </a:rPr>
              <a:t>import </a:t>
            </a:r>
            <a:r>
              <a:rPr lang="en-IN" dirty="0" err="1">
                <a:solidFill>
                  <a:schemeClr val="dk1"/>
                </a:solidFill>
                <a:latin typeface="Times New Roman" panose="02020603050405020304" pitchFamily="18" charset="0"/>
                <a:cs typeface="Times New Roman" panose="02020603050405020304" pitchFamily="18" charset="0"/>
              </a:rPr>
              <a:t>numpy</a:t>
            </a:r>
            <a:r>
              <a:rPr lang="en-IN" dirty="0">
                <a:solidFill>
                  <a:schemeClr val="dk1"/>
                </a:solidFill>
                <a:latin typeface="Times New Roman" panose="02020603050405020304" pitchFamily="18" charset="0"/>
                <a:cs typeface="Times New Roman" panose="02020603050405020304" pitchFamily="18" charset="0"/>
              </a:rPr>
              <a:t> as np</a:t>
            </a:r>
          </a:p>
          <a:p>
            <a:endParaRPr lang="en-IN" dirty="0">
              <a:solidFill>
                <a:schemeClr val="dk1"/>
              </a:solidFill>
              <a:latin typeface="Times New Roman" panose="02020603050405020304" pitchFamily="18" charset="0"/>
              <a:cs typeface="Times New Roman" panose="02020603050405020304" pitchFamily="18" charset="0"/>
            </a:endParaRPr>
          </a:p>
          <a:p>
            <a:r>
              <a:rPr lang="en-IN" b="1" dirty="0">
                <a:solidFill>
                  <a:schemeClr val="dk1"/>
                </a:solidFill>
                <a:latin typeface="Times New Roman" panose="02020603050405020304" pitchFamily="18" charset="0"/>
                <a:cs typeface="Times New Roman" panose="02020603050405020304" pitchFamily="18" charset="0"/>
              </a:rPr>
              <a:t>#DATA LOADING</a:t>
            </a:r>
          </a:p>
          <a:p>
            <a:endParaRPr lang="en-IN" b="1" dirty="0">
              <a:solidFill>
                <a:schemeClr val="dk1"/>
              </a:solidFill>
              <a:latin typeface="Times New Roman" panose="02020603050405020304" pitchFamily="18" charset="0"/>
              <a:cs typeface="Times New Roman" panose="02020603050405020304" pitchFamily="18" charset="0"/>
            </a:endParaRPr>
          </a:p>
          <a:p>
            <a:r>
              <a:rPr lang="en-IN" dirty="0">
                <a:solidFill>
                  <a:schemeClr val="dk1"/>
                </a:solidFill>
                <a:latin typeface="Times New Roman" panose="02020603050405020304" pitchFamily="18" charset="0"/>
                <a:cs typeface="Times New Roman" panose="02020603050405020304" pitchFamily="18" charset="0"/>
              </a:rPr>
              <a:t>from </a:t>
            </a:r>
            <a:r>
              <a:rPr lang="en-IN" dirty="0" err="1">
                <a:solidFill>
                  <a:schemeClr val="dk1"/>
                </a:solidFill>
                <a:latin typeface="Times New Roman" panose="02020603050405020304" pitchFamily="18" charset="0"/>
                <a:cs typeface="Times New Roman" panose="02020603050405020304" pitchFamily="18" charset="0"/>
              </a:rPr>
              <a:t>google.colab</a:t>
            </a:r>
            <a:r>
              <a:rPr lang="en-IN" dirty="0">
                <a:solidFill>
                  <a:schemeClr val="dk1"/>
                </a:solidFill>
                <a:latin typeface="Times New Roman" panose="02020603050405020304" pitchFamily="18" charset="0"/>
                <a:cs typeface="Times New Roman" panose="02020603050405020304" pitchFamily="18" charset="0"/>
              </a:rPr>
              <a:t> import files</a:t>
            </a:r>
          </a:p>
          <a:p>
            <a:r>
              <a:rPr lang="en-IN" dirty="0">
                <a:solidFill>
                  <a:schemeClr val="dk1"/>
                </a:solidFill>
                <a:latin typeface="Times New Roman" panose="02020603050405020304" pitchFamily="18" charset="0"/>
                <a:cs typeface="Times New Roman" panose="02020603050405020304" pitchFamily="18" charset="0"/>
              </a:rPr>
              <a:t>uploaded = </a:t>
            </a:r>
            <a:r>
              <a:rPr lang="en-IN" dirty="0" err="1">
                <a:solidFill>
                  <a:schemeClr val="dk1"/>
                </a:solidFill>
                <a:latin typeface="Times New Roman" panose="02020603050405020304" pitchFamily="18" charset="0"/>
                <a:cs typeface="Times New Roman" panose="02020603050405020304" pitchFamily="18" charset="0"/>
              </a:rPr>
              <a:t>files.upload</a:t>
            </a:r>
            <a:r>
              <a:rPr lang="en-IN" dirty="0">
                <a:solidFill>
                  <a:schemeClr val="dk1"/>
                </a:solidFill>
                <a:latin typeface="Times New Roman" panose="02020603050405020304" pitchFamily="18" charset="0"/>
                <a:cs typeface="Times New Roman" panose="02020603050405020304" pitchFamily="18" charset="0"/>
              </a:rPr>
              <a:t>()</a:t>
            </a:r>
          </a:p>
          <a:p>
            <a:r>
              <a:rPr lang="en-IN" dirty="0" err="1">
                <a:solidFill>
                  <a:schemeClr val="dk1"/>
                </a:solidFill>
                <a:latin typeface="Times New Roman" panose="02020603050405020304" pitchFamily="18" charset="0"/>
                <a:cs typeface="Times New Roman" panose="02020603050405020304" pitchFamily="18" charset="0"/>
              </a:rPr>
              <a:t>file_name</a:t>
            </a:r>
            <a:r>
              <a:rPr lang="en-IN" dirty="0">
                <a:solidFill>
                  <a:schemeClr val="dk1"/>
                </a:solidFill>
                <a:latin typeface="Times New Roman" panose="02020603050405020304" pitchFamily="18" charset="0"/>
                <a:cs typeface="Times New Roman" panose="02020603050405020304" pitchFamily="18" charset="0"/>
              </a:rPr>
              <a:t> = list(</a:t>
            </a:r>
            <a:r>
              <a:rPr lang="en-IN" dirty="0" err="1">
                <a:solidFill>
                  <a:schemeClr val="dk1"/>
                </a:solidFill>
                <a:latin typeface="Times New Roman" panose="02020603050405020304" pitchFamily="18" charset="0"/>
                <a:cs typeface="Times New Roman" panose="02020603050405020304" pitchFamily="18" charset="0"/>
              </a:rPr>
              <a:t>uploaded.keys</a:t>
            </a:r>
            <a:r>
              <a:rPr lang="en-IN" dirty="0">
                <a:solidFill>
                  <a:schemeClr val="dk1"/>
                </a:solidFill>
                <a:latin typeface="Times New Roman" panose="02020603050405020304" pitchFamily="18" charset="0"/>
                <a:cs typeface="Times New Roman" panose="02020603050405020304" pitchFamily="18" charset="0"/>
              </a:rPr>
              <a:t>())[0]</a:t>
            </a:r>
          </a:p>
          <a:p>
            <a:r>
              <a:rPr lang="en-IN" dirty="0" err="1">
                <a:solidFill>
                  <a:schemeClr val="dk1"/>
                </a:solidFill>
                <a:latin typeface="Times New Roman" panose="02020603050405020304" pitchFamily="18" charset="0"/>
                <a:cs typeface="Times New Roman" panose="02020603050405020304" pitchFamily="18" charset="0"/>
              </a:rPr>
              <a:t>df</a:t>
            </a:r>
            <a:r>
              <a:rPr lang="en-IN" dirty="0">
                <a:solidFill>
                  <a:schemeClr val="dk1"/>
                </a:solidFill>
                <a:latin typeface="Times New Roman" panose="02020603050405020304" pitchFamily="18" charset="0"/>
                <a:cs typeface="Times New Roman" panose="02020603050405020304" pitchFamily="18" charset="0"/>
              </a:rPr>
              <a:t> = </a:t>
            </a:r>
            <a:r>
              <a:rPr lang="en-IN" dirty="0" err="1">
                <a:solidFill>
                  <a:schemeClr val="dk1"/>
                </a:solidFill>
                <a:latin typeface="Times New Roman" panose="02020603050405020304" pitchFamily="18" charset="0"/>
                <a:cs typeface="Times New Roman" panose="02020603050405020304" pitchFamily="18" charset="0"/>
              </a:rPr>
              <a:t>pd.read_csv</a:t>
            </a:r>
            <a:r>
              <a:rPr lang="en-IN" dirty="0">
                <a:solidFill>
                  <a:schemeClr val="dk1"/>
                </a:solidFill>
                <a:latin typeface="Times New Roman" panose="02020603050405020304" pitchFamily="18" charset="0"/>
                <a:cs typeface="Times New Roman" panose="02020603050405020304" pitchFamily="18" charset="0"/>
              </a:rPr>
              <a:t>(</a:t>
            </a:r>
            <a:r>
              <a:rPr lang="en-IN" dirty="0" err="1">
                <a:solidFill>
                  <a:schemeClr val="dk1"/>
                </a:solidFill>
                <a:latin typeface="Times New Roman" panose="02020603050405020304" pitchFamily="18" charset="0"/>
                <a:cs typeface="Times New Roman" panose="02020603050405020304" pitchFamily="18" charset="0"/>
              </a:rPr>
              <a:t>file_name</a:t>
            </a:r>
            <a:r>
              <a:rPr lang="en-IN" dirty="0">
                <a:solidFill>
                  <a:schemeClr val="dk1"/>
                </a:solidFill>
                <a:latin typeface="Times New Roman" panose="02020603050405020304" pitchFamily="18" charset="0"/>
                <a:cs typeface="Times New Roman" panose="02020603050405020304" pitchFamily="18" charset="0"/>
              </a:rPr>
              <a:t>)</a:t>
            </a:r>
          </a:p>
          <a:p>
            <a:r>
              <a:rPr lang="en-IN" dirty="0">
                <a:solidFill>
                  <a:schemeClr val="dk1"/>
                </a:solidFill>
                <a:latin typeface="Times New Roman" panose="02020603050405020304" pitchFamily="18" charset="0"/>
                <a:cs typeface="Times New Roman" panose="02020603050405020304" pitchFamily="18" charset="0"/>
              </a:rPr>
              <a:t>print("Dataset loaded successfully")</a:t>
            </a:r>
          </a:p>
          <a:p>
            <a:endParaRPr lang="en-IN" dirty="0">
              <a:latin typeface="Times New Roman" panose="02020603050405020304" pitchFamily="18" charset="0"/>
              <a:cs typeface="Times New Roman" panose="02020603050405020304" pitchFamily="18" charset="0"/>
            </a:endParaRPr>
          </a:p>
        </p:txBody>
      </p:sp>
      <p:sp>
        <p:nvSpPr>
          <p:cNvPr id="14" name="Rounded Rectangle 6">
            <a:extLst>
              <a:ext uri="{FF2B5EF4-FFF2-40B4-BE49-F238E27FC236}">
                <a16:creationId xmlns:a16="http://schemas.microsoft.com/office/drawing/2014/main" id="{B37B2E4D-25B9-E4CC-4E80-08D0BAA2AA1C}"/>
              </a:ext>
            </a:extLst>
          </p:cNvPr>
          <p:cNvSpPr/>
          <p:nvPr/>
        </p:nvSpPr>
        <p:spPr>
          <a:xfrm>
            <a:off x="795713" y="1603479"/>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6" name="Rounded Rectangle 9">
            <a:extLst>
              <a:ext uri="{FF2B5EF4-FFF2-40B4-BE49-F238E27FC236}">
                <a16:creationId xmlns:a16="http://schemas.microsoft.com/office/drawing/2014/main" id="{A6D3E2E2-0137-FD8A-B156-70121E43ACBB}"/>
              </a:ext>
            </a:extLst>
          </p:cNvPr>
          <p:cNvSpPr/>
          <p:nvPr/>
        </p:nvSpPr>
        <p:spPr>
          <a:xfrm>
            <a:off x="5433053" y="1441890"/>
            <a:ext cx="6427411" cy="2470479"/>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6">
            <a:extLst>
              <a:ext uri="{FF2B5EF4-FFF2-40B4-BE49-F238E27FC236}">
                <a16:creationId xmlns:a16="http://schemas.microsoft.com/office/drawing/2014/main" id="{73DD6D17-CAAF-CF71-7913-902C3BF612E3}"/>
              </a:ext>
            </a:extLst>
          </p:cNvPr>
          <p:cNvSpPr/>
          <p:nvPr/>
        </p:nvSpPr>
        <p:spPr>
          <a:xfrm>
            <a:off x="5847814" y="1672190"/>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6" name="Rounded Rectangle 13">
            <a:extLst>
              <a:ext uri="{FF2B5EF4-FFF2-40B4-BE49-F238E27FC236}">
                <a16:creationId xmlns:a16="http://schemas.microsoft.com/office/drawing/2014/main" id="{D8ACB7EF-8E4B-5918-6302-0AC998D0FBB2}"/>
              </a:ext>
            </a:extLst>
          </p:cNvPr>
          <p:cNvSpPr/>
          <p:nvPr/>
        </p:nvSpPr>
        <p:spPr>
          <a:xfrm>
            <a:off x="5433053" y="4073226"/>
            <a:ext cx="6655114"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a:p>
            <a:r>
              <a:rPr lang="en-IN" sz="1900" dirty="0">
                <a:solidFill>
                  <a:schemeClr val="tx1"/>
                </a:solidFill>
                <a:latin typeface="Times New Roman" panose="02020603050405020304" pitchFamily="18" charset="0"/>
                <a:cs typeface="Times New Roman" panose="02020603050405020304" pitchFamily="18" charset="0"/>
              </a:rPr>
              <a:t>The dataset is uploaded directly into Google </a:t>
            </a:r>
            <a:r>
              <a:rPr lang="en-IN" sz="1900" dirty="0" err="1">
                <a:solidFill>
                  <a:schemeClr val="tx1"/>
                </a:solidFill>
                <a:latin typeface="Times New Roman" panose="02020603050405020304" pitchFamily="18" charset="0"/>
                <a:cs typeface="Times New Roman" panose="02020603050405020304" pitchFamily="18" charset="0"/>
              </a:rPr>
              <a:t>Colab</a:t>
            </a:r>
            <a:r>
              <a:rPr lang="en-IN" sz="1900" dirty="0">
                <a:solidFill>
                  <a:schemeClr val="tx1"/>
                </a:solidFill>
                <a:latin typeface="Times New Roman" panose="02020603050405020304" pitchFamily="18" charset="0"/>
                <a:cs typeface="Times New Roman" panose="02020603050405020304" pitchFamily="18" charset="0"/>
              </a:rPr>
              <a:t> and loaded into a Pandas </a:t>
            </a:r>
            <a:r>
              <a:rPr lang="en-IN" sz="1900" dirty="0" err="1">
                <a:solidFill>
                  <a:schemeClr val="tx1"/>
                </a:solidFill>
                <a:latin typeface="Times New Roman" panose="02020603050405020304" pitchFamily="18" charset="0"/>
                <a:cs typeface="Times New Roman" panose="02020603050405020304" pitchFamily="18" charset="0"/>
              </a:rPr>
              <a:t>DataFrame</a:t>
            </a:r>
            <a:r>
              <a:rPr lang="en-IN" sz="1900" dirty="0">
                <a:solidFill>
                  <a:schemeClr val="tx1"/>
                </a:solidFill>
                <a:latin typeface="Times New Roman" panose="02020603050405020304" pitchFamily="18" charset="0"/>
                <a:cs typeface="Times New Roman" panose="02020603050405020304" pitchFamily="18" charset="0"/>
              </a:rPr>
              <a:t>. The </a:t>
            </a:r>
            <a:r>
              <a:rPr lang="en-IN" sz="1900" dirty="0" err="1">
                <a:solidFill>
                  <a:schemeClr val="tx1"/>
                </a:solidFill>
                <a:latin typeface="Times New Roman" panose="02020603050405020304" pitchFamily="18" charset="0"/>
                <a:cs typeface="Times New Roman" panose="02020603050405020304" pitchFamily="18" charset="0"/>
              </a:rPr>
              <a:t>DataFrame</a:t>
            </a:r>
            <a:r>
              <a:rPr lang="en-IN" sz="1900" dirty="0">
                <a:solidFill>
                  <a:schemeClr val="tx1"/>
                </a:solidFill>
                <a:latin typeface="Times New Roman" panose="02020603050405020304" pitchFamily="18" charset="0"/>
                <a:cs typeface="Times New Roman" panose="02020603050405020304" pitchFamily="18" charset="0"/>
              </a:rPr>
              <a:t>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 is used for further exploration, cleaning, preprocessing, and analysis.</a:t>
            </a:r>
          </a:p>
          <a:p>
            <a:br>
              <a:rPr lang="en-IN" sz="1900" dirty="0">
                <a:latin typeface="Times New Roman" panose="02020603050405020304" pitchFamily="18" charset="0"/>
                <a:cs typeface="Times New Roman" panose="02020603050405020304" pitchFamily="18" charset="0"/>
              </a:rPr>
            </a:br>
            <a:endParaRPr lang="en-IN" sz="1900" dirty="0">
              <a:latin typeface="Times New Roman" panose="02020603050405020304" pitchFamily="18" charset="0"/>
              <a:cs typeface="Times New Roman" panose="02020603050405020304" pitchFamily="18" charset="0"/>
            </a:endParaRPr>
          </a:p>
        </p:txBody>
      </p:sp>
      <p:sp>
        <p:nvSpPr>
          <p:cNvPr id="28" name="Rounded Rectangle 6">
            <a:extLst>
              <a:ext uri="{FF2B5EF4-FFF2-40B4-BE49-F238E27FC236}">
                <a16:creationId xmlns:a16="http://schemas.microsoft.com/office/drawing/2014/main" id="{B744EF26-21E5-04ED-1EF5-650B2D38A2BE}"/>
              </a:ext>
            </a:extLst>
          </p:cNvPr>
          <p:cNvSpPr/>
          <p:nvPr/>
        </p:nvSpPr>
        <p:spPr>
          <a:xfrm>
            <a:off x="5630963" y="4277914"/>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EXPLANATION :</a:t>
            </a:r>
          </a:p>
        </p:txBody>
      </p:sp>
      <p:pic>
        <p:nvPicPr>
          <p:cNvPr id="13" name="Picture 12">
            <a:extLst>
              <a:ext uri="{FF2B5EF4-FFF2-40B4-BE49-F238E27FC236}">
                <a16:creationId xmlns:a16="http://schemas.microsoft.com/office/drawing/2014/main" id="{7F97DAA0-39F4-22B9-9A65-45934D5C96C8}"/>
              </a:ext>
            </a:extLst>
          </p:cNvPr>
          <p:cNvPicPr>
            <a:picLocks noChangeAspect="1"/>
          </p:cNvPicPr>
          <p:nvPr/>
        </p:nvPicPr>
        <p:blipFill>
          <a:blip r:embed="rId6"/>
          <a:stretch>
            <a:fillRect/>
          </a:stretch>
        </p:blipFill>
        <p:spPr>
          <a:xfrm>
            <a:off x="5817617" y="2172607"/>
            <a:ext cx="5555880" cy="1536493"/>
          </a:xfrm>
          <a:prstGeom prst="rect">
            <a:avLst/>
          </a:prstGeom>
        </p:spPr>
      </p:pic>
    </p:spTree>
    <p:extLst>
      <p:ext uri="{BB962C8B-B14F-4D97-AF65-F5344CB8AC3E}">
        <p14:creationId xmlns:p14="http://schemas.microsoft.com/office/powerpoint/2010/main" val="261260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B8A4D10A-3F4D-9E2C-10EB-2A4B8FF1AE3B}"/>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1E5ACAE5-A4C3-CAA2-BFDB-B31952C41B4F}"/>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6086FE18-0B54-9C1B-0AFE-67A678F7ACC0}"/>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3FBF93D-3522-71C0-6364-AE20AAA78D9D}"/>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C9E8D8B-6B59-DB48-B499-F5A36FAD55C4}"/>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E7CF7F8-40AB-27ED-97DF-396D1D9EDD8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UNDERSTANDING</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C818AC8A-C907-D4C6-3E4B-589303DFCD60}"/>
              </a:ext>
            </a:extLst>
          </p:cNvPr>
          <p:cNvSpPr/>
          <p:nvPr/>
        </p:nvSpPr>
        <p:spPr>
          <a:xfrm>
            <a:off x="430277" y="1339850"/>
            <a:ext cx="5532120"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b="1" dirty="0">
                <a:solidFill>
                  <a:schemeClr val="tx1"/>
                </a:solidFill>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Data Understanding</a:t>
            </a:r>
          </a:p>
          <a:p>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print("Number of Rows:", </a:t>
            </a:r>
            <a:r>
              <a:rPr lang="en-IN" dirty="0" err="1">
                <a:solidFill>
                  <a:schemeClr val="tx1"/>
                </a:solidFill>
                <a:latin typeface="Times New Roman" panose="02020603050405020304" pitchFamily="18" charset="0"/>
                <a:cs typeface="Times New Roman" panose="02020603050405020304" pitchFamily="18" charset="0"/>
              </a:rPr>
              <a:t>df.shape</a:t>
            </a:r>
            <a:r>
              <a:rPr lang="en-IN" dirty="0">
                <a:solidFill>
                  <a:schemeClr val="tx1"/>
                </a:solidFill>
                <a:latin typeface="Times New Roman" panose="02020603050405020304" pitchFamily="18" charset="0"/>
                <a:cs typeface="Times New Roman" panose="02020603050405020304" pitchFamily="18" charset="0"/>
              </a:rPr>
              <a:t>[0])</a:t>
            </a:r>
          </a:p>
          <a:p>
            <a:r>
              <a:rPr lang="en-IN" dirty="0">
                <a:solidFill>
                  <a:schemeClr val="tx1"/>
                </a:solidFill>
                <a:latin typeface="Times New Roman" panose="02020603050405020304" pitchFamily="18" charset="0"/>
                <a:cs typeface="Times New Roman" panose="02020603050405020304" pitchFamily="18" charset="0"/>
              </a:rPr>
              <a:t>print("Number of Columns:", </a:t>
            </a:r>
            <a:r>
              <a:rPr lang="en-IN" dirty="0" err="1">
                <a:solidFill>
                  <a:schemeClr val="tx1"/>
                </a:solidFill>
                <a:latin typeface="Times New Roman" panose="02020603050405020304" pitchFamily="18" charset="0"/>
                <a:cs typeface="Times New Roman" panose="02020603050405020304" pitchFamily="18" charset="0"/>
              </a:rPr>
              <a:t>df.shape</a:t>
            </a:r>
            <a:r>
              <a:rPr lang="en-IN" dirty="0">
                <a:solidFill>
                  <a:schemeClr val="tx1"/>
                </a:solidFill>
                <a:latin typeface="Times New Roman" panose="02020603050405020304" pitchFamily="18" charset="0"/>
                <a:cs typeface="Times New Roman" panose="02020603050405020304" pitchFamily="18" charset="0"/>
              </a:rPr>
              <a:t>[1])</a:t>
            </a:r>
          </a:p>
          <a:p>
            <a:r>
              <a:rPr lang="en-IN" dirty="0">
                <a:solidFill>
                  <a:schemeClr val="tx1"/>
                </a:solidFill>
                <a:latin typeface="Times New Roman" panose="02020603050405020304" pitchFamily="18" charset="0"/>
                <a:cs typeface="Times New Roman" panose="02020603050405020304" pitchFamily="18" charset="0"/>
              </a:rPr>
              <a:t>print("\</a:t>
            </a:r>
            <a:r>
              <a:rPr lang="en-IN" dirty="0" err="1">
                <a:solidFill>
                  <a:schemeClr val="tx1"/>
                </a:solidFill>
                <a:latin typeface="Times New Roman" panose="02020603050405020304" pitchFamily="18" charset="0"/>
                <a:cs typeface="Times New Roman" panose="02020603050405020304" pitchFamily="18" charset="0"/>
              </a:rPr>
              <a:t>nColumn</a:t>
            </a:r>
            <a:r>
              <a:rPr lang="en-IN" dirty="0">
                <a:solidFill>
                  <a:schemeClr val="tx1"/>
                </a:solidFill>
                <a:latin typeface="Times New Roman" panose="02020603050405020304" pitchFamily="18" charset="0"/>
                <a:cs typeface="Times New Roman" panose="02020603050405020304" pitchFamily="18" charset="0"/>
              </a:rPr>
              <a:t> Names:")</a:t>
            </a:r>
          </a:p>
          <a:p>
            <a:r>
              <a:rPr lang="en-IN" dirty="0">
                <a:solidFill>
                  <a:schemeClr val="tx1"/>
                </a:solidFill>
                <a:latin typeface="Times New Roman" panose="02020603050405020304" pitchFamily="18" charset="0"/>
                <a:cs typeface="Times New Roman" panose="02020603050405020304" pitchFamily="18" charset="0"/>
              </a:rPr>
              <a:t>print(</a:t>
            </a:r>
            <a:r>
              <a:rPr lang="en-IN" dirty="0" err="1">
                <a:solidFill>
                  <a:schemeClr val="tx1"/>
                </a:solidFill>
                <a:latin typeface="Times New Roman" panose="02020603050405020304" pitchFamily="18" charset="0"/>
                <a:cs typeface="Times New Roman" panose="02020603050405020304" pitchFamily="18" charset="0"/>
              </a:rPr>
              <a:t>df.columns.tolist</a:t>
            </a:r>
            <a:r>
              <a:rPr lang="en-IN" dirty="0">
                <a:latin typeface="Times New Roman" panose="02020603050405020304" pitchFamily="18" charset="0"/>
                <a:cs typeface="Times New Roman" panose="02020603050405020304" pitchFamily="18" charset="0"/>
              </a:rPr>
              <a:t>())</a:t>
            </a:r>
          </a:p>
        </p:txBody>
      </p:sp>
      <p:sp>
        <p:nvSpPr>
          <p:cNvPr id="12" name="Rounded Rectangle 6">
            <a:extLst>
              <a:ext uri="{FF2B5EF4-FFF2-40B4-BE49-F238E27FC236}">
                <a16:creationId xmlns:a16="http://schemas.microsoft.com/office/drawing/2014/main" id="{75E41977-2C32-FF54-2325-740D1AFF9A4B}"/>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89F83F34-A11F-83E4-0106-450683AEA03E}"/>
              </a:ext>
            </a:extLst>
          </p:cNvPr>
          <p:cNvSpPr/>
          <p:nvPr/>
        </p:nvSpPr>
        <p:spPr>
          <a:xfrm>
            <a:off x="6229604" y="1454150"/>
            <a:ext cx="5468112" cy="214884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4DAD3621-CA45-4130-38A4-37ACAD5395F5}"/>
              </a:ext>
            </a:extLst>
          </p:cNvPr>
          <p:cNvSpPr/>
          <p:nvPr/>
        </p:nvSpPr>
        <p:spPr>
          <a:xfrm>
            <a:off x="6498907" y="16759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4" name="Rounded Rectangle 13">
            <a:extLst>
              <a:ext uri="{FF2B5EF4-FFF2-40B4-BE49-F238E27FC236}">
                <a16:creationId xmlns:a16="http://schemas.microsoft.com/office/drawing/2014/main" id="{68B0AB11-8A4A-7A0C-784E-A85E238A599A}"/>
              </a:ext>
            </a:extLst>
          </p:cNvPr>
          <p:cNvSpPr/>
          <p:nvPr/>
        </p:nvSpPr>
        <p:spPr>
          <a:xfrm>
            <a:off x="6327451" y="3750809"/>
            <a:ext cx="5468112"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rPr>
              <a:t>Data understanding helps us identify the size and structure of the Netflix dataset before performing cleaning and analysis.</a:t>
            </a:r>
            <a:endParaRPr lang="en-IN" sz="1900" dirty="0">
              <a:solidFill>
                <a:schemeClr val="tx1"/>
              </a:solidFill>
              <a:latin typeface="Times New Roman" panose="02020603050405020304" pitchFamily="18" charset="0"/>
              <a:cs typeface="Times New Roman" panose="02020603050405020304" pitchFamily="18" charset="0"/>
            </a:endParaRPr>
          </a:p>
        </p:txBody>
      </p:sp>
      <p:sp>
        <p:nvSpPr>
          <p:cNvPr id="26" name="Rounded Rectangle 6">
            <a:extLst>
              <a:ext uri="{FF2B5EF4-FFF2-40B4-BE49-F238E27FC236}">
                <a16:creationId xmlns:a16="http://schemas.microsoft.com/office/drawing/2014/main" id="{CF5814C4-84D8-C6C7-470E-C9B7F2177E75}"/>
              </a:ext>
            </a:extLst>
          </p:cNvPr>
          <p:cNvSpPr/>
          <p:nvPr/>
        </p:nvSpPr>
        <p:spPr>
          <a:xfrm>
            <a:off x="6597444" y="3901573"/>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EXPLANATION :</a:t>
            </a:r>
          </a:p>
        </p:txBody>
      </p:sp>
      <p:pic>
        <p:nvPicPr>
          <p:cNvPr id="13" name="Picture 12">
            <a:extLst>
              <a:ext uri="{FF2B5EF4-FFF2-40B4-BE49-F238E27FC236}">
                <a16:creationId xmlns:a16="http://schemas.microsoft.com/office/drawing/2014/main" id="{2C6AF511-4603-4B08-4B63-E0289064F7E9}"/>
              </a:ext>
            </a:extLst>
          </p:cNvPr>
          <p:cNvPicPr>
            <a:picLocks noChangeAspect="1"/>
          </p:cNvPicPr>
          <p:nvPr/>
        </p:nvPicPr>
        <p:blipFill>
          <a:blip r:embed="rId6"/>
          <a:stretch>
            <a:fillRect/>
          </a:stretch>
        </p:blipFill>
        <p:spPr>
          <a:xfrm>
            <a:off x="6498907" y="2151342"/>
            <a:ext cx="1806097" cy="434378"/>
          </a:xfrm>
          <a:prstGeom prst="rect">
            <a:avLst/>
          </a:prstGeom>
        </p:spPr>
      </p:pic>
      <p:pic>
        <p:nvPicPr>
          <p:cNvPr id="17" name="Picture 16">
            <a:extLst>
              <a:ext uri="{FF2B5EF4-FFF2-40B4-BE49-F238E27FC236}">
                <a16:creationId xmlns:a16="http://schemas.microsoft.com/office/drawing/2014/main" id="{97BA69B1-93F2-F3B6-3AF3-8871DD2D8802}"/>
              </a:ext>
            </a:extLst>
          </p:cNvPr>
          <p:cNvPicPr>
            <a:picLocks noChangeAspect="1"/>
          </p:cNvPicPr>
          <p:nvPr/>
        </p:nvPicPr>
        <p:blipFill>
          <a:blip r:embed="rId7"/>
          <a:stretch>
            <a:fillRect/>
          </a:stretch>
        </p:blipFill>
        <p:spPr>
          <a:xfrm>
            <a:off x="6414598" y="2733539"/>
            <a:ext cx="5279366" cy="434378"/>
          </a:xfrm>
          <a:prstGeom prst="rect">
            <a:avLst/>
          </a:prstGeom>
        </p:spPr>
      </p:pic>
    </p:spTree>
    <p:extLst>
      <p:ext uri="{BB962C8B-B14F-4D97-AF65-F5344CB8AC3E}">
        <p14:creationId xmlns:p14="http://schemas.microsoft.com/office/powerpoint/2010/main" val="1470043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19C7-AFA9-BB06-AD20-68CD605FB51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1403253-247E-B439-AA6F-62D14F2926BE}"/>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92F90E5A-A81A-FBA7-9CB1-2B5AA3778234}"/>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1F23C557-953F-003D-9B45-EB6CE2503BDD}"/>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AABD7D6-99F9-8153-D960-20474659B58D}"/>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F745E39-D9B8-A4A0-B9C4-6FB9BCD3140D}"/>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C5B46DE7-DB9C-A736-3981-EDE50E62404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INSPECTION</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2A1276F8-6B4C-F789-5118-6FEFC2723345}"/>
              </a:ext>
            </a:extLst>
          </p:cNvPr>
          <p:cNvSpPr/>
          <p:nvPr/>
        </p:nvSpPr>
        <p:spPr>
          <a:xfrm>
            <a:off x="430277" y="1339850"/>
            <a:ext cx="5532120"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200" b="1" dirty="0">
              <a:solidFill>
                <a:schemeClr val="tx1"/>
              </a:solidFill>
              <a:latin typeface="Times New Roman" panose="02020603050405020304" pitchFamily="18" charset="0"/>
              <a:cs typeface="Times New Roman" panose="02020603050405020304" pitchFamily="18" charset="0"/>
            </a:endParaRPr>
          </a:p>
          <a:p>
            <a:r>
              <a:rPr lang="en-IN" sz="2200" b="1" dirty="0">
                <a:solidFill>
                  <a:schemeClr val="tx1"/>
                </a:solidFill>
                <a:latin typeface="Times New Roman" panose="02020603050405020304" pitchFamily="18" charset="0"/>
                <a:cs typeface="Times New Roman" panose="02020603050405020304" pitchFamily="18" charset="0"/>
              </a:rPr>
              <a:t># Data Inspection</a:t>
            </a:r>
          </a:p>
          <a:p>
            <a:r>
              <a:rPr lang="en-IN" sz="2000" dirty="0">
                <a:solidFill>
                  <a:schemeClr val="tx1"/>
                </a:solidFill>
                <a:latin typeface="Times New Roman" panose="02020603050405020304" pitchFamily="18" charset="0"/>
                <a:cs typeface="Times New Roman" panose="02020603050405020304" pitchFamily="18" charset="0"/>
              </a:rPr>
              <a:t>print("First 5 Records:")</a:t>
            </a:r>
          </a:p>
          <a:p>
            <a:r>
              <a:rPr lang="en-IN" sz="2000" dirty="0">
                <a:solidFill>
                  <a:schemeClr val="tx1"/>
                </a:solidFill>
                <a:latin typeface="Times New Roman" panose="02020603050405020304" pitchFamily="18" charset="0"/>
                <a:cs typeface="Times New Roman" panose="02020603050405020304" pitchFamily="18" charset="0"/>
              </a:rPr>
              <a:t>display(</a:t>
            </a:r>
            <a:r>
              <a:rPr lang="en-IN" sz="2000" dirty="0" err="1">
                <a:solidFill>
                  <a:schemeClr val="tx1"/>
                </a:solidFill>
                <a:latin typeface="Times New Roman" panose="02020603050405020304" pitchFamily="18" charset="0"/>
                <a:cs typeface="Times New Roman" panose="02020603050405020304" pitchFamily="18" charset="0"/>
              </a:rPr>
              <a:t>df.head</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nDataset</a:t>
            </a:r>
            <a:r>
              <a:rPr lang="en-IN" sz="2000" dirty="0">
                <a:solidFill>
                  <a:schemeClr val="tx1"/>
                </a:solidFill>
                <a:latin typeface="Times New Roman" panose="02020603050405020304" pitchFamily="18" charset="0"/>
                <a:cs typeface="Times New Roman" panose="02020603050405020304" pitchFamily="18" charset="0"/>
              </a:rPr>
              <a:t> Information:")</a:t>
            </a:r>
          </a:p>
          <a:p>
            <a:r>
              <a:rPr lang="en-IN" sz="2000" dirty="0">
                <a:solidFill>
                  <a:schemeClr val="tx1"/>
                </a:solidFill>
                <a:latin typeface="Times New Roman" panose="02020603050405020304" pitchFamily="18" charset="0"/>
                <a:cs typeface="Times New Roman" panose="02020603050405020304" pitchFamily="18" charset="0"/>
              </a:rPr>
              <a:t>df.info()</a:t>
            </a: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OPERATIONS:</a:t>
            </a:r>
          </a:p>
          <a:p>
            <a:pPr lvl="0"/>
            <a:r>
              <a:rPr lang="en-IN" sz="2000" b="1"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rPr>
              <a:t>head() → displays the first 5 records</a:t>
            </a:r>
          </a:p>
          <a:p>
            <a:pPr lvl="0"/>
            <a:r>
              <a:rPr lang="en-IN" sz="2000" dirty="0">
                <a:solidFill>
                  <a:schemeClr val="tx1"/>
                </a:solidFill>
                <a:latin typeface="Times New Roman" panose="02020603050405020304" pitchFamily="18" charset="0"/>
                <a:cs typeface="Times New Roman" panose="02020603050405020304" pitchFamily="18" charset="0"/>
              </a:rPr>
              <a:t> info() → shows column names, data types, and      non-null values</a:t>
            </a:r>
          </a:p>
        </p:txBody>
      </p:sp>
      <p:sp>
        <p:nvSpPr>
          <p:cNvPr id="12" name="Rounded Rectangle 6">
            <a:extLst>
              <a:ext uri="{FF2B5EF4-FFF2-40B4-BE49-F238E27FC236}">
                <a16:creationId xmlns:a16="http://schemas.microsoft.com/office/drawing/2014/main" id="{DE856E3A-FDE7-21A2-DAFB-AC56216033CF}"/>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9BF3196F-2F76-7138-453F-E43B6334631B}"/>
              </a:ext>
            </a:extLst>
          </p:cNvPr>
          <p:cNvSpPr/>
          <p:nvPr/>
        </p:nvSpPr>
        <p:spPr>
          <a:xfrm>
            <a:off x="6229604" y="1454150"/>
            <a:ext cx="5468112" cy="452628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D3F9862B-4F59-9B6D-9E93-3E61684A66EA}"/>
              </a:ext>
            </a:extLst>
          </p:cNvPr>
          <p:cNvSpPr/>
          <p:nvPr/>
        </p:nvSpPr>
        <p:spPr>
          <a:xfrm>
            <a:off x="6498907" y="16759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pic>
        <p:nvPicPr>
          <p:cNvPr id="9" name="Picture 8">
            <a:extLst>
              <a:ext uri="{FF2B5EF4-FFF2-40B4-BE49-F238E27FC236}">
                <a16:creationId xmlns:a16="http://schemas.microsoft.com/office/drawing/2014/main" id="{2207C2C4-3548-CD6B-B7D7-308BB2B5A573}"/>
              </a:ext>
            </a:extLst>
          </p:cNvPr>
          <p:cNvPicPr>
            <a:picLocks noChangeAspect="1"/>
          </p:cNvPicPr>
          <p:nvPr/>
        </p:nvPicPr>
        <p:blipFill>
          <a:blip r:embed="rId6"/>
          <a:stretch>
            <a:fillRect/>
          </a:stretch>
        </p:blipFill>
        <p:spPr>
          <a:xfrm>
            <a:off x="6498906" y="2058536"/>
            <a:ext cx="5063829" cy="2080846"/>
          </a:xfrm>
          <a:prstGeom prst="rect">
            <a:avLst/>
          </a:prstGeom>
        </p:spPr>
      </p:pic>
      <p:pic>
        <p:nvPicPr>
          <p:cNvPr id="13" name="Picture 12">
            <a:extLst>
              <a:ext uri="{FF2B5EF4-FFF2-40B4-BE49-F238E27FC236}">
                <a16:creationId xmlns:a16="http://schemas.microsoft.com/office/drawing/2014/main" id="{11D187CC-B3B8-0EE7-A0CC-A45B6A1F02B6}"/>
              </a:ext>
            </a:extLst>
          </p:cNvPr>
          <p:cNvPicPr>
            <a:picLocks noChangeAspect="1"/>
          </p:cNvPicPr>
          <p:nvPr/>
        </p:nvPicPr>
        <p:blipFill>
          <a:blip r:embed="rId7"/>
          <a:stretch>
            <a:fillRect/>
          </a:stretch>
        </p:blipFill>
        <p:spPr>
          <a:xfrm>
            <a:off x="6498906" y="4041057"/>
            <a:ext cx="5063829" cy="1641987"/>
          </a:xfrm>
          <a:prstGeom prst="rect">
            <a:avLst/>
          </a:prstGeom>
        </p:spPr>
      </p:pic>
    </p:spTree>
    <p:extLst>
      <p:ext uri="{BB962C8B-B14F-4D97-AF65-F5344CB8AC3E}">
        <p14:creationId xmlns:p14="http://schemas.microsoft.com/office/powerpoint/2010/main" val="2131159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EC38-CA41-62F3-5B47-B838607B5576}"/>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F11DA6DD-F547-9979-6BCD-E645DC0C1473}"/>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E41CCDC2-B2BB-4A1C-E199-75A26907EC8E}"/>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06DC64EA-9187-72BA-3CB9-82EB678EBDB8}"/>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D9FDC75-BC2C-7EFB-2F6C-52CFADE8F078}"/>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271C68D-31F3-80B9-0EA3-C2C71946100A}"/>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45BA7F8-9F9D-A52E-CBB8-4693827C445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MISSING VALUE ANALYSIS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4925D502-4FE1-4495-DEEB-8DCB98465A9B}"/>
              </a:ext>
            </a:extLst>
          </p:cNvPr>
          <p:cNvSpPr/>
          <p:nvPr/>
        </p:nvSpPr>
        <p:spPr>
          <a:xfrm>
            <a:off x="430277" y="1339850"/>
            <a:ext cx="5532120"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 Missing Value Analysis</a:t>
            </a: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err="1">
                <a:solidFill>
                  <a:schemeClr val="tx1"/>
                </a:solidFill>
                <a:latin typeface="Times New Roman" panose="02020603050405020304" pitchFamily="18" charset="0"/>
                <a:cs typeface="Times New Roman" panose="02020603050405020304" pitchFamily="18" charset="0"/>
              </a:rPr>
              <a:t>missing_values</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df.isnull</a:t>
            </a:r>
            <a:r>
              <a:rPr lang="en-IN" sz="2000" dirty="0">
                <a:solidFill>
                  <a:schemeClr val="tx1"/>
                </a:solidFill>
                <a:latin typeface="Times New Roman" panose="02020603050405020304" pitchFamily="18" charset="0"/>
                <a:cs typeface="Times New Roman" panose="02020603050405020304" pitchFamily="18" charset="0"/>
              </a:rPr>
              <a:t>().sum()</a:t>
            </a:r>
          </a:p>
          <a:p>
            <a:r>
              <a:rPr lang="en-IN" sz="2000" dirty="0">
                <a:solidFill>
                  <a:schemeClr val="tx1"/>
                </a:solidFill>
                <a:latin typeface="Times New Roman" panose="02020603050405020304" pitchFamily="18" charset="0"/>
                <a:cs typeface="Times New Roman" panose="02020603050405020304" pitchFamily="18" charset="0"/>
              </a:rPr>
              <a:t>print("Missing Values in Each Column:")</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missing_values</a:t>
            </a:r>
            <a:r>
              <a:rPr lang="en-IN" sz="2000" dirty="0">
                <a:solidFill>
                  <a:schemeClr val="tx1"/>
                </a:solidFill>
                <a:latin typeface="Times New Roman" panose="02020603050405020304" pitchFamily="18" charset="0"/>
                <a:cs typeface="Times New Roman" panose="02020603050405020304" pitchFamily="18" charset="0"/>
              </a:rPr>
              <a:t>)</a:t>
            </a: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IMPORTANT FINDINGS:</a:t>
            </a: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rPr>
              <a:t>Total missing values: 4,314</a:t>
            </a: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6">
            <a:extLst>
              <a:ext uri="{FF2B5EF4-FFF2-40B4-BE49-F238E27FC236}">
                <a16:creationId xmlns:a16="http://schemas.microsoft.com/office/drawing/2014/main" id="{48D17527-E379-5961-A114-65FE8CF7EE2D}"/>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378D4B26-000C-ECCC-E0A1-DC1666F14479}"/>
              </a:ext>
            </a:extLst>
          </p:cNvPr>
          <p:cNvSpPr/>
          <p:nvPr/>
        </p:nvSpPr>
        <p:spPr>
          <a:xfrm>
            <a:off x="6229604" y="1454150"/>
            <a:ext cx="5468112" cy="236601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5C0E99F7-A6C8-4F22-2025-4632A7F0D62A}"/>
              </a:ext>
            </a:extLst>
          </p:cNvPr>
          <p:cNvSpPr/>
          <p:nvPr/>
        </p:nvSpPr>
        <p:spPr>
          <a:xfrm>
            <a:off x="6498907" y="16759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4" name="Rounded Rectangle 13">
            <a:extLst>
              <a:ext uri="{FF2B5EF4-FFF2-40B4-BE49-F238E27FC236}">
                <a16:creationId xmlns:a16="http://schemas.microsoft.com/office/drawing/2014/main" id="{BFFC774E-9DFD-FA77-F6F9-667152C110DF}"/>
              </a:ext>
            </a:extLst>
          </p:cNvPr>
          <p:cNvSpPr/>
          <p:nvPr/>
        </p:nvSpPr>
        <p:spPr>
          <a:xfrm>
            <a:off x="6293611" y="3974329"/>
            <a:ext cx="5468112"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dirty="0">
                <a:solidFill>
                  <a:schemeClr val="tx1"/>
                </a:solidFill>
                <a:latin typeface="Times New Roman" panose="02020603050405020304" pitchFamily="18" charset="0"/>
                <a:cs typeface="Times New Roman" panose="02020603050405020304" pitchFamily="18" charset="0"/>
              </a:rPr>
              <a:t>Missing values were identified before cleaning so that they could be handled appropriately during the data-cleaning stage.</a:t>
            </a:r>
            <a:endParaRPr lang="en-IN" sz="1900" dirty="0">
              <a:solidFill>
                <a:schemeClr val="tx1"/>
              </a:solidFill>
              <a:latin typeface="Times New Roman" panose="02020603050405020304" pitchFamily="18" charset="0"/>
              <a:cs typeface="Times New Roman" panose="02020603050405020304" pitchFamily="18" charset="0"/>
            </a:endParaRPr>
          </a:p>
        </p:txBody>
      </p:sp>
      <p:sp>
        <p:nvSpPr>
          <p:cNvPr id="26" name="Rounded Rectangle 6">
            <a:extLst>
              <a:ext uri="{FF2B5EF4-FFF2-40B4-BE49-F238E27FC236}">
                <a16:creationId xmlns:a16="http://schemas.microsoft.com/office/drawing/2014/main" id="{4B49CAC6-6702-8225-2797-2DDD5F205ECA}"/>
              </a:ext>
            </a:extLst>
          </p:cNvPr>
          <p:cNvSpPr/>
          <p:nvPr/>
        </p:nvSpPr>
        <p:spPr>
          <a:xfrm>
            <a:off x="6498907" y="4155573"/>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EXPLANATION :</a:t>
            </a:r>
          </a:p>
        </p:txBody>
      </p:sp>
      <p:pic>
        <p:nvPicPr>
          <p:cNvPr id="9" name="Picture 8">
            <a:extLst>
              <a:ext uri="{FF2B5EF4-FFF2-40B4-BE49-F238E27FC236}">
                <a16:creationId xmlns:a16="http://schemas.microsoft.com/office/drawing/2014/main" id="{061CDA1A-4310-69C0-64F1-5F6A7CBADA1C}"/>
              </a:ext>
            </a:extLst>
          </p:cNvPr>
          <p:cNvPicPr>
            <a:picLocks noChangeAspect="1"/>
          </p:cNvPicPr>
          <p:nvPr/>
        </p:nvPicPr>
        <p:blipFill>
          <a:blip r:embed="rId6"/>
          <a:stretch>
            <a:fillRect/>
          </a:stretch>
        </p:blipFill>
        <p:spPr>
          <a:xfrm>
            <a:off x="6406917" y="2082077"/>
            <a:ext cx="2422123" cy="1591787"/>
          </a:xfrm>
          <a:prstGeom prst="rect">
            <a:avLst/>
          </a:prstGeom>
        </p:spPr>
      </p:pic>
    </p:spTree>
    <p:extLst>
      <p:ext uri="{BB962C8B-B14F-4D97-AF65-F5344CB8AC3E}">
        <p14:creationId xmlns:p14="http://schemas.microsoft.com/office/powerpoint/2010/main" val="3320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A1305-6135-A735-C337-6D306E7A06E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0940B3A0-B9D7-6D5B-19ED-731E2D198736}"/>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A884F605-2A3B-9A4C-A855-05E011C0C3DA}"/>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A77CCEEE-2A29-BBCA-C32E-7D258430142E}"/>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8823E17-114E-1AF7-D008-725EC9652AB1}"/>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91C4C86-9F64-62DD-81E0-2A056DC7929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365FBD1-9EF2-6BAA-07CB-BA95AEBF60F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DUPLICATE VALUE ANALYSIS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D0523EB3-DBBD-C1CB-3B4E-5AE4FDD110C6}"/>
              </a:ext>
            </a:extLst>
          </p:cNvPr>
          <p:cNvSpPr/>
          <p:nvPr/>
        </p:nvSpPr>
        <p:spPr>
          <a:xfrm>
            <a:off x="430277" y="1339850"/>
            <a:ext cx="5532120"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dirty="0">
                <a:solidFill>
                  <a:schemeClr val="tx1"/>
                </a:solidFill>
                <a:latin typeface="Times New Roman" panose="02020603050405020304" pitchFamily="18" charset="0"/>
                <a:cs typeface="Times New Roman" panose="02020603050405020304" pitchFamily="18" charset="0"/>
              </a:rPr>
              <a:t># Duplicate Value Analysis</a:t>
            </a:r>
          </a:p>
          <a:p>
            <a:endParaRPr lang="en-IN" sz="2000" b="1" dirty="0">
              <a:solidFill>
                <a:schemeClr val="tx1"/>
              </a:solidFill>
              <a:latin typeface="Times New Roman" panose="02020603050405020304" pitchFamily="18" charset="0"/>
              <a:cs typeface="Times New Roman" panose="02020603050405020304" pitchFamily="18" charset="0"/>
            </a:endParaRPr>
          </a:p>
          <a:p>
            <a:r>
              <a:rPr lang="en-IN" sz="2000" dirty="0" err="1">
                <a:solidFill>
                  <a:schemeClr val="tx1"/>
                </a:solidFill>
                <a:latin typeface="Times New Roman" panose="02020603050405020304" pitchFamily="18" charset="0"/>
                <a:cs typeface="Times New Roman" panose="02020603050405020304" pitchFamily="18" charset="0"/>
              </a:rPr>
              <a:t>duplicate_count</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df.duplicated</a:t>
            </a:r>
            <a:r>
              <a:rPr lang="en-IN" sz="2000" dirty="0">
                <a:solidFill>
                  <a:schemeClr val="tx1"/>
                </a:solidFill>
                <a:latin typeface="Times New Roman" panose="02020603050405020304" pitchFamily="18" charset="0"/>
                <a:cs typeface="Times New Roman" panose="02020603050405020304" pitchFamily="18" charset="0"/>
              </a:rPr>
              <a:t>().sum()</a:t>
            </a:r>
          </a:p>
          <a:p>
            <a:r>
              <a:rPr lang="en-IN" sz="2000" dirty="0">
                <a:solidFill>
                  <a:schemeClr val="tx1"/>
                </a:solidFill>
                <a:latin typeface="Times New Roman" panose="02020603050405020304" pitchFamily="18" charset="0"/>
                <a:cs typeface="Times New Roman" panose="02020603050405020304" pitchFamily="18" charset="0"/>
              </a:rPr>
              <a:t>print("Number of Duplicate Rows:", </a:t>
            </a:r>
            <a:r>
              <a:rPr lang="en-IN" sz="2000" dirty="0" err="1">
                <a:solidFill>
                  <a:schemeClr val="tx1"/>
                </a:solidFill>
                <a:latin typeface="Times New Roman" panose="02020603050405020304" pitchFamily="18" charset="0"/>
                <a:cs typeface="Times New Roman" panose="02020603050405020304" pitchFamily="18" charset="0"/>
              </a:rPr>
              <a:t>duplicate_count</a:t>
            </a:r>
            <a:r>
              <a:rPr lang="en-IN" sz="2000" dirty="0">
                <a:solidFill>
                  <a:schemeClr val="tx1"/>
                </a:solidFill>
                <a:latin typeface="Times New Roman" panose="02020603050405020304" pitchFamily="18" charset="0"/>
                <a:cs typeface="Times New Roman" panose="02020603050405020304" pitchFamily="18" charset="0"/>
              </a:rPr>
              <a:t>)</a:t>
            </a:r>
          </a:p>
        </p:txBody>
      </p:sp>
      <p:sp>
        <p:nvSpPr>
          <p:cNvPr id="12" name="Rounded Rectangle 6">
            <a:extLst>
              <a:ext uri="{FF2B5EF4-FFF2-40B4-BE49-F238E27FC236}">
                <a16:creationId xmlns:a16="http://schemas.microsoft.com/office/drawing/2014/main" id="{4A876051-844D-31A6-AF0E-C7053979F50A}"/>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25EB4805-5453-8C6A-0BC9-EACD7F37F575}"/>
              </a:ext>
            </a:extLst>
          </p:cNvPr>
          <p:cNvSpPr/>
          <p:nvPr/>
        </p:nvSpPr>
        <p:spPr>
          <a:xfrm>
            <a:off x="6229604" y="1454150"/>
            <a:ext cx="5468112" cy="214884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F37057FF-1AB2-7B2C-BAD5-2D7BBDE9A7DF}"/>
              </a:ext>
            </a:extLst>
          </p:cNvPr>
          <p:cNvSpPr/>
          <p:nvPr/>
        </p:nvSpPr>
        <p:spPr>
          <a:xfrm>
            <a:off x="6498907" y="16759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4" name="Rounded Rectangle 13">
            <a:extLst>
              <a:ext uri="{FF2B5EF4-FFF2-40B4-BE49-F238E27FC236}">
                <a16:creationId xmlns:a16="http://schemas.microsoft.com/office/drawing/2014/main" id="{66DD5F6D-0288-8436-64F0-EA11579A4EC5}"/>
              </a:ext>
            </a:extLst>
          </p:cNvPr>
          <p:cNvSpPr/>
          <p:nvPr/>
        </p:nvSpPr>
        <p:spPr>
          <a:xfrm>
            <a:off x="6327451" y="3750809"/>
            <a:ext cx="5468112"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dirty="0">
                <a:solidFill>
                  <a:schemeClr val="tx1"/>
                </a:solidFill>
                <a:latin typeface="Times New Roman" panose="02020603050405020304" pitchFamily="18" charset="0"/>
                <a:cs typeface="Times New Roman" panose="02020603050405020304" pitchFamily="18" charset="0"/>
              </a:rPr>
              <a:t>Five completely duplicated records were identified in the dataset. These duplicate rows were removed before further analysis.</a:t>
            </a:r>
            <a:endParaRPr lang="en-IN" sz="1900" dirty="0">
              <a:solidFill>
                <a:schemeClr val="tx1"/>
              </a:solidFill>
              <a:latin typeface="Times New Roman" panose="02020603050405020304" pitchFamily="18" charset="0"/>
              <a:cs typeface="Times New Roman" panose="02020603050405020304" pitchFamily="18" charset="0"/>
            </a:endParaRPr>
          </a:p>
        </p:txBody>
      </p:sp>
      <p:sp>
        <p:nvSpPr>
          <p:cNvPr id="26" name="Rounded Rectangle 6">
            <a:extLst>
              <a:ext uri="{FF2B5EF4-FFF2-40B4-BE49-F238E27FC236}">
                <a16:creationId xmlns:a16="http://schemas.microsoft.com/office/drawing/2014/main" id="{4D3C0A71-4B11-37CA-EAA9-F4191E7BD999}"/>
              </a:ext>
            </a:extLst>
          </p:cNvPr>
          <p:cNvSpPr/>
          <p:nvPr/>
        </p:nvSpPr>
        <p:spPr>
          <a:xfrm>
            <a:off x="6597444" y="3901573"/>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EXPLANATION :</a:t>
            </a:r>
          </a:p>
        </p:txBody>
      </p:sp>
      <p:pic>
        <p:nvPicPr>
          <p:cNvPr id="9" name="Picture 8">
            <a:extLst>
              <a:ext uri="{FF2B5EF4-FFF2-40B4-BE49-F238E27FC236}">
                <a16:creationId xmlns:a16="http://schemas.microsoft.com/office/drawing/2014/main" id="{506AC0E9-2AB1-E2C9-8EE1-96C158675C59}"/>
              </a:ext>
            </a:extLst>
          </p:cNvPr>
          <p:cNvPicPr>
            <a:picLocks noChangeAspect="1"/>
          </p:cNvPicPr>
          <p:nvPr/>
        </p:nvPicPr>
        <p:blipFill>
          <a:blip r:embed="rId6"/>
          <a:stretch>
            <a:fillRect/>
          </a:stretch>
        </p:blipFill>
        <p:spPr>
          <a:xfrm>
            <a:off x="6597444" y="2313432"/>
            <a:ext cx="3323304" cy="386792"/>
          </a:xfrm>
          <a:prstGeom prst="rect">
            <a:avLst/>
          </a:prstGeom>
        </p:spPr>
      </p:pic>
    </p:spTree>
    <p:extLst>
      <p:ext uri="{BB962C8B-B14F-4D97-AF65-F5344CB8AC3E}">
        <p14:creationId xmlns:p14="http://schemas.microsoft.com/office/powerpoint/2010/main" val="2030361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50341-FA92-D760-FAC8-FE276E31E94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C235B9E-5AB4-45CB-033B-1CEA881E2262}"/>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CA5BA917-0A42-7559-F6A1-4BAF93DCFCCB}"/>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9AB9C1AB-65EA-A82A-D130-28353DAC4DB8}"/>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58E629E-138F-5D47-4D06-18E1EB6E305F}"/>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A2C0D47A-1373-8515-2FCD-586F2D82268E}"/>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35D5C95-5FD6-4D0F-EFAE-3209805A617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CLEANING</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93FFA8C7-2FCD-B639-726F-7431E749BFBB}"/>
              </a:ext>
            </a:extLst>
          </p:cNvPr>
          <p:cNvSpPr/>
          <p:nvPr/>
        </p:nvSpPr>
        <p:spPr>
          <a:xfrm>
            <a:off x="390700" y="1115345"/>
            <a:ext cx="5532120" cy="5572455"/>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a:p>
            <a:r>
              <a:rPr lang="en-IN" sz="1900" b="1" dirty="0">
                <a:solidFill>
                  <a:schemeClr val="tx1"/>
                </a:solidFill>
                <a:latin typeface="Times New Roman" panose="02020603050405020304" pitchFamily="18" charset="0"/>
                <a:cs typeface="Times New Roman" panose="02020603050405020304" pitchFamily="18" charset="0"/>
              </a:rPr>
              <a:t># Remove Duplicate Rows</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 = </a:t>
            </a:r>
            <a:r>
              <a:rPr lang="en-IN" sz="1900" dirty="0" err="1">
                <a:solidFill>
                  <a:schemeClr val="tx1"/>
                </a:solidFill>
                <a:latin typeface="Times New Roman" panose="02020603050405020304" pitchFamily="18" charset="0"/>
                <a:cs typeface="Times New Roman" panose="02020603050405020304" pitchFamily="18" charset="0"/>
              </a:rPr>
              <a:t>df.drop_duplicates</a:t>
            </a:r>
            <a:r>
              <a:rPr lang="en-IN" sz="1900" dirty="0">
                <a:solidFill>
                  <a:schemeClr val="tx1"/>
                </a:solidFill>
                <a:latin typeface="Times New Roman" panose="02020603050405020304" pitchFamily="18" charset="0"/>
                <a:cs typeface="Times New Roman" panose="02020603050405020304" pitchFamily="18" charset="0"/>
              </a:rPr>
              <a:t>()</a:t>
            </a:r>
          </a:p>
          <a:p>
            <a:r>
              <a:rPr lang="en-IN" sz="1900" dirty="0">
                <a:solidFill>
                  <a:schemeClr val="tx1"/>
                </a:solidFill>
                <a:latin typeface="Times New Roman" panose="02020603050405020304" pitchFamily="18" charset="0"/>
                <a:cs typeface="Times New Roman" panose="02020603050405020304" pitchFamily="18" charset="0"/>
              </a:rPr>
              <a:t>print("Duplicate rows removed successfully")</a:t>
            </a:r>
          </a:p>
          <a:p>
            <a:r>
              <a:rPr lang="en-IN" sz="1900" dirty="0">
                <a:solidFill>
                  <a:schemeClr val="tx1"/>
                </a:solidFill>
                <a:latin typeface="Times New Roman" panose="02020603050405020304" pitchFamily="18" charset="0"/>
                <a:cs typeface="Times New Roman" panose="02020603050405020304" pitchFamily="18" charset="0"/>
              </a:rPr>
              <a:t>print("Number of Duplicate Rows:", </a:t>
            </a:r>
            <a:r>
              <a:rPr lang="en-IN" sz="1900" dirty="0" err="1">
                <a:solidFill>
                  <a:schemeClr val="tx1"/>
                </a:solidFill>
                <a:latin typeface="Times New Roman" panose="02020603050405020304" pitchFamily="18" charset="0"/>
                <a:cs typeface="Times New Roman" panose="02020603050405020304" pitchFamily="18" charset="0"/>
              </a:rPr>
              <a:t>df.duplicated</a:t>
            </a:r>
            <a:r>
              <a:rPr lang="en-IN" sz="1900" dirty="0">
                <a:solidFill>
                  <a:schemeClr val="tx1"/>
                </a:solidFill>
                <a:latin typeface="Times New Roman" panose="02020603050405020304" pitchFamily="18" charset="0"/>
                <a:cs typeface="Times New Roman" panose="02020603050405020304" pitchFamily="18" charset="0"/>
              </a:rPr>
              <a:t>().sum())</a:t>
            </a:r>
          </a:p>
          <a:p>
            <a:r>
              <a:rPr lang="en-IN" sz="1900" dirty="0">
                <a:solidFill>
                  <a:schemeClr val="tx1"/>
                </a:solidFill>
                <a:latin typeface="Times New Roman" panose="02020603050405020304" pitchFamily="18" charset="0"/>
                <a:cs typeface="Times New Roman" panose="02020603050405020304" pitchFamily="18" charset="0"/>
              </a:rPr>
              <a:t>print("Updated Dataset Shape:", </a:t>
            </a:r>
            <a:r>
              <a:rPr lang="en-IN" sz="1900" dirty="0" err="1">
                <a:solidFill>
                  <a:schemeClr val="tx1"/>
                </a:solidFill>
                <a:latin typeface="Times New Roman" panose="02020603050405020304" pitchFamily="18" charset="0"/>
                <a:cs typeface="Times New Roman" panose="02020603050405020304" pitchFamily="18" charset="0"/>
              </a:rPr>
              <a:t>df.shape</a:t>
            </a:r>
            <a:r>
              <a:rPr lang="en-IN" sz="1900" dirty="0">
                <a:solidFill>
                  <a:schemeClr val="tx1"/>
                </a:solidFill>
                <a:latin typeface="Times New Roman" panose="02020603050405020304" pitchFamily="18" charset="0"/>
                <a:cs typeface="Times New Roman" panose="02020603050405020304" pitchFamily="18" charset="0"/>
              </a:rPr>
              <a:t>)</a:t>
            </a:r>
          </a:p>
          <a:p>
            <a:r>
              <a:rPr lang="en-IN" sz="1900" b="1" dirty="0">
                <a:solidFill>
                  <a:schemeClr val="tx1"/>
                </a:solidFill>
                <a:latin typeface="Times New Roman" panose="02020603050405020304" pitchFamily="18" charset="0"/>
                <a:cs typeface="Times New Roman" panose="02020603050405020304" pitchFamily="18" charset="0"/>
              </a:rPr>
              <a:t>#Handle Missing Values</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['director'] =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['director'].</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['cast'] =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['cast'].</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['country'] =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['country'].</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a:t>
            </a:r>
            <a:r>
              <a:rPr lang="en-IN" sz="1900" dirty="0" err="1">
                <a:solidFill>
                  <a:schemeClr val="tx1"/>
                </a:solidFill>
                <a:latin typeface="Times New Roman" panose="02020603050405020304" pitchFamily="18" charset="0"/>
                <a:cs typeface="Times New Roman" panose="02020603050405020304" pitchFamily="18" charset="0"/>
              </a:rPr>
              <a:t>date_added</a:t>
            </a:r>
            <a:r>
              <a:rPr lang="en-IN" sz="1900" dirty="0">
                <a:solidFill>
                  <a:schemeClr val="tx1"/>
                </a:solidFill>
                <a:latin typeface="Times New Roman" panose="02020603050405020304" pitchFamily="18" charset="0"/>
                <a:cs typeface="Times New Roman" panose="02020603050405020304" pitchFamily="18" charset="0"/>
              </a:rPr>
              <a:t>’]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a:t>
            </a:r>
            <a:r>
              <a:rPr lang="en-IN" sz="1900" dirty="0" err="1">
                <a:solidFill>
                  <a:schemeClr val="tx1"/>
                </a:solidFill>
                <a:latin typeface="Times New Roman" panose="02020603050405020304" pitchFamily="18" charset="0"/>
                <a:cs typeface="Times New Roman" panose="02020603050405020304" pitchFamily="18" charset="0"/>
              </a:rPr>
              <a:t>date_added</a:t>
            </a:r>
            <a:r>
              <a:rPr lang="en-IN" sz="1900" dirty="0">
                <a:solidFill>
                  <a:schemeClr val="tx1"/>
                </a:solidFill>
                <a:latin typeface="Times New Roman" panose="02020603050405020304" pitchFamily="18" charset="0"/>
                <a:cs typeface="Times New Roman" panose="02020603050405020304" pitchFamily="18" charset="0"/>
              </a:rPr>
              <a:t>'].</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['rating'] =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['rating'].</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['duration'] = </a:t>
            </a:r>
            <a:r>
              <a:rPr lang="en-IN" sz="1900" dirty="0" err="1">
                <a:solidFill>
                  <a:schemeClr val="tx1"/>
                </a:solidFill>
                <a:latin typeface="Times New Roman" panose="02020603050405020304" pitchFamily="18" charset="0"/>
                <a:cs typeface="Times New Roman" panose="02020603050405020304" pitchFamily="18" charset="0"/>
              </a:rPr>
              <a:t>df</a:t>
            </a:r>
            <a:r>
              <a:rPr lang="en-IN" sz="1900" dirty="0">
                <a:solidFill>
                  <a:schemeClr val="tx1"/>
                </a:solidFill>
                <a:latin typeface="Times New Roman" panose="02020603050405020304" pitchFamily="18" charset="0"/>
                <a:cs typeface="Times New Roman" panose="02020603050405020304" pitchFamily="18" charset="0"/>
              </a:rPr>
              <a:t>['duration'].</a:t>
            </a:r>
            <a:r>
              <a:rPr lang="en-IN" sz="1900" dirty="0" err="1">
                <a:solidFill>
                  <a:schemeClr val="tx1"/>
                </a:solidFill>
                <a:latin typeface="Times New Roman" panose="02020603050405020304" pitchFamily="18" charset="0"/>
                <a:cs typeface="Times New Roman" panose="02020603050405020304" pitchFamily="18" charset="0"/>
              </a:rPr>
              <a:t>fillna</a:t>
            </a:r>
            <a:r>
              <a:rPr lang="en-IN" sz="1900" dirty="0">
                <a:solidFill>
                  <a:schemeClr val="tx1"/>
                </a:solidFill>
                <a:latin typeface="Times New Roman" panose="02020603050405020304" pitchFamily="18" charset="0"/>
                <a:cs typeface="Times New Roman" panose="02020603050405020304" pitchFamily="18" charset="0"/>
              </a:rPr>
              <a:t>('Unknown')</a:t>
            </a:r>
          </a:p>
          <a:p>
            <a:r>
              <a:rPr lang="en-IN" sz="1900" dirty="0">
                <a:solidFill>
                  <a:schemeClr val="tx1"/>
                </a:solidFill>
                <a:latin typeface="Times New Roman" panose="02020603050405020304" pitchFamily="18" charset="0"/>
                <a:cs typeface="Times New Roman" panose="02020603050405020304" pitchFamily="18" charset="0"/>
              </a:rPr>
              <a:t>print("Missing values handled successfully")</a:t>
            </a:r>
          </a:p>
          <a:p>
            <a:r>
              <a:rPr lang="en-IN" sz="1900" dirty="0">
                <a:solidFill>
                  <a:schemeClr val="tx1"/>
                </a:solidFill>
                <a:latin typeface="Times New Roman" panose="02020603050405020304" pitchFamily="18" charset="0"/>
                <a:cs typeface="Times New Roman" panose="02020603050405020304" pitchFamily="18" charset="0"/>
              </a:rPr>
              <a:t>print("\</a:t>
            </a:r>
            <a:r>
              <a:rPr lang="en-IN" sz="1900" dirty="0" err="1">
                <a:solidFill>
                  <a:schemeClr val="tx1"/>
                </a:solidFill>
                <a:latin typeface="Times New Roman" panose="02020603050405020304" pitchFamily="18" charset="0"/>
                <a:cs typeface="Times New Roman" panose="02020603050405020304" pitchFamily="18" charset="0"/>
              </a:rPr>
              <a:t>nMissing</a:t>
            </a:r>
            <a:r>
              <a:rPr lang="en-IN" sz="1900" dirty="0">
                <a:solidFill>
                  <a:schemeClr val="tx1"/>
                </a:solidFill>
                <a:latin typeface="Times New Roman" panose="02020603050405020304" pitchFamily="18" charset="0"/>
                <a:cs typeface="Times New Roman" panose="02020603050405020304" pitchFamily="18" charset="0"/>
              </a:rPr>
              <a:t> Values After Cleaning:")</a:t>
            </a:r>
          </a:p>
          <a:p>
            <a:r>
              <a:rPr lang="en-IN" sz="1900" dirty="0">
                <a:solidFill>
                  <a:schemeClr val="tx1"/>
                </a:solidFill>
                <a:latin typeface="Times New Roman" panose="02020603050405020304" pitchFamily="18" charset="0"/>
                <a:cs typeface="Times New Roman" panose="02020603050405020304" pitchFamily="18" charset="0"/>
              </a:rPr>
              <a:t>print(</a:t>
            </a:r>
            <a:r>
              <a:rPr lang="en-IN" sz="1900" dirty="0" err="1">
                <a:solidFill>
                  <a:schemeClr val="tx1"/>
                </a:solidFill>
                <a:latin typeface="Times New Roman" panose="02020603050405020304" pitchFamily="18" charset="0"/>
                <a:cs typeface="Times New Roman" panose="02020603050405020304" pitchFamily="18" charset="0"/>
              </a:rPr>
              <a:t>df.isnull</a:t>
            </a:r>
            <a:r>
              <a:rPr lang="en-IN" sz="1900" dirty="0">
                <a:solidFill>
                  <a:schemeClr val="tx1"/>
                </a:solidFill>
                <a:latin typeface="Times New Roman" panose="02020603050405020304" pitchFamily="18" charset="0"/>
                <a:cs typeface="Times New Roman" panose="02020603050405020304" pitchFamily="18" charset="0"/>
              </a:rPr>
              <a:t>().sum().sum())</a:t>
            </a:r>
          </a:p>
          <a:p>
            <a:br>
              <a:rPr lang="en-IN" sz="1900" dirty="0">
                <a:solidFill>
                  <a:schemeClr val="tx1"/>
                </a:solidFill>
                <a:latin typeface="Times New Roman" panose="02020603050405020304" pitchFamily="18" charset="0"/>
                <a:cs typeface="Times New Roman" panose="02020603050405020304" pitchFamily="18" charset="0"/>
              </a:rPr>
            </a:br>
            <a:endParaRPr lang="en-IN" sz="1900" dirty="0">
              <a:solidFill>
                <a:schemeClr val="tx1"/>
              </a:solidFill>
              <a:latin typeface="Times New Roman" panose="02020603050405020304" pitchFamily="18" charset="0"/>
              <a:cs typeface="Times New Roman" panose="02020603050405020304" pitchFamily="18" charset="0"/>
            </a:endParaRPr>
          </a:p>
          <a:p>
            <a:endParaRPr lang="en-IN" sz="1900"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6">
            <a:extLst>
              <a:ext uri="{FF2B5EF4-FFF2-40B4-BE49-F238E27FC236}">
                <a16:creationId xmlns:a16="http://schemas.microsoft.com/office/drawing/2014/main" id="{BE0194E2-6647-90B2-A46C-4DC135DAC9FE}"/>
              </a:ext>
            </a:extLst>
          </p:cNvPr>
          <p:cNvSpPr/>
          <p:nvPr/>
        </p:nvSpPr>
        <p:spPr>
          <a:xfrm>
            <a:off x="1031746" y="1225603"/>
            <a:ext cx="1302185" cy="3495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164BDFAB-43E6-E060-6AD6-EEB30B23EF70}"/>
              </a:ext>
            </a:extLst>
          </p:cNvPr>
          <p:cNvSpPr/>
          <p:nvPr/>
        </p:nvSpPr>
        <p:spPr>
          <a:xfrm>
            <a:off x="6269182" y="1223142"/>
            <a:ext cx="5468112" cy="214884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183D02A5-6D34-D544-5E1D-DAB16547C869}"/>
              </a:ext>
            </a:extLst>
          </p:cNvPr>
          <p:cNvSpPr/>
          <p:nvPr/>
        </p:nvSpPr>
        <p:spPr>
          <a:xfrm>
            <a:off x="6498907" y="1400356"/>
            <a:ext cx="1302185" cy="365735"/>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4" name="Rounded Rectangle 13">
            <a:extLst>
              <a:ext uri="{FF2B5EF4-FFF2-40B4-BE49-F238E27FC236}">
                <a16:creationId xmlns:a16="http://schemas.microsoft.com/office/drawing/2014/main" id="{1EC62081-1759-892F-7697-5DE20E176FC1}"/>
              </a:ext>
            </a:extLst>
          </p:cNvPr>
          <p:cNvSpPr/>
          <p:nvPr/>
        </p:nvSpPr>
        <p:spPr>
          <a:xfrm>
            <a:off x="6333188" y="3998795"/>
            <a:ext cx="5468112"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pPr marL="342900" lvl="0" indent="-342900">
              <a:buFont typeface="Wingdings" panose="05000000000000000000" pitchFamily="2" charset="2"/>
              <a:buChar char="Ø"/>
            </a:pPr>
            <a:endParaRPr lang="en-IN" sz="2000" dirty="0">
              <a:solidFill>
                <a:schemeClr val="tx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Duplicate rows removed: </a:t>
            </a:r>
            <a:r>
              <a:rPr lang="en-IN" sz="2000" b="1" dirty="0">
                <a:solidFill>
                  <a:schemeClr val="tx1"/>
                </a:solidFill>
                <a:latin typeface="Times New Roman" panose="02020603050405020304" pitchFamily="18" charset="0"/>
                <a:cs typeface="Times New Roman" panose="02020603050405020304" pitchFamily="18" charset="0"/>
              </a:rPr>
              <a:t>5</a:t>
            </a:r>
            <a:endParaRPr lang="en-IN" sz="2000" dirty="0">
              <a:solidFill>
                <a:schemeClr val="tx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Final row count: </a:t>
            </a:r>
            <a:r>
              <a:rPr lang="en-IN" sz="2000" b="1" dirty="0">
                <a:solidFill>
                  <a:schemeClr val="tx1"/>
                </a:solidFill>
                <a:latin typeface="Times New Roman" panose="02020603050405020304" pitchFamily="18" charset="0"/>
                <a:cs typeface="Times New Roman" panose="02020603050405020304" pitchFamily="18" charset="0"/>
              </a:rPr>
              <a:t>8,807</a:t>
            </a:r>
            <a:endParaRPr lang="en-IN" sz="2000" dirty="0">
              <a:solidFill>
                <a:schemeClr val="tx1"/>
              </a:solidFill>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Missing values were handled using </a:t>
            </a:r>
            <a:r>
              <a:rPr lang="en-IN" sz="2000" b="1" dirty="0">
                <a:solidFill>
                  <a:schemeClr val="tx1"/>
                </a:solidFill>
                <a:latin typeface="Times New Roman" panose="02020603050405020304" pitchFamily="18" charset="0"/>
                <a:cs typeface="Times New Roman" panose="02020603050405020304" pitchFamily="18" charset="0"/>
              </a:rPr>
              <a:t>"Unknown"</a:t>
            </a:r>
            <a:r>
              <a:rPr lang="en-IN" sz="2000" dirty="0">
                <a:solidFill>
                  <a:schemeClr val="tx1"/>
                </a:solidFill>
                <a:latin typeface="Times New Roman" panose="02020603050405020304" pitchFamily="18" charset="0"/>
                <a:cs typeface="Times New Roman" panose="02020603050405020304" pitchFamily="18" charset="0"/>
              </a:rPr>
              <a:t>.</a:t>
            </a:r>
          </a:p>
        </p:txBody>
      </p:sp>
      <p:sp>
        <p:nvSpPr>
          <p:cNvPr id="26" name="Rounded Rectangle 6">
            <a:extLst>
              <a:ext uri="{FF2B5EF4-FFF2-40B4-BE49-F238E27FC236}">
                <a16:creationId xmlns:a16="http://schemas.microsoft.com/office/drawing/2014/main" id="{0E84E87D-8C9D-2A27-471A-9836148D6488}"/>
              </a:ext>
            </a:extLst>
          </p:cNvPr>
          <p:cNvSpPr/>
          <p:nvPr/>
        </p:nvSpPr>
        <p:spPr>
          <a:xfrm>
            <a:off x="6498907" y="4140181"/>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RESULT :</a:t>
            </a:r>
          </a:p>
        </p:txBody>
      </p:sp>
      <p:pic>
        <p:nvPicPr>
          <p:cNvPr id="9" name="Picture 8">
            <a:extLst>
              <a:ext uri="{FF2B5EF4-FFF2-40B4-BE49-F238E27FC236}">
                <a16:creationId xmlns:a16="http://schemas.microsoft.com/office/drawing/2014/main" id="{31B41247-4A60-E0B5-8B44-092C07911AD3}"/>
              </a:ext>
            </a:extLst>
          </p:cNvPr>
          <p:cNvPicPr>
            <a:picLocks noChangeAspect="1"/>
          </p:cNvPicPr>
          <p:nvPr/>
        </p:nvPicPr>
        <p:blipFill>
          <a:blip r:embed="rId6"/>
          <a:stretch>
            <a:fillRect/>
          </a:stretch>
        </p:blipFill>
        <p:spPr>
          <a:xfrm>
            <a:off x="6498907" y="1902816"/>
            <a:ext cx="3215919" cy="683067"/>
          </a:xfrm>
          <a:prstGeom prst="rect">
            <a:avLst/>
          </a:prstGeom>
        </p:spPr>
      </p:pic>
      <p:pic>
        <p:nvPicPr>
          <p:cNvPr id="13" name="Picture 12">
            <a:extLst>
              <a:ext uri="{FF2B5EF4-FFF2-40B4-BE49-F238E27FC236}">
                <a16:creationId xmlns:a16="http://schemas.microsoft.com/office/drawing/2014/main" id="{A3F46024-DF9A-E9F3-6A85-C5C2A7149CB8}"/>
              </a:ext>
            </a:extLst>
          </p:cNvPr>
          <p:cNvPicPr>
            <a:picLocks noChangeAspect="1"/>
          </p:cNvPicPr>
          <p:nvPr/>
        </p:nvPicPr>
        <p:blipFill>
          <a:blip r:embed="rId7"/>
          <a:stretch>
            <a:fillRect/>
          </a:stretch>
        </p:blipFill>
        <p:spPr>
          <a:xfrm>
            <a:off x="6614322" y="2637399"/>
            <a:ext cx="3330229" cy="683067"/>
          </a:xfrm>
          <a:prstGeom prst="rect">
            <a:avLst/>
          </a:prstGeom>
        </p:spPr>
      </p:pic>
    </p:spTree>
    <p:extLst>
      <p:ext uri="{BB962C8B-B14F-4D97-AF65-F5344CB8AC3E}">
        <p14:creationId xmlns:p14="http://schemas.microsoft.com/office/powerpoint/2010/main" val="2031651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5BF18-C85F-CDF8-E55A-5E36B5F907A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D5B4309C-8E3A-9944-A02F-9AF94B73E1BB}"/>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1FA59074-F7A2-EB55-105B-C91D4FC9E91D}"/>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85EA03CD-9FCE-D917-BF35-C23928AB940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A7F74BE-3EBA-9673-1382-2BC23999B531}"/>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CB6C0D8-B4A2-CEB9-D0C9-FE315F966525}"/>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63D4F31-D0E7-63B4-5A39-3CE4184AB9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PREPROCESSING</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200D6C73-1EBC-57EC-E91E-E82802A3E4C9}"/>
              </a:ext>
            </a:extLst>
          </p:cNvPr>
          <p:cNvSpPr/>
          <p:nvPr/>
        </p:nvSpPr>
        <p:spPr>
          <a:xfrm>
            <a:off x="430277" y="1339850"/>
            <a:ext cx="5532120" cy="452628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dirty="0">
                <a:solidFill>
                  <a:schemeClr val="tx1"/>
                </a:solidFill>
                <a:latin typeface="Times New Roman" panose="02020603050405020304" pitchFamily="18" charset="0"/>
                <a:cs typeface="Times New Roman" panose="02020603050405020304" pitchFamily="18" charset="0"/>
              </a:rPr>
              <a:t># Data Preprocessing</a:t>
            </a:r>
          </a:p>
          <a:p>
            <a:endParaRPr lang="en-IN" dirty="0"/>
          </a:p>
          <a:p>
            <a:r>
              <a:rPr lang="en-IN" sz="2000" dirty="0" err="1">
                <a:solidFill>
                  <a:schemeClr val="tx1"/>
                </a:solidFill>
                <a:latin typeface="Times New Roman" panose="02020603050405020304" pitchFamily="18" charset="0"/>
                <a:cs typeface="Times New Roman" panose="02020603050405020304" pitchFamily="18" charset="0"/>
              </a:rPr>
              <a:t>df</a:t>
            </a:r>
            <a:r>
              <a:rPr lang="en-IN" sz="2000" dirty="0">
                <a:solidFill>
                  <a:schemeClr val="tx1"/>
                </a:solidFill>
                <a:latin typeface="Times New Roman" panose="02020603050405020304" pitchFamily="18" charset="0"/>
                <a:cs typeface="Times New Roman" panose="02020603050405020304" pitchFamily="18" charset="0"/>
              </a:rPr>
              <a:t>['</a:t>
            </a:r>
            <a:r>
              <a:rPr lang="en-IN" sz="2000" dirty="0" err="1">
                <a:solidFill>
                  <a:schemeClr val="tx1"/>
                </a:solidFill>
                <a:latin typeface="Times New Roman" panose="02020603050405020304" pitchFamily="18" charset="0"/>
                <a:cs typeface="Times New Roman" panose="02020603050405020304" pitchFamily="18" charset="0"/>
              </a:rPr>
              <a:t>date_added</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pd.to_datetime</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df</a:t>
            </a:r>
            <a:r>
              <a:rPr lang="en-IN" sz="2000" dirty="0">
                <a:solidFill>
                  <a:schemeClr val="tx1"/>
                </a:solidFill>
                <a:latin typeface="Times New Roman" panose="02020603050405020304" pitchFamily="18" charset="0"/>
                <a:cs typeface="Times New Roman" panose="02020603050405020304" pitchFamily="18" charset="0"/>
              </a:rPr>
              <a:t>['</a:t>
            </a:r>
            <a:r>
              <a:rPr lang="en-IN" sz="2000" dirty="0" err="1">
                <a:solidFill>
                  <a:schemeClr val="tx1"/>
                </a:solidFill>
                <a:latin typeface="Times New Roman" panose="02020603050405020304" pitchFamily="18" charset="0"/>
                <a:cs typeface="Times New Roman" panose="02020603050405020304" pitchFamily="18" charset="0"/>
              </a:rPr>
              <a:t>date_added</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    errors='coerce’)</a:t>
            </a:r>
          </a:p>
          <a:p>
            <a:r>
              <a:rPr lang="en-IN" sz="2000" dirty="0">
                <a:solidFill>
                  <a:schemeClr val="tx1"/>
                </a:solidFill>
                <a:latin typeface="Times New Roman" panose="02020603050405020304" pitchFamily="18" charset="0"/>
                <a:cs typeface="Times New Roman" panose="02020603050405020304" pitchFamily="18" charset="0"/>
              </a:rPr>
              <a:t>print("Date format converted successfully")</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nData</a:t>
            </a:r>
            <a:r>
              <a:rPr lang="en-IN" sz="2000" dirty="0">
                <a:solidFill>
                  <a:schemeClr val="tx1"/>
                </a:solidFill>
                <a:latin typeface="Times New Roman" panose="02020603050405020304" pitchFamily="18" charset="0"/>
                <a:cs typeface="Times New Roman" panose="02020603050405020304" pitchFamily="18" charset="0"/>
              </a:rPr>
              <a:t> Types:")</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df.dtypes</a:t>
            </a:r>
            <a:r>
              <a:rPr lang="en-IN" sz="2000" dirty="0">
                <a:solidFill>
                  <a:schemeClr val="tx1"/>
                </a:solidFill>
                <a:latin typeface="Times New Roman" panose="02020603050405020304" pitchFamily="18" charset="0"/>
                <a:cs typeface="Times New Roman" panose="02020603050405020304" pitchFamily="18" charset="0"/>
              </a:rPr>
              <a:t>)</a:t>
            </a:r>
          </a:p>
        </p:txBody>
      </p:sp>
      <p:sp>
        <p:nvSpPr>
          <p:cNvPr id="12" name="Rounded Rectangle 6">
            <a:extLst>
              <a:ext uri="{FF2B5EF4-FFF2-40B4-BE49-F238E27FC236}">
                <a16:creationId xmlns:a16="http://schemas.microsoft.com/office/drawing/2014/main" id="{8351FB4C-3166-1028-81F0-EECE987B0D28}"/>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270922BB-7165-0ADA-FDB8-AE15CBA0293A}"/>
              </a:ext>
            </a:extLst>
          </p:cNvPr>
          <p:cNvSpPr/>
          <p:nvPr/>
        </p:nvSpPr>
        <p:spPr>
          <a:xfrm>
            <a:off x="6229604" y="1454150"/>
            <a:ext cx="5468112" cy="214884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51CFF448-E2C7-0037-CC19-7D9DD422BADA}"/>
              </a:ext>
            </a:extLst>
          </p:cNvPr>
          <p:cNvSpPr/>
          <p:nvPr/>
        </p:nvSpPr>
        <p:spPr>
          <a:xfrm>
            <a:off x="6498907" y="16759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sp>
        <p:nvSpPr>
          <p:cNvPr id="24" name="Rounded Rectangle 13">
            <a:extLst>
              <a:ext uri="{FF2B5EF4-FFF2-40B4-BE49-F238E27FC236}">
                <a16:creationId xmlns:a16="http://schemas.microsoft.com/office/drawing/2014/main" id="{FA6AD7CB-6BFE-BDCD-CBA1-3CA917EAD256}"/>
              </a:ext>
            </a:extLst>
          </p:cNvPr>
          <p:cNvSpPr/>
          <p:nvPr/>
        </p:nvSpPr>
        <p:spPr>
          <a:xfrm>
            <a:off x="6327451" y="3750809"/>
            <a:ext cx="5468112" cy="2176272"/>
          </a:xfrm>
          <a:prstGeom prst="roundRect">
            <a:avLst/>
          </a:prstGeom>
          <a:solidFill>
            <a:srgbClr val="F4F7FB"/>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dirty="0">
                <a:solidFill>
                  <a:schemeClr val="tx1"/>
                </a:solidFill>
                <a:latin typeface="Times New Roman" panose="02020603050405020304" pitchFamily="18" charset="0"/>
                <a:cs typeface="Times New Roman" panose="02020603050405020304" pitchFamily="18" charset="0"/>
              </a:rPr>
              <a:t>The </a:t>
            </a:r>
            <a:r>
              <a:rPr lang="en-IN" sz="2000" dirty="0" err="1">
                <a:solidFill>
                  <a:schemeClr val="tx1"/>
                </a:solidFill>
                <a:latin typeface="Times New Roman" panose="02020603050405020304" pitchFamily="18" charset="0"/>
                <a:cs typeface="Times New Roman" panose="02020603050405020304" pitchFamily="18" charset="0"/>
              </a:rPr>
              <a:t>date_added</a:t>
            </a:r>
            <a:r>
              <a:rPr lang="en-IN" sz="2000" dirty="0">
                <a:solidFill>
                  <a:schemeClr val="tx1"/>
                </a:solidFill>
                <a:latin typeface="Times New Roman" panose="02020603050405020304" pitchFamily="18" charset="0"/>
                <a:cs typeface="Times New Roman" panose="02020603050405020304" pitchFamily="18" charset="0"/>
              </a:rPr>
              <a:t> column was converted into a proper date format. This makes the column suitable for future date-based analysis.</a:t>
            </a:r>
          </a:p>
        </p:txBody>
      </p:sp>
      <p:sp>
        <p:nvSpPr>
          <p:cNvPr id="26" name="Rounded Rectangle 6">
            <a:extLst>
              <a:ext uri="{FF2B5EF4-FFF2-40B4-BE49-F238E27FC236}">
                <a16:creationId xmlns:a16="http://schemas.microsoft.com/office/drawing/2014/main" id="{1733E93A-0642-EAC2-70BD-C1964F27F83C}"/>
              </a:ext>
            </a:extLst>
          </p:cNvPr>
          <p:cNvSpPr/>
          <p:nvPr/>
        </p:nvSpPr>
        <p:spPr>
          <a:xfrm>
            <a:off x="6597444" y="3901573"/>
            <a:ext cx="2143433"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EXPLANATION :</a:t>
            </a:r>
          </a:p>
        </p:txBody>
      </p:sp>
      <p:pic>
        <p:nvPicPr>
          <p:cNvPr id="9" name="Picture 8">
            <a:extLst>
              <a:ext uri="{FF2B5EF4-FFF2-40B4-BE49-F238E27FC236}">
                <a16:creationId xmlns:a16="http://schemas.microsoft.com/office/drawing/2014/main" id="{69FE1AB5-AD5B-793C-126D-E36E04337416}"/>
              </a:ext>
            </a:extLst>
          </p:cNvPr>
          <p:cNvPicPr>
            <a:picLocks noChangeAspect="1"/>
          </p:cNvPicPr>
          <p:nvPr/>
        </p:nvPicPr>
        <p:blipFill>
          <a:blip r:embed="rId6"/>
          <a:stretch>
            <a:fillRect/>
          </a:stretch>
        </p:blipFill>
        <p:spPr>
          <a:xfrm>
            <a:off x="6498907" y="2003871"/>
            <a:ext cx="3067880" cy="1496413"/>
          </a:xfrm>
          <a:prstGeom prst="rect">
            <a:avLst/>
          </a:prstGeom>
        </p:spPr>
      </p:pic>
    </p:spTree>
    <p:extLst>
      <p:ext uri="{BB962C8B-B14F-4D97-AF65-F5344CB8AC3E}">
        <p14:creationId xmlns:p14="http://schemas.microsoft.com/office/powerpoint/2010/main" val="1052025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CD77-9A49-12D4-FDCE-D20B840ADB06}"/>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A199E99-9E64-3E8C-DBF9-F800E1EEAD9D}"/>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4C6699F3-294A-704D-5296-9E549656F7F5}"/>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797DBEAD-B2F0-FE72-FFC4-1727CE69CC48}"/>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127F9F8-E442-2B79-AF2C-41107C1CFCE9}"/>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08A4B9E-BE9F-B85D-EA45-ABDFADD79005}"/>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107F905-E260-4B1D-E4D3-F3A674BC3C9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DATA ANALYSIS </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658BE4FF-AFD4-9D65-CA94-09FDEBD13272}"/>
              </a:ext>
            </a:extLst>
          </p:cNvPr>
          <p:cNvSpPr/>
          <p:nvPr/>
        </p:nvSpPr>
        <p:spPr>
          <a:xfrm>
            <a:off x="430277" y="1339849"/>
            <a:ext cx="5532120" cy="4999118"/>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 Data Analysis - Movies vs TV Shows</a:t>
            </a: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err="1">
                <a:solidFill>
                  <a:schemeClr val="tx1"/>
                </a:solidFill>
                <a:latin typeface="Times New Roman" panose="02020603050405020304" pitchFamily="18" charset="0"/>
                <a:cs typeface="Times New Roman" panose="02020603050405020304" pitchFamily="18" charset="0"/>
              </a:rPr>
              <a:t>type_count</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df</a:t>
            </a:r>
            <a:r>
              <a:rPr lang="en-IN" sz="2000" dirty="0">
                <a:solidFill>
                  <a:schemeClr val="tx1"/>
                </a:solidFill>
                <a:latin typeface="Times New Roman" panose="02020603050405020304" pitchFamily="18" charset="0"/>
                <a:cs typeface="Times New Roman" panose="02020603050405020304" pitchFamily="18" charset="0"/>
              </a:rPr>
              <a:t>['type'].</a:t>
            </a:r>
            <a:r>
              <a:rPr lang="en-IN" sz="2000" dirty="0" err="1">
                <a:solidFill>
                  <a:schemeClr val="tx1"/>
                </a:solidFill>
                <a:latin typeface="Times New Roman" panose="02020603050405020304" pitchFamily="18" charset="0"/>
                <a:cs typeface="Times New Roman" panose="02020603050405020304" pitchFamily="18" charset="0"/>
              </a:rPr>
              <a:t>value_counts</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print("Content Type Analysis:")</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type_count</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err="1">
                <a:solidFill>
                  <a:schemeClr val="tx1"/>
                </a:solidFill>
                <a:latin typeface="Times New Roman" panose="02020603050405020304" pitchFamily="18" charset="0"/>
                <a:cs typeface="Times New Roman" panose="02020603050405020304" pitchFamily="18" charset="0"/>
              </a:rPr>
              <a:t>type_count.plot</a:t>
            </a:r>
            <a:r>
              <a:rPr lang="en-IN" sz="2000" dirty="0">
                <a:solidFill>
                  <a:schemeClr val="tx1"/>
                </a:solidFill>
                <a:latin typeface="Times New Roman" panose="02020603050405020304" pitchFamily="18" charset="0"/>
                <a:cs typeface="Times New Roman" panose="02020603050405020304" pitchFamily="18" charset="0"/>
              </a:rPr>
              <a:t>( kind='bar', title='Movies vs TV Shows', </a:t>
            </a:r>
            <a:r>
              <a:rPr lang="en-IN" sz="2000" dirty="0" err="1">
                <a:solidFill>
                  <a:schemeClr val="tx1"/>
                </a:solidFill>
                <a:latin typeface="Times New Roman" panose="02020603050405020304" pitchFamily="18" charset="0"/>
                <a:cs typeface="Times New Roman" panose="02020603050405020304" pitchFamily="18" charset="0"/>
              </a:rPr>
              <a:t>xlabel</a:t>
            </a:r>
            <a:r>
              <a:rPr lang="en-IN" sz="2000" dirty="0">
                <a:solidFill>
                  <a:schemeClr val="tx1"/>
                </a:solidFill>
                <a:latin typeface="Times New Roman" panose="02020603050405020304" pitchFamily="18" charset="0"/>
                <a:cs typeface="Times New Roman" panose="02020603050405020304" pitchFamily="18" charset="0"/>
              </a:rPr>
              <a:t>='Content Type', </a:t>
            </a:r>
            <a:r>
              <a:rPr lang="en-IN" sz="2000" dirty="0" err="1">
                <a:solidFill>
                  <a:schemeClr val="tx1"/>
                </a:solidFill>
                <a:latin typeface="Times New Roman" panose="02020603050405020304" pitchFamily="18" charset="0"/>
                <a:cs typeface="Times New Roman" panose="02020603050405020304" pitchFamily="18" charset="0"/>
              </a:rPr>
              <a:t>ylabel</a:t>
            </a:r>
            <a:r>
              <a:rPr lang="en-IN" sz="2000" dirty="0">
                <a:solidFill>
                  <a:schemeClr val="tx1"/>
                </a:solidFill>
                <a:latin typeface="Times New Roman" panose="02020603050405020304" pitchFamily="18" charset="0"/>
                <a:cs typeface="Times New Roman" panose="02020603050405020304" pitchFamily="18" charset="0"/>
              </a:rPr>
              <a:t>='Number of Titles' )</a:t>
            </a: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6">
            <a:extLst>
              <a:ext uri="{FF2B5EF4-FFF2-40B4-BE49-F238E27FC236}">
                <a16:creationId xmlns:a16="http://schemas.microsoft.com/office/drawing/2014/main" id="{9F4317E1-A559-233A-29CD-9E409D460916}"/>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ECB89425-A744-D8C2-1A0F-36487A14AA26}"/>
              </a:ext>
            </a:extLst>
          </p:cNvPr>
          <p:cNvSpPr/>
          <p:nvPr/>
        </p:nvSpPr>
        <p:spPr>
          <a:xfrm>
            <a:off x="6229604" y="1454150"/>
            <a:ext cx="5468112" cy="471805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B0F01807-C80C-CBAB-55AA-B0F4A8AF5D13}"/>
              </a:ext>
            </a:extLst>
          </p:cNvPr>
          <p:cNvSpPr/>
          <p:nvPr/>
        </p:nvSpPr>
        <p:spPr>
          <a:xfrm>
            <a:off x="6481136" y="1829809"/>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pic>
        <p:nvPicPr>
          <p:cNvPr id="17" name="Picture 16">
            <a:extLst>
              <a:ext uri="{FF2B5EF4-FFF2-40B4-BE49-F238E27FC236}">
                <a16:creationId xmlns:a16="http://schemas.microsoft.com/office/drawing/2014/main" id="{F38A21B0-D72E-5F73-23D7-AED5D7EF4AD2}"/>
              </a:ext>
            </a:extLst>
          </p:cNvPr>
          <p:cNvPicPr>
            <a:picLocks noChangeAspect="1"/>
          </p:cNvPicPr>
          <p:nvPr/>
        </p:nvPicPr>
        <p:blipFill>
          <a:blip r:embed="rId6"/>
          <a:stretch>
            <a:fillRect/>
          </a:stretch>
        </p:blipFill>
        <p:spPr>
          <a:xfrm>
            <a:off x="6481136" y="2261843"/>
            <a:ext cx="4737470" cy="1082134"/>
          </a:xfrm>
          <a:prstGeom prst="rect">
            <a:avLst/>
          </a:prstGeom>
        </p:spPr>
      </p:pic>
      <p:pic>
        <p:nvPicPr>
          <p:cNvPr id="19" name="Picture 18">
            <a:extLst>
              <a:ext uri="{FF2B5EF4-FFF2-40B4-BE49-F238E27FC236}">
                <a16:creationId xmlns:a16="http://schemas.microsoft.com/office/drawing/2014/main" id="{54703DAE-C40C-D3F0-1983-18AC04FF4CEA}"/>
              </a:ext>
            </a:extLst>
          </p:cNvPr>
          <p:cNvPicPr>
            <a:picLocks noChangeAspect="1"/>
          </p:cNvPicPr>
          <p:nvPr/>
        </p:nvPicPr>
        <p:blipFill>
          <a:blip r:embed="rId7"/>
          <a:stretch>
            <a:fillRect/>
          </a:stretch>
        </p:blipFill>
        <p:spPr>
          <a:xfrm>
            <a:off x="6585092" y="3343977"/>
            <a:ext cx="4973445" cy="2575440"/>
          </a:xfrm>
          <a:prstGeom prst="rect">
            <a:avLst/>
          </a:prstGeom>
        </p:spPr>
      </p:pic>
    </p:spTree>
    <p:extLst>
      <p:ext uri="{BB962C8B-B14F-4D97-AF65-F5344CB8AC3E}">
        <p14:creationId xmlns:p14="http://schemas.microsoft.com/office/powerpoint/2010/main" val="4131084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38E25-8658-8508-E526-CC6D2FA3C7C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BF47D62C-78D7-3E9C-0283-9DC1E212BA50}"/>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F204E443-2302-AE5F-1030-3DBA1F28898B}"/>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10B54A2D-DA04-8419-11A6-6B0AD35D876F}"/>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916F7A62-9F48-D004-DD75-302A6C9EA674}"/>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5DBB523-9436-4D51-D54F-BD800FDA15E5}"/>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2CFF2A6-9931-2692-DE29-ADAD0C9A30D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RELEASE YEAR ANALYSIS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E85E694B-DD80-5C58-0B49-C73257A81948}"/>
              </a:ext>
            </a:extLst>
          </p:cNvPr>
          <p:cNvSpPr/>
          <p:nvPr/>
        </p:nvSpPr>
        <p:spPr>
          <a:xfrm>
            <a:off x="430277" y="1339850"/>
            <a:ext cx="5532120" cy="5038460"/>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IN" dirty="0">
              <a:solidFill>
                <a:schemeClr val="tx1"/>
              </a:solidFill>
            </a:endParaRPr>
          </a:p>
          <a:p>
            <a:endParaRPr lang="en-IN" sz="2000" dirty="0">
              <a:solidFill>
                <a:schemeClr val="tx1"/>
              </a:solidFill>
              <a:latin typeface="Times New Roman" panose="02020603050405020304" pitchFamily="18" charset="0"/>
              <a:cs typeface="Times New Roman" panose="02020603050405020304" pitchFamily="18" charset="0"/>
            </a:endParaRPr>
          </a:p>
          <a:p>
            <a:r>
              <a:rPr lang="en-IN" sz="2000" b="1" dirty="0">
                <a:solidFill>
                  <a:schemeClr val="tx1"/>
                </a:solidFill>
                <a:latin typeface="Times New Roman" panose="02020603050405020304" pitchFamily="18" charset="0"/>
                <a:cs typeface="Times New Roman" panose="02020603050405020304" pitchFamily="18" charset="0"/>
              </a:rPr>
              <a:t># Data Analysis - Release Year Analysis</a:t>
            </a:r>
          </a:p>
          <a:p>
            <a:endParaRPr lang="en-IN" sz="2000" b="1" dirty="0">
              <a:latin typeface="Times New Roman" panose="02020603050405020304" pitchFamily="18" charset="0"/>
              <a:cs typeface="Times New Roman" panose="02020603050405020304" pitchFamily="18" charset="0"/>
            </a:endParaRPr>
          </a:p>
          <a:p>
            <a:r>
              <a:rPr lang="en-IN" sz="2000" dirty="0" err="1">
                <a:solidFill>
                  <a:schemeClr val="tx1"/>
                </a:solidFill>
                <a:latin typeface="Times New Roman" panose="02020603050405020304" pitchFamily="18" charset="0"/>
                <a:cs typeface="Times New Roman" panose="02020603050405020304" pitchFamily="18" charset="0"/>
              </a:rPr>
              <a:t>release_year_count</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df</a:t>
            </a:r>
            <a:r>
              <a:rPr lang="en-IN" sz="2000" dirty="0">
                <a:solidFill>
                  <a:schemeClr val="tx1"/>
                </a:solidFill>
                <a:latin typeface="Times New Roman" panose="02020603050405020304" pitchFamily="18" charset="0"/>
                <a:cs typeface="Times New Roman" panose="02020603050405020304" pitchFamily="18" charset="0"/>
              </a:rPr>
              <a:t>['</a:t>
            </a:r>
            <a:r>
              <a:rPr lang="en-IN" sz="2000" dirty="0" err="1">
                <a:solidFill>
                  <a:schemeClr val="tx1"/>
                </a:solidFill>
                <a:latin typeface="Times New Roman" panose="02020603050405020304" pitchFamily="18" charset="0"/>
                <a:cs typeface="Times New Roman" panose="02020603050405020304" pitchFamily="18" charset="0"/>
              </a:rPr>
              <a:t>release_year</a:t>
            </a:r>
            <a:r>
              <a:rPr lang="en-IN" sz="2000" dirty="0">
                <a:solidFill>
                  <a:schemeClr val="tx1"/>
                </a:solidFill>
                <a:latin typeface="Times New Roman" panose="02020603050405020304" pitchFamily="18" charset="0"/>
                <a:cs typeface="Times New Roman" panose="02020603050405020304" pitchFamily="18" charset="0"/>
              </a:rPr>
              <a:t>'].</a:t>
            </a:r>
            <a:r>
              <a:rPr lang="en-IN" sz="2000" dirty="0" err="1">
                <a:solidFill>
                  <a:schemeClr val="tx1"/>
                </a:solidFill>
                <a:latin typeface="Times New Roman" panose="02020603050405020304" pitchFamily="18" charset="0"/>
                <a:cs typeface="Times New Roman" panose="02020603050405020304" pitchFamily="18" charset="0"/>
              </a:rPr>
              <a:t>value_counts</a:t>
            </a:r>
            <a:r>
              <a:rPr lang="en-IN" sz="2000" dirty="0">
                <a:solidFill>
                  <a:schemeClr val="tx1"/>
                </a:solidFill>
                <a:latin typeface="Times New Roman" panose="02020603050405020304" pitchFamily="18" charset="0"/>
                <a:cs typeface="Times New Roman" panose="02020603050405020304" pitchFamily="18" charset="0"/>
              </a:rPr>
              <a:t>().</a:t>
            </a:r>
            <a:r>
              <a:rPr lang="en-IN" sz="2000" dirty="0" err="1">
                <a:solidFill>
                  <a:schemeClr val="tx1"/>
                </a:solidFill>
                <a:latin typeface="Times New Roman" panose="02020603050405020304" pitchFamily="18" charset="0"/>
                <a:cs typeface="Times New Roman" panose="02020603050405020304" pitchFamily="18" charset="0"/>
              </a:rPr>
              <a:t>sort_index</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print("Release Year Analysis:")</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release_year_count</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err="1">
                <a:solidFill>
                  <a:schemeClr val="tx1"/>
                </a:solidFill>
                <a:latin typeface="Times New Roman" panose="02020603050405020304" pitchFamily="18" charset="0"/>
                <a:cs typeface="Times New Roman" panose="02020603050405020304" pitchFamily="18" charset="0"/>
              </a:rPr>
              <a:t>release_year_count.plot</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    kind='line',</a:t>
            </a:r>
          </a:p>
          <a:p>
            <a:r>
              <a:rPr lang="en-IN" sz="2000" dirty="0">
                <a:solidFill>
                  <a:schemeClr val="tx1"/>
                </a:solidFill>
                <a:latin typeface="Times New Roman" panose="02020603050405020304" pitchFamily="18" charset="0"/>
                <a:cs typeface="Times New Roman" panose="02020603050405020304" pitchFamily="18" charset="0"/>
              </a:rPr>
              <a:t>    title='Content Release Trend by Year',</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xlabel</a:t>
            </a:r>
            <a:r>
              <a:rPr lang="en-IN" sz="2000" dirty="0">
                <a:solidFill>
                  <a:schemeClr val="tx1"/>
                </a:solidFill>
                <a:latin typeface="Times New Roman" panose="02020603050405020304" pitchFamily="18" charset="0"/>
                <a:cs typeface="Times New Roman" panose="02020603050405020304" pitchFamily="18" charset="0"/>
              </a:rPr>
              <a:t>='Release Year',</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ylabel</a:t>
            </a:r>
            <a:r>
              <a:rPr lang="en-IN" sz="2000" dirty="0">
                <a:solidFill>
                  <a:schemeClr val="tx1"/>
                </a:solidFill>
                <a:latin typeface="Times New Roman" panose="02020603050405020304" pitchFamily="18" charset="0"/>
                <a:cs typeface="Times New Roman" panose="02020603050405020304" pitchFamily="18" charset="0"/>
              </a:rPr>
              <a:t>='Number of Titles',</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figsize</a:t>
            </a:r>
            <a:r>
              <a:rPr lang="en-IN" sz="2000" dirty="0">
                <a:solidFill>
                  <a:schemeClr val="tx1"/>
                </a:solidFill>
                <a:latin typeface="Times New Roman" panose="02020603050405020304" pitchFamily="18" charset="0"/>
                <a:cs typeface="Times New Roman" panose="02020603050405020304" pitchFamily="18" charset="0"/>
              </a:rPr>
              <a:t>=(10, 5))</a:t>
            </a:r>
          </a:p>
          <a:p>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12" name="Rounded Rectangle 6">
            <a:extLst>
              <a:ext uri="{FF2B5EF4-FFF2-40B4-BE49-F238E27FC236}">
                <a16:creationId xmlns:a16="http://schemas.microsoft.com/office/drawing/2014/main" id="{9449C49B-B4A7-7D0C-C9B6-36BFE760A8D4}"/>
              </a:ext>
            </a:extLst>
          </p:cNvPr>
          <p:cNvSpPr/>
          <p:nvPr/>
        </p:nvSpPr>
        <p:spPr>
          <a:xfrm>
            <a:off x="949016"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A4A2C608-05EC-2128-9E58-683EB1A589E5}"/>
              </a:ext>
            </a:extLst>
          </p:cNvPr>
          <p:cNvSpPr/>
          <p:nvPr/>
        </p:nvSpPr>
        <p:spPr>
          <a:xfrm>
            <a:off x="6229604" y="1454150"/>
            <a:ext cx="5468112" cy="4924160"/>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640BA4C1-9D11-E9D1-F042-C8651089A4F8}"/>
              </a:ext>
            </a:extLst>
          </p:cNvPr>
          <p:cNvSpPr/>
          <p:nvPr/>
        </p:nvSpPr>
        <p:spPr>
          <a:xfrm>
            <a:off x="6871708" y="1682137"/>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pic>
        <p:nvPicPr>
          <p:cNvPr id="9" name="Picture 8">
            <a:extLst>
              <a:ext uri="{FF2B5EF4-FFF2-40B4-BE49-F238E27FC236}">
                <a16:creationId xmlns:a16="http://schemas.microsoft.com/office/drawing/2014/main" id="{82B30E84-64BE-4A77-0CF5-5B11A2CDEA27}"/>
              </a:ext>
            </a:extLst>
          </p:cNvPr>
          <p:cNvPicPr>
            <a:picLocks noChangeAspect="1"/>
          </p:cNvPicPr>
          <p:nvPr/>
        </p:nvPicPr>
        <p:blipFill>
          <a:blip r:embed="rId6"/>
          <a:stretch>
            <a:fillRect/>
          </a:stretch>
        </p:blipFill>
        <p:spPr>
          <a:xfrm>
            <a:off x="6713607" y="2146612"/>
            <a:ext cx="4554161" cy="1282388"/>
          </a:xfrm>
          <a:prstGeom prst="rect">
            <a:avLst/>
          </a:prstGeom>
        </p:spPr>
      </p:pic>
      <p:pic>
        <p:nvPicPr>
          <p:cNvPr id="13" name="Picture 12">
            <a:extLst>
              <a:ext uri="{FF2B5EF4-FFF2-40B4-BE49-F238E27FC236}">
                <a16:creationId xmlns:a16="http://schemas.microsoft.com/office/drawing/2014/main" id="{876273BD-7804-7298-5855-874117BBB2D1}"/>
              </a:ext>
            </a:extLst>
          </p:cNvPr>
          <p:cNvPicPr>
            <a:picLocks noChangeAspect="1"/>
          </p:cNvPicPr>
          <p:nvPr/>
        </p:nvPicPr>
        <p:blipFill>
          <a:blip r:embed="rId7"/>
          <a:stretch>
            <a:fillRect/>
          </a:stretch>
        </p:blipFill>
        <p:spPr>
          <a:xfrm>
            <a:off x="6686579" y="3468290"/>
            <a:ext cx="4554161" cy="2654747"/>
          </a:xfrm>
          <a:prstGeom prst="rect">
            <a:avLst/>
          </a:prstGeom>
        </p:spPr>
      </p:pic>
    </p:spTree>
    <p:extLst>
      <p:ext uri="{BB962C8B-B14F-4D97-AF65-F5344CB8AC3E}">
        <p14:creationId xmlns:p14="http://schemas.microsoft.com/office/powerpoint/2010/main" val="225009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23883-49F4-F3D8-28B0-1C661EB569B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EC5717E3-5A60-333A-EBAB-368DC131E20B}"/>
              </a:ext>
            </a:extLst>
          </p:cNvPr>
          <p:cNvPicPr/>
          <p:nvPr/>
        </p:nvPicPr>
        <p:blipFill>
          <a:blip r:embed="rId2" cstate="print"/>
          <a:stretch>
            <a:fillRect/>
          </a:stretch>
        </p:blipFill>
        <p:spPr>
          <a:xfrm>
            <a:off x="116589" y="86469"/>
            <a:ext cx="1358249" cy="598086"/>
          </a:xfrm>
          <a:prstGeom prst="rect">
            <a:avLst/>
          </a:prstGeom>
        </p:spPr>
      </p:pic>
      <p:grpSp>
        <p:nvGrpSpPr>
          <p:cNvPr id="4" name="object 3">
            <a:extLst>
              <a:ext uri="{FF2B5EF4-FFF2-40B4-BE49-F238E27FC236}">
                <a16:creationId xmlns:a16="http://schemas.microsoft.com/office/drawing/2014/main" id="{5DA7DC4C-C5FC-C68D-F089-EE006D28A0E4}"/>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475ED267-DBD9-11D5-7853-060507419834}"/>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B090E39-FDF6-CF18-0CA7-D33C41370C0F}"/>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718D16A1-5051-253F-EA02-3D17D3ABD8A6}"/>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275C12C-1369-04FC-A0D3-AB3EC61AF8A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IN" sz="2400" b="1" dirty="0">
                  <a:solidFill>
                    <a:schemeClr val="bg1"/>
                  </a:solidFill>
                  <a:latin typeface="Times New Roman" panose="02020603050405020304" pitchFamily="18" charset="0"/>
                  <a:cs typeface="Times New Roman" panose="02020603050405020304" pitchFamily="18" charset="0"/>
                </a:rPr>
                <a:t>RATING ANALYSIS</a:t>
              </a:r>
              <a:endParaRPr sz="2400" b="1" dirty="0">
                <a:solidFill>
                  <a:schemeClr val="bg1"/>
                </a:solidFill>
                <a:latin typeface="Times New Roman" panose="02020603050405020304" pitchFamily="18" charset="0"/>
                <a:cs typeface="Times New Roman" panose="02020603050405020304" pitchFamily="18" charset="0"/>
              </a:endParaRPr>
            </a:p>
          </p:txBody>
        </p:sp>
      </p:grpSp>
      <p:sp>
        <p:nvSpPr>
          <p:cNvPr id="10" name="Rounded Rectangle 5">
            <a:extLst>
              <a:ext uri="{FF2B5EF4-FFF2-40B4-BE49-F238E27FC236}">
                <a16:creationId xmlns:a16="http://schemas.microsoft.com/office/drawing/2014/main" id="{2C99D722-F9F4-5EF3-D8F0-2AF992288689}"/>
              </a:ext>
            </a:extLst>
          </p:cNvPr>
          <p:cNvSpPr/>
          <p:nvPr/>
        </p:nvSpPr>
        <p:spPr>
          <a:xfrm>
            <a:off x="430277" y="1159365"/>
            <a:ext cx="5532120" cy="5290674"/>
          </a:xfrm>
          <a:prstGeom prst="roundRect">
            <a:avLst/>
          </a:prstGeom>
          <a:solidFill>
            <a:srgbClr val="F7F9FC"/>
          </a:solidFill>
          <a:ln w="12700">
            <a:solidFill>
              <a:srgbClr val="E0E7F1"/>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dirty="0">
                <a:solidFill>
                  <a:schemeClr val="tx1"/>
                </a:solidFill>
                <a:latin typeface="Times New Roman" panose="02020603050405020304" pitchFamily="18" charset="0"/>
                <a:cs typeface="Times New Roman" panose="02020603050405020304" pitchFamily="18" charset="0"/>
              </a:rPr>
              <a:t># Data Analysis - Rating Analysis</a:t>
            </a:r>
          </a:p>
          <a:p>
            <a:endParaRPr lang="en-IN" sz="2000" b="1" dirty="0">
              <a:solidFill>
                <a:schemeClr val="tx1"/>
              </a:solidFill>
              <a:latin typeface="Times New Roman" panose="02020603050405020304" pitchFamily="18" charset="0"/>
              <a:cs typeface="Times New Roman" panose="02020603050405020304" pitchFamily="18" charset="0"/>
            </a:endParaRPr>
          </a:p>
          <a:p>
            <a:r>
              <a:rPr lang="en-IN" sz="2000" dirty="0" err="1">
                <a:solidFill>
                  <a:schemeClr val="tx1"/>
                </a:solidFill>
                <a:latin typeface="Times New Roman" panose="02020603050405020304" pitchFamily="18" charset="0"/>
                <a:cs typeface="Times New Roman" panose="02020603050405020304" pitchFamily="18" charset="0"/>
              </a:rPr>
              <a:t>rating_count</a:t>
            </a:r>
            <a:r>
              <a:rPr lang="en-IN" sz="2000" dirty="0">
                <a:solidFill>
                  <a:schemeClr val="tx1"/>
                </a:solidFill>
                <a:latin typeface="Times New Roman" panose="02020603050405020304" pitchFamily="18" charset="0"/>
                <a:cs typeface="Times New Roman" panose="02020603050405020304" pitchFamily="18" charset="0"/>
              </a:rPr>
              <a:t> = </a:t>
            </a:r>
            <a:r>
              <a:rPr lang="en-IN" sz="2000" dirty="0" err="1">
                <a:solidFill>
                  <a:schemeClr val="tx1"/>
                </a:solidFill>
                <a:latin typeface="Times New Roman" panose="02020603050405020304" pitchFamily="18" charset="0"/>
                <a:cs typeface="Times New Roman" panose="02020603050405020304" pitchFamily="18" charset="0"/>
              </a:rPr>
              <a:t>df</a:t>
            </a:r>
            <a:r>
              <a:rPr lang="en-IN" sz="2000" dirty="0">
                <a:solidFill>
                  <a:schemeClr val="tx1"/>
                </a:solidFill>
                <a:latin typeface="Times New Roman" panose="02020603050405020304" pitchFamily="18" charset="0"/>
                <a:cs typeface="Times New Roman" panose="02020603050405020304" pitchFamily="18" charset="0"/>
              </a:rPr>
              <a:t>['rating'].</a:t>
            </a:r>
            <a:r>
              <a:rPr lang="en-IN" sz="2000" dirty="0" err="1">
                <a:solidFill>
                  <a:schemeClr val="tx1"/>
                </a:solidFill>
                <a:latin typeface="Times New Roman" panose="02020603050405020304" pitchFamily="18" charset="0"/>
                <a:cs typeface="Times New Roman" panose="02020603050405020304" pitchFamily="18" charset="0"/>
              </a:rPr>
              <a:t>value_counts</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print("Rating Analysis:")</a:t>
            </a:r>
          </a:p>
          <a:p>
            <a:r>
              <a:rPr lang="en-IN" sz="2000" dirty="0">
                <a:solidFill>
                  <a:schemeClr val="tx1"/>
                </a:solidFill>
                <a:latin typeface="Times New Roman" panose="02020603050405020304" pitchFamily="18" charset="0"/>
                <a:cs typeface="Times New Roman" panose="02020603050405020304" pitchFamily="18" charset="0"/>
              </a:rPr>
              <a:t>print(</a:t>
            </a:r>
            <a:r>
              <a:rPr lang="en-IN" sz="2000" dirty="0" err="1">
                <a:solidFill>
                  <a:schemeClr val="tx1"/>
                </a:solidFill>
                <a:latin typeface="Times New Roman" panose="02020603050405020304" pitchFamily="18" charset="0"/>
                <a:cs typeface="Times New Roman" panose="02020603050405020304" pitchFamily="18" charset="0"/>
              </a:rPr>
              <a:t>rating_count</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err="1">
                <a:solidFill>
                  <a:schemeClr val="tx1"/>
                </a:solidFill>
                <a:latin typeface="Times New Roman" panose="02020603050405020304" pitchFamily="18" charset="0"/>
                <a:cs typeface="Times New Roman" panose="02020603050405020304" pitchFamily="18" charset="0"/>
              </a:rPr>
              <a:t>rating_count.plot</a:t>
            </a:r>
            <a:r>
              <a:rPr lang="en-IN" sz="2000" dirty="0">
                <a:solidFill>
                  <a:schemeClr val="tx1"/>
                </a:solidFill>
                <a:latin typeface="Times New Roman" panose="02020603050405020304" pitchFamily="18" charset="0"/>
                <a:cs typeface="Times New Roman" panose="02020603050405020304" pitchFamily="18" charset="0"/>
              </a:rPr>
              <a:t>(</a:t>
            </a:r>
          </a:p>
          <a:p>
            <a:r>
              <a:rPr lang="en-IN" sz="2000" dirty="0">
                <a:solidFill>
                  <a:schemeClr val="tx1"/>
                </a:solidFill>
                <a:latin typeface="Times New Roman" panose="02020603050405020304" pitchFamily="18" charset="0"/>
                <a:cs typeface="Times New Roman" panose="02020603050405020304" pitchFamily="18" charset="0"/>
              </a:rPr>
              <a:t>    kind='bar',</a:t>
            </a:r>
          </a:p>
          <a:p>
            <a:r>
              <a:rPr lang="en-IN" sz="2000" dirty="0">
                <a:solidFill>
                  <a:schemeClr val="tx1"/>
                </a:solidFill>
                <a:latin typeface="Times New Roman" panose="02020603050405020304" pitchFamily="18" charset="0"/>
                <a:cs typeface="Times New Roman" panose="02020603050405020304" pitchFamily="18" charset="0"/>
              </a:rPr>
              <a:t>    title='Content Rating Distribution',</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xlabel</a:t>
            </a:r>
            <a:r>
              <a:rPr lang="en-IN" sz="2000" dirty="0">
                <a:solidFill>
                  <a:schemeClr val="tx1"/>
                </a:solidFill>
                <a:latin typeface="Times New Roman" panose="02020603050405020304" pitchFamily="18" charset="0"/>
                <a:cs typeface="Times New Roman" panose="02020603050405020304" pitchFamily="18" charset="0"/>
              </a:rPr>
              <a:t>='Rating',</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ylabel</a:t>
            </a:r>
            <a:r>
              <a:rPr lang="en-IN" sz="2000" dirty="0">
                <a:solidFill>
                  <a:schemeClr val="tx1"/>
                </a:solidFill>
                <a:latin typeface="Times New Roman" panose="02020603050405020304" pitchFamily="18" charset="0"/>
                <a:cs typeface="Times New Roman" panose="02020603050405020304" pitchFamily="18" charset="0"/>
              </a:rPr>
              <a:t>='Number of Titles',</a:t>
            </a:r>
          </a:p>
          <a:p>
            <a:r>
              <a:rPr lang="en-IN" sz="2000" dirty="0">
                <a:solidFill>
                  <a:schemeClr val="tx1"/>
                </a:solidFill>
                <a:latin typeface="Times New Roman" panose="02020603050405020304" pitchFamily="18" charset="0"/>
                <a:cs typeface="Times New Roman" panose="02020603050405020304" pitchFamily="18" charset="0"/>
              </a:rPr>
              <a:t>    </a:t>
            </a:r>
            <a:r>
              <a:rPr lang="en-IN" sz="2000" dirty="0" err="1">
                <a:solidFill>
                  <a:schemeClr val="tx1"/>
                </a:solidFill>
                <a:latin typeface="Times New Roman" panose="02020603050405020304" pitchFamily="18" charset="0"/>
                <a:cs typeface="Times New Roman" panose="02020603050405020304" pitchFamily="18" charset="0"/>
              </a:rPr>
              <a:t>figsize</a:t>
            </a:r>
            <a:r>
              <a:rPr lang="en-IN" sz="2000" dirty="0">
                <a:solidFill>
                  <a:schemeClr val="tx1"/>
                </a:solidFill>
                <a:latin typeface="Times New Roman" panose="02020603050405020304" pitchFamily="18" charset="0"/>
                <a:cs typeface="Times New Roman" panose="02020603050405020304" pitchFamily="18" charset="0"/>
              </a:rPr>
              <a:t>=(10, 5))</a:t>
            </a:r>
          </a:p>
          <a:p>
            <a:endParaRPr lang="en-IN" dirty="0">
              <a:solidFill>
                <a:schemeClr val="tx1"/>
              </a:solidFill>
            </a:endParaRPr>
          </a:p>
        </p:txBody>
      </p:sp>
      <p:sp>
        <p:nvSpPr>
          <p:cNvPr id="12" name="Rounded Rectangle 6">
            <a:extLst>
              <a:ext uri="{FF2B5EF4-FFF2-40B4-BE49-F238E27FC236}">
                <a16:creationId xmlns:a16="http://schemas.microsoft.com/office/drawing/2014/main" id="{5E65AA76-DC1C-4742-C7EF-686BDE2206B3}"/>
              </a:ext>
            </a:extLst>
          </p:cNvPr>
          <p:cNvSpPr/>
          <p:nvPr/>
        </p:nvSpPr>
        <p:spPr>
          <a:xfrm>
            <a:off x="823745" y="1521340"/>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CODE :</a:t>
            </a:r>
          </a:p>
        </p:txBody>
      </p:sp>
      <p:sp>
        <p:nvSpPr>
          <p:cNvPr id="14" name="Rounded Rectangle 9">
            <a:extLst>
              <a:ext uri="{FF2B5EF4-FFF2-40B4-BE49-F238E27FC236}">
                <a16:creationId xmlns:a16="http://schemas.microsoft.com/office/drawing/2014/main" id="{C807F6CE-7EEC-0ED4-4A60-E4A043874D5C}"/>
              </a:ext>
            </a:extLst>
          </p:cNvPr>
          <p:cNvSpPr/>
          <p:nvPr/>
        </p:nvSpPr>
        <p:spPr>
          <a:xfrm>
            <a:off x="6229605" y="1159365"/>
            <a:ext cx="5468112" cy="5290674"/>
          </a:xfrm>
          <a:prstGeom prst="roundRect">
            <a:avLst/>
          </a:prstGeom>
          <a:solidFill>
            <a:srgbClr val="FAFCF9"/>
          </a:solidFill>
          <a:ln w="12700">
            <a:solidFill>
              <a:srgbClr val="CA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6">
            <a:extLst>
              <a:ext uri="{FF2B5EF4-FFF2-40B4-BE49-F238E27FC236}">
                <a16:creationId xmlns:a16="http://schemas.microsoft.com/office/drawing/2014/main" id="{19F060E6-60C8-25CB-52F1-B5381E5B97B5}"/>
              </a:ext>
            </a:extLst>
          </p:cNvPr>
          <p:cNvSpPr/>
          <p:nvPr/>
        </p:nvSpPr>
        <p:spPr>
          <a:xfrm>
            <a:off x="6818438" y="1525151"/>
            <a:ext cx="1302185" cy="343307"/>
          </a:xfrm>
          <a:prstGeom prst="roundRect">
            <a:avLst/>
          </a:prstGeom>
          <a:solidFill>
            <a:srgbClr val="1531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OUTPUT :</a:t>
            </a:r>
          </a:p>
        </p:txBody>
      </p:sp>
      <p:pic>
        <p:nvPicPr>
          <p:cNvPr id="13" name="Picture 12">
            <a:extLst>
              <a:ext uri="{FF2B5EF4-FFF2-40B4-BE49-F238E27FC236}">
                <a16:creationId xmlns:a16="http://schemas.microsoft.com/office/drawing/2014/main" id="{931B4BC4-E68A-6210-0A31-823F47E836A0}"/>
              </a:ext>
            </a:extLst>
          </p:cNvPr>
          <p:cNvPicPr>
            <a:picLocks noChangeAspect="1"/>
          </p:cNvPicPr>
          <p:nvPr/>
        </p:nvPicPr>
        <p:blipFill>
          <a:blip r:embed="rId6"/>
          <a:stretch>
            <a:fillRect/>
          </a:stretch>
        </p:blipFill>
        <p:spPr>
          <a:xfrm>
            <a:off x="6818437" y="1949088"/>
            <a:ext cx="4419833" cy="1403712"/>
          </a:xfrm>
          <a:prstGeom prst="rect">
            <a:avLst/>
          </a:prstGeom>
        </p:spPr>
      </p:pic>
      <p:pic>
        <p:nvPicPr>
          <p:cNvPr id="17" name="Picture 16">
            <a:extLst>
              <a:ext uri="{FF2B5EF4-FFF2-40B4-BE49-F238E27FC236}">
                <a16:creationId xmlns:a16="http://schemas.microsoft.com/office/drawing/2014/main" id="{CCD2B028-71D2-0B6C-F9DA-62EE120410B6}"/>
              </a:ext>
            </a:extLst>
          </p:cNvPr>
          <p:cNvPicPr>
            <a:picLocks noChangeAspect="1"/>
          </p:cNvPicPr>
          <p:nvPr/>
        </p:nvPicPr>
        <p:blipFill>
          <a:blip r:embed="rId7"/>
          <a:stretch>
            <a:fillRect/>
          </a:stretch>
        </p:blipFill>
        <p:spPr>
          <a:xfrm>
            <a:off x="6818437" y="3404934"/>
            <a:ext cx="4567318" cy="2934033"/>
          </a:xfrm>
          <a:prstGeom prst="rect">
            <a:avLst/>
          </a:prstGeom>
        </p:spPr>
      </p:pic>
    </p:spTree>
    <p:extLst>
      <p:ext uri="{BB962C8B-B14F-4D97-AF65-F5344CB8AC3E}">
        <p14:creationId xmlns:p14="http://schemas.microsoft.com/office/powerpoint/2010/main" val="3126870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A91F-E345-5292-D2B5-6970E975E85A}"/>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FC5E916D-CD95-2FFE-15C0-7290B47B10F7}"/>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A92C2EAE-E5AB-3D53-E470-7DB23A96F16C}"/>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6EC08B04-E334-2039-DE7C-D674A3D2ABA2}"/>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594AFC47-C31C-32D2-0C5D-6478F7709B22}"/>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D8749A5-0C3D-FDEA-F0E2-3CEA107983E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FAA7A1FD-337F-80AE-C8EF-F51B3DD71A8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200" b="1" dirty="0">
                  <a:solidFill>
                    <a:schemeClr val="bg1"/>
                  </a:solidFill>
                  <a:latin typeface="Times New Roman" panose="02020603050405020304" pitchFamily="18" charset="0"/>
                  <a:cs typeface="Times New Roman" panose="02020603050405020304" pitchFamily="18" charset="0"/>
                </a:rPr>
                <a:t>EXPECTED Vs ACTUAL OUTPUTS</a:t>
              </a:r>
              <a:endParaRPr sz="2200" b="1" dirty="0">
                <a:solidFill>
                  <a:schemeClr val="bg1"/>
                </a:solidFill>
                <a:latin typeface="Times New Roman" panose="02020603050405020304" pitchFamily="18" charset="0"/>
                <a:cs typeface="Times New Roman" panose="02020603050405020304" pitchFamily="18" charset="0"/>
              </a:endParaRPr>
            </a:p>
          </p:txBody>
        </p:sp>
      </p:grpSp>
      <p:graphicFrame>
        <p:nvGraphicFramePr>
          <p:cNvPr id="2" name="Table 1">
            <a:extLst>
              <a:ext uri="{FF2B5EF4-FFF2-40B4-BE49-F238E27FC236}">
                <a16:creationId xmlns:a16="http://schemas.microsoft.com/office/drawing/2014/main" id="{0B06F441-976A-D746-B456-1116DA27FDA0}"/>
              </a:ext>
            </a:extLst>
          </p:cNvPr>
          <p:cNvGraphicFramePr>
            <a:graphicFrameLocks noGrp="1"/>
          </p:cNvGraphicFramePr>
          <p:nvPr>
            <p:extLst>
              <p:ext uri="{D42A27DB-BD31-4B8C-83A1-F6EECF244321}">
                <p14:modId xmlns:p14="http://schemas.microsoft.com/office/powerpoint/2010/main" val="2241652278"/>
              </p:ext>
            </p:extLst>
          </p:nvPr>
        </p:nvGraphicFramePr>
        <p:xfrm>
          <a:off x="795712" y="1414859"/>
          <a:ext cx="10690434" cy="4568850"/>
        </p:xfrm>
        <a:graphic>
          <a:graphicData uri="http://schemas.openxmlformats.org/drawingml/2006/table">
            <a:tbl>
              <a:tblPr firstRow="1" bandRow="1">
                <a:tableStyleId>{073A0DAA-6AF3-43AB-8588-CEC1D06C72B9}</a:tableStyleId>
              </a:tblPr>
              <a:tblGrid>
                <a:gridCol w="3563478">
                  <a:extLst>
                    <a:ext uri="{9D8B030D-6E8A-4147-A177-3AD203B41FA5}">
                      <a16:colId xmlns:a16="http://schemas.microsoft.com/office/drawing/2014/main" val="3330696920"/>
                    </a:ext>
                  </a:extLst>
                </a:gridCol>
                <a:gridCol w="3563478">
                  <a:extLst>
                    <a:ext uri="{9D8B030D-6E8A-4147-A177-3AD203B41FA5}">
                      <a16:colId xmlns:a16="http://schemas.microsoft.com/office/drawing/2014/main" val="3213916794"/>
                    </a:ext>
                  </a:extLst>
                </a:gridCol>
                <a:gridCol w="3563478">
                  <a:extLst>
                    <a:ext uri="{9D8B030D-6E8A-4147-A177-3AD203B41FA5}">
                      <a16:colId xmlns:a16="http://schemas.microsoft.com/office/drawing/2014/main" val="3650548941"/>
                    </a:ext>
                  </a:extLst>
                </a:gridCol>
              </a:tblGrid>
              <a:tr h="507650">
                <a:tc>
                  <a:txBody>
                    <a:bodyPr/>
                    <a:lstStyle/>
                    <a:p>
                      <a:pPr algn="ctr"/>
                      <a:r>
                        <a:rPr lang="en-US"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EXPECTED RESULT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ACTUAL RESULT</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8988298"/>
                  </a:ext>
                </a:extLst>
              </a:tr>
              <a:tr h="507650">
                <a:tc>
                  <a:txBody>
                    <a:bodyPr/>
                    <a:lstStyle/>
                    <a:p>
                      <a:pPr algn="ctr"/>
                      <a:r>
                        <a:rPr lang="en-US" dirty="0">
                          <a:latin typeface="Times New Roman" panose="02020603050405020304" pitchFamily="18" charset="0"/>
                          <a:cs typeface="Times New Roman" panose="02020603050405020304" pitchFamily="18" charset="0"/>
                        </a:rPr>
                        <a:t>DATASET SHAPE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8,807 ×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latin typeface="Times New Roman" panose="02020603050405020304" pitchFamily="18" charset="0"/>
                          <a:cs typeface="Times New Roman" panose="02020603050405020304" pitchFamily="18" charset="0"/>
                        </a:rPr>
                        <a:t>8,807 ×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3002323"/>
                  </a:ext>
                </a:extLst>
              </a:tr>
              <a:tr h="507650">
                <a:tc>
                  <a:txBody>
                    <a:bodyPr/>
                    <a:lstStyle/>
                    <a:p>
                      <a:pPr algn="ctr"/>
                      <a:r>
                        <a:rPr lang="en-US" dirty="0">
                          <a:latin typeface="Times New Roman" panose="02020603050405020304" pitchFamily="18" charset="0"/>
                          <a:cs typeface="Times New Roman" panose="02020603050405020304" pitchFamily="18" charset="0"/>
                        </a:rPr>
                        <a:t>MISSING VALUES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IDENTIFIED AND HANDLED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HANDLED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291378"/>
                  </a:ext>
                </a:extLst>
              </a:tr>
              <a:tr h="507650">
                <a:tc>
                  <a:txBody>
                    <a:bodyPr/>
                    <a:lstStyle/>
                    <a:p>
                      <a:pPr algn="ctr"/>
                      <a:r>
                        <a:rPr lang="en-US" dirty="0">
                          <a:latin typeface="Times New Roman" panose="02020603050405020304" pitchFamily="18" charset="0"/>
                          <a:cs typeface="Times New Roman" panose="02020603050405020304" pitchFamily="18" charset="0"/>
                        </a:rPr>
                        <a:t>DUPLICATE RECORDS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NO DUPLICATES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0</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9156944"/>
                  </a:ext>
                </a:extLst>
              </a:tr>
              <a:tr h="507650">
                <a:tc>
                  <a:txBody>
                    <a:bodyPr/>
                    <a:lstStyle/>
                    <a:p>
                      <a:pPr algn="ctr"/>
                      <a:r>
                        <a:rPr lang="en-US" dirty="0">
                          <a:latin typeface="Times New Roman" panose="02020603050405020304" pitchFamily="18" charset="0"/>
                          <a:cs typeface="Times New Roman" panose="02020603050405020304" pitchFamily="18" charset="0"/>
                        </a:rPr>
                        <a:t>CONTENT TYPES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2 CATEGORIES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MOVIES &amp; TV SHOWS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127435"/>
                  </a:ext>
                </a:extLst>
              </a:tr>
              <a:tr h="507650">
                <a:tc>
                  <a:txBody>
                    <a:bodyPr/>
                    <a:lstStyle/>
                    <a:p>
                      <a:pPr algn="ctr"/>
                      <a:r>
                        <a:rPr lang="en-US" dirty="0">
                          <a:latin typeface="Times New Roman" panose="02020603050405020304" pitchFamily="18" charset="0"/>
                          <a:cs typeface="Times New Roman" panose="02020603050405020304" pitchFamily="18" charset="0"/>
                        </a:rPr>
                        <a:t>COUNTRY ANALYSIS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TOP 10 COUNTRIES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GENERATED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006826"/>
                  </a:ext>
                </a:extLst>
              </a:tr>
              <a:tr h="507650">
                <a:tc>
                  <a:txBody>
                    <a:bodyPr/>
                    <a:lstStyle/>
                    <a:p>
                      <a:pPr algn="ctr"/>
                      <a:r>
                        <a:rPr lang="en-US" dirty="0">
                          <a:latin typeface="Times New Roman" panose="02020603050405020304" pitchFamily="18" charset="0"/>
                          <a:cs typeface="Times New Roman" panose="02020603050405020304" pitchFamily="18" charset="0"/>
                        </a:rPr>
                        <a:t>GENRE ANALYSIS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TOP 10 GENRES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GENERATED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7597034"/>
                  </a:ext>
                </a:extLst>
              </a:tr>
              <a:tr h="507650">
                <a:tc>
                  <a:txBody>
                    <a:bodyPr/>
                    <a:lstStyle/>
                    <a:p>
                      <a:pPr algn="ctr"/>
                      <a:r>
                        <a:rPr lang="en-US" dirty="0">
                          <a:latin typeface="Times New Roman" panose="02020603050405020304" pitchFamily="18" charset="0"/>
                          <a:cs typeface="Times New Roman" panose="02020603050405020304" pitchFamily="18" charset="0"/>
                        </a:rPr>
                        <a:t>RATING ANALYSIS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RATING DISTRIBUTION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GENERATED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9059742"/>
                  </a:ext>
                </a:extLst>
              </a:tr>
              <a:tr h="507650">
                <a:tc>
                  <a:txBody>
                    <a:bodyPr/>
                    <a:lstStyle/>
                    <a:p>
                      <a:pPr algn="ctr"/>
                      <a:r>
                        <a:rPr lang="en-US" dirty="0">
                          <a:latin typeface="Times New Roman" panose="02020603050405020304" pitchFamily="18" charset="0"/>
                          <a:cs typeface="Times New Roman" panose="02020603050405020304" pitchFamily="18" charset="0"/>
                        </a:rPr>
                        <a:t>RELEASE YEAR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YEAR-WISE ANALYSIS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GENERATED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624875"/>
                  </a:ext>
                </a:extLst>
              </a:tr>
            </a:tbl>
          </a:graphicData>
        </a:graphic>
      </p:graphicFrame>
    </p:spTree>
    <p:extLst>
      <p:ext uri="{BB962C8B-B14F-4D97-AF65-F5344CB8AC3E}">
        <p14:creationId xmlns:p14="http://schemas.microsoft.com/office/powerpoint/2010/main" val="3603880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E73D9-467C-0F24-83DC-3F9953AE349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5612A45-1240-EA73-DCD9-1B9A48B4E4A1}"/>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1312792C-3243-5217-D903-371C8F459E39}"/>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E5CD6C42-EF0E-5A6A-E533-32621A10ECF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C6ADDBB-8832-F394-A7E7-2725055D7D08}"/>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F4B21B96-ADD7-A7A1-B6B4-FD217985E23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A89CA69-3DE2-698F-4389-33CEEE16945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DATA VISUALIZATION</a:t>
              </a:r>
              <a:endParaRPr sz="2400" b="1" dirty="0">
                <a:solidFill>
                  <a:schemeClr val="bg1"/>
                </a:solidFill>
                <a:latin typeface="Times New Roman" panose="02020603050405020304" pitchFamily="18" charset="0"/>
                <a:cs typeface="Times New Roman" panose="02020603050405020304" pitchFamily="18" charset="0"/>
              </a:endParaRPr>
            </a:p>
          </p:txBody>
        </p:sp>
      </p:grpSp>
      <p:pic>
        <p:nvPicPr>
          <p:cNvPr id="9" name="Picture 8">
            <a:extLst>
              <a:ext uri="{FF2B5EF4-FFF2-40B4-BE49-F238E27FC236}">
                <a16:creationId xmlns:a16="http://schemas.microsoft.com/office/drawing/2014/main" id="{89914F08-56FE-83EB-0B5F-72F738F3EE62}"/>
              </a:ext>
            </a:extLst>
          </p:cNvPr>
          <p:cNvPicPr>
            <a:picLocks noChangeAspect="1"/>
          </p:cNvPicPr>
          <p:nvPr/>
        </p:nvPicPr>
        <p:blipFill>
          <a:blip r:embed="rId6"/>
          <a:stretch>
            <a:fillRect/>
          </a:stretch>
        </p:blipFill>
        <p:spPr>
          <a:xfrm>
            <a:off x="448318" y="1159364"/>
            <a:ext cx="3886200" cy="3682799"/>
          </a:xfrm>
          <a:prstGeom prst="rect">
            <a:avLst/>
          </a:prstGeom>
        </p:spPr>
      </p:pic>
      <p:pic>
        <p:nvPicPr>
          <p:cNvPr id="11" name="Picture 10">
            <a:extLst>
              <a:ext uri="{FF2B5EF4-FFF2-40B4-BE49-F238E27FC236}">
                <a16:creationId xmlns:a16="http://schemas.microsoft.com/office/drawing/2014/main" id="{5A8814E2-666C-7625-429C-47625A26DA35}"/>
              </a:ext>
            </a:extLst>
          </p:cNvPr>
          <p:cNvPicPr>
            <a:picLocks noChangeAspect="1"/>
          </p:cNvPicPr>
          <p:nvPr/>
        </p:nvPicPr>
        <p:blipFill>
          <a:blip r:embed="rId7"/>
          <a:stretch>
            <a:fillRect/>
          </a:stretch>
        </p:blipFill>
        <p:spPr>
          <a:xfrm>
            <a:off x="4487492" y="1225197"/>
            <a:ext cx="3809532" cy="3616966"/>
          </a:xfrm>
          <a:prstGeom prst="rect">
            <a:avLst/>
          </a:prstGeom>
        </p:spPr>
      </p:pic>
      <p:pic>
        <p:nvPicPr>
          <p:cNvPr id="13" name="Picture 12">
            <a:extLst>
              <a:ext uri="{FF2B5EF4-FFF2-40B4-BE49-F238E27FC236}">
                <a16:creationId xmlns:a16="http://schemas.microsoft.com/office/drawing/2014/main" id="{1383FF5F-82DC-A355-5D1C-7F73F1FA938F}"/>
              </a:ext>
            </a:extLst>
          </p:cNvPr>
          <p:cNvPicPr>
            <a:picLocks noChangeAspect="1"/>
          </p:cNvPicPr>
          <p:nvPr/>
        </p:nvPicPr>
        <p:blipFill>
          <a:blip r:embed="rId8"/>
          <a:stretch>
            <a:fillRect/>
          </a:stretch>
        </p:blipFill>
        <p:spPr>
          <a:xfrm>
            <a:off x="8173893" y="1414859"/>
            <a:ext cx="3809532" cy="3427304"/>
          </a:xfrm>
          <a:prstGeom prst="rect">
            <a:avLst/>
          </a:prstGeom>
        </p:spPr>
      </p:pic>
      <p:sp>
        <p:nvSpPr>
          <p:cNvPr id="15" name="TextBox 14">
            <a:extLst>
              <a:ext uri="{FF2B5EF4-FFF2-40B4-BE49-F238E27FC236}">
                <a16:creationId xmlns:a16="http://schemas.microsoft.com/office/drawing/2014/main" id="{5BFDA26D-EB20-D563-857B-E18A1FEF8E4D}"/>
              </a:ext>
            </a:extLst>
          </p:cNvPr>
          <p:cNvSpPr txBox="1"/>
          <p:nvPr/>
        </p:nvSpPr>
        <p:spPr>
          <a:xfrm>
            <a:off x="701804" y="5123964"/>
            <a:ext cx="3687684" cy="923330"/>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Bar Chart – Movies vs TV Shows</a:t>
            </a:r>
          </a:p>
          <a:p>
            <a:pPr>
              <a:buNone/>
            </a:pPr>
            <a:r>
              <a:rPr lang="en-IN" dirty="0">
                <a:latin typeface="Times New Roman" panose="02020603050405020304" pitchFamily="18" charset="0"/>
                <a:cs typeface="Times New Roman" panose="02020603050405020304" pitchFamily="18" charset="0"/>
              </a:rPr>
              <a:t>Compares the number of movies and TV shows.</a:t>
            </a:r>
          </a:p>
        </p:txBody>
      </p:sp>
      <p:sp>
        <p:nvSpPr>
          <p:cNvPr id="17" name="TextBox 16">
            <a:extLst>
              <a:ext uri="{FF2B5EF4-FFF2-40B4-BE49-F238E27FC236}">
                <a16:creationId xmlns:a16="http://schemas.microsoft.com/office/drawing/2014/main" id="{340C4C1B-33ED-E29E-A7B3-196D10D6A96D}"/>
              </a:ext>
            </a:extLst>
          </p:cNvPr>
          <p:cNvSpPr txBox="1"/>
          <p:nvPr/>
        </p:nvSpPr>
        <p:spPr>
          <a:xfrm>
            <a:off x="4517284" y="5123964"/>
            <a:ext cx="4009741"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Horizontal Bar Chart – Countries</a:t>
            </a:r>
          </a:p>
          <a:p>
            <a:pPr>
              <a:buNone/>
            </a:pPr>
            <a:r>
              <a:rPr lang="en-IN" dirty="0">
                <a:latin typeface="Times New Roman" panose="02020603050405020304" pitchFamily="18" charset="0"/>
                <a:cs typeface="Times New Roman" panose="02020603050405020304" pitchFamily="18" charset="0"/>
              </a:rPr>
              <a:t>Displays the top 10 countries.</a:t>
            </a:r>
          </a:p>
        </p:txBody>
      </p:sp>
      <p:sp>
        <p:nvSpPr>
          <p:cNvPr id="19" name="TextBox 18">
            <a:extLst>
              <a:ext uri="{FF2B5EF4-FFF2-40B4-BE49-F238E27FC236}">
                <a16:creationId xmlns:a16="http://schemas.microsoft.com/office/drawing/2014/main" id="{7BB2D5DC-BDD0-05B3-EE37-E0B4F86D547B}"/>
              </a:ext>
            </a:extLst>
          </p:cNvPr>
          <p:cNvSpPr txBox="1"/>
          <p:nvPr/>
        </p:nvSpPr>
        <p:spPr>
          <a:xfrm>
            <a:off x="8297024" y="5164135"/>
            <a:ext cx="3809532"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Bar Chart – Genres</a:t>
            </a:r>
          </a:p>
          <a:p>
            <a:pPr>
              <a:buNone/>
            </a:pPr>
            <a:r>
              <a:rPr lang="en-IN" dirty="0">
                <a:latin typeface="Times New Roman" panose="02020603050405020304" pitchFamily="18" charset="0"/>
                <a:cs typeface="Times New Roman" panose="02020603050405020304" pitchFamily="18" charset="0"/>
              </a:rPr>
              <a:t>Displays the most common genres.</a:t>
            </a:r>
          </a:p>
        </p:txBody>
      </p:sp>
    </p:spTree>
    <p:extLst>
      <p:ext uri="{BB962C8B-B14F-4D97-AF65-F5344CB8AC3E}">
        <p14:creationId xmlns:p14="http://schemas.microsoft.com/office/powerpoint/2010/main" val="3897757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05FCE-438E-F900-6387-D9444BA8214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55D91101-66D9-CA28-F2C5-D2144F6357F6}"/>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72E26EE3-34F0-807E-90FB-4553006873B3}"/>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38DBBC54-8477-CE37-32ED-54C48DD9E31E}"/>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DCD3B43-B6F5-438A-5A06-7B53D37DCF8B}"/>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A206E8F5-C3A7-D4B4-3348-4BF7651499E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35090CA2-A42C-7D32-111F-F205652A3C0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400" b="1" dirty="0">
                  <a:solidFill>
                    <a:schemeClr val="bg1"/>
                  </a:solidFill>
                  <a:latin typeface="Times New Roman" panose="02020603050405020304" pitchFamily="18" charset="0"/>
                  <a:cs typeface="Times New Roman" panose="02020603050405020304" pitchFamily="18" charset="0"/>
                </a:rPr>
                <a:t>DATA VISUALIZATION</a:t>
              </a:r>
              <a:endParaRPr sz="2400" b="1" dirty="0">
                <a:solidFill>
                  <a:schemeClr val="bg1"/>
                </a:solidFill>
                <a:latin typeface="Times New Roman" panose="02020603050405020304" pitchFamily="18" charset="0"/>
                <a:cs typeface="Times New Roman" panose="02020603050405020304" pitchFamily="18" charset="0"/>
              </a:endParaRPr>
            </a:p>
          </p:txBody>
        </p:sp>
      </p:grpSp>
      <p:pic>
        <p:nvPicPr>
          <p:cNvPr id="9" name="Picture 8">
            <a:extLst>
              <a:ext uri="{FF2B5EF4-FFF2-40B4-BE49-F238E27FC236}">
                <a16:creationId xmlns:a16="http://schemas.microsoft.com/office/drawing/2014/main" id="{5FAE43C1-7FDD-1CD0-0B61-30665EFD2707}"/>
              </a:ext>
            </a:extLst>
          </p:cNvPr>
          <p:cNvPicPr>
            <a:picLocks noChangeAspect="1"/>
          </p:cNvPicPr>
          <p:nvPr/>
        </p:nvPicPr>
        <p:blipFill>
          <a:blip r:embed="rId6"/>
          <a:stretch>
            <a:fillRect/>
          </a:stretch>
        </p:blipFill>
        <p:spPr>
          <a:xfrm>
            <a:off x="525315" y="1247034"/>
            <a:ext cx="5075152" cy="3927639"/>
          </a:xfrm>
          <a:prstGeom prst="rect">
            <a:avLst/>
          </a:prstGeom>
        </p:spPr>
      </p:pic>
      <p:pic>
        <p:nvPicPr>
          <p:cNvPr id="11" name="Picture 10">
            <a:extLst>
              <a:ext uri="{FF2B5EF4-FFF2-40B4-BE49-F238E27FC236}">
                <a16:creationId xmlns:a16="http://schemas.microsoft.com/office/drawing/2014/main" id="{8086DBA7-C1A9-B405-56D6-649F514D4554}"/>
              </a:ext>
            </a:extLst>
          </p:cNvPr>
          <p:cNvPicPr>
            <a:picLocks noChangeAspect="1"/>
          </p:cNvPicPr>
          <p:nvPr/>
        </p:nvPicPr>
        <p:blipFill>
          <a:blip r:embed="rId7"/>
          <a:stretch>
            <a:fillRect/>
          </a:stretch>
        </p:blipFill>
        <p:spPr>
          <a:xfrm>
            <a:off x="6002482" y="1247034"/>
            <a:ext cx="6058425" cy="3927639"/>
          </a:xfrm>
          <a:prstGeom prst="rect">
            <a:avLst/>
          </a:prstGeom>
        </p:spPr>
      </p:pic>
      <p:sp>
        <p:nvSpPr>
          <p:cNvPr id="13" name="TextBox 12">
            <a:extLst>
              <a:ext uri="{FF2B5EF4-FFF2-40B4-BE49-F238E27FC236}">
                <a16:creationId xmlns:a16="http://schemas.microsoft.com/office/drawing/2014/main" id="{23518B8B-1A06-E39D-1098-8A4118BE51D3}"/>
              </a:ext>
            </a:extLst>
          </p:cNvPr>
          <p:cNvSpPr txBox="1"/>
          <p:nvPr/>
        </p:nvSpPr>
        <p:spPr>
          <a:xfrm>
            <a:off x="795712" y="5492087"/>
            <a:ext cx="5300288"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Bar Chart – Content Ratings</a:t>
            </a:r>
          </a:p>
          <a:p>
            <a:pPr>
              <a:buNone/>
            </a:pPr>
            <a:r>
              <a:rPr lang="en-IN" dirty="0">
                <a:latin typeface="Times New Roman" panose="02020603050405020304" pitchFamily="18" charset="0"/>
                <a:cs typeface="Times New Roman" panose="02020603050405020304" pitchFamily="18" charset="0"/>
              </a:rPr>
              <a:t>Shows the distribution of content classifications.</a:t>
            </a:r>
          </a:p>
        </p:txBody>
      </p:sp>
      <p:sp>
        <p:nvSpPr>
          <p:cNvPr id="15" name="TextBox 14">
            <a:extLst>
              <a:ext uri="{FF2B5EF4-FFF2-40B4-BE49-F238E27FC236}">
                <a16:creationId xmlns:a16="http://schemas.microsoft.com/office/drawing/2014/main" id="{7B47CD76-5C45-FE9C-95FE-459EDB59332D}"/>
              </a:ext>
            </a:extLst>
          </p:cNvPr>
          <p:cNvSpPr txBox="1"/>
          <p:nvPr/>
        </p:nvSpPr>
        <p:spPr>
          <a:xfrm>
            <a:off x="6287628" y="5492087"/>
            <a:ext cx="5488132"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Line Chart – Release Years</a:t>
            </a:r>
          </a:p>
          <a:p>
            <a:pPr>
              <a:buNone/>
            </a:pPr>
            <a:r>
              <a:rPr lang="en-IN" dirty="0">
                <a:latin typeface="Times New Roman" panose="02020603050405020304" pitchFamily="18" charset="0"/>
                <a:cs typeface="Times New Roman" panose="02020603050405020304" pitchFamily="18" charset="0"/>
              </a:rPr>
              <a:t>Shows the year-wise content trend.</a:t>
            </a:r>
          </a:p>
        </p:txBody>
      </p:sp>
    </p:spTree>
    <p:extLst>
      <p:ext uri="{BB962C8B-B14F-4D97-AF65-F5344CB8AC3E}">
        <p14:creationId xmlns:p14="http://schemas.microsoft.com/office/powerpoint/2010/main" val="3206130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4332B-696E-83B7-B516-19E8C7435BAB}"/>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6F3ABABE-0261-FBF3-106A-446C5750D7F1}"/>
              </a:ext>
            </a:extLst>
          </p:cNvPr>
          <p:cNvPicPr/>
          <p:nvPr/>
        </p:nvPicPr>
        <p:blipFill>
          <a:blip r:embed="rId2" cstate="print"/>
          <a:stretch>
            <a:fillRect/>
          </a:stretch>
        </p:blipFill>
        <p:spPr>
          <a:xfrm>
            <a:off x="116588" y="80340"/>
            <a:ext cx="1358249" cy="598086"/>
          </a:xfrm>
          <a:prstGeom prst="rect">
            <a:avLst/>
          </a:prstGeom>
        </p:spPr>
      </p:pic>
      <p:grpSp>
        <p:nvGrpSpPr>
          <p:cNvPr id="4" name="object 3">
            <a:extLst>
              <a:ext uri="{FF2B5EF4-FFF2-40B4-BE49-F238E27FC236}">
                <a16:creationId xmlns:a16="http://schemas.microsoft.com/office/drawing/2014/main" id="{C2873C5B-BE34-1734-80C6-14698012BEAB}"/>
              </a:ext>
            </a:extLst>
          </p:cNvPr>
          <p:cNvGrpSpPr/>
          <p:nvPr/>
        </p:nvGrpSpPr>
        <p:grpSpPr>
          <a:xfrm>
            <a:off x="3193025" y="283289"/>
            <a:ext cx="5334000" cy="1198311"/>
            <a:chOff x="2648188" y="47148"/>
            <a:chExt cx="5103904" cy="1198311"/>
          </a:xfrm>
        </p:grpSpPr>
        <p:pic>
          <p:nvPicPr>
            <p:cNvPr id="5" name="object 4">
              <a:extLst>
                <a:ext uri="{FF2B5EF4-FFF2-40B4-BE49-F238E27FC236}">
                  <a16:creationId xmlns:a16="http://schemas.microsoft.com/office/drawing/2014/main" id="{33198F7D-33B6-6C78-3A5E-AB73FCF24420}"/>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10E37DE-A6EB-60CD-7265-CE3A748A82A5}"/>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65FD19ED-A738-1701-9D29-8C105B9A80E3}"/>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150F236-3B1C-DB68-2326-D197C787FC2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pPr algn="ctr"/>
              <a:r>
                <a:rPr lang="en-US" sz="2200" b="1" dirty="0">
                  <a:solidFill>
                    <a:schemeClr val="bg1"/>
                  </a:solidFill>
                  <a:latin typeface="Times New Roman" panose="02020603050405020304" pitchFamily="18" charset="0"/>
                  <a:cs typeface="Times New Roman" panose="02020603050405020304" pitchFamily="18" charset="0"/>
                </a:rPr>
                <a:t>CONCLUSION &amp; FUTURE SCOPE</a:t>
              </a:r>
              <a:endParaRPr sz="22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79C6A61B-4CCE-1F02-0697-4FC4FC63A3A9}"/>
              </a:ext>
            </a:extLst>
          </p:cNvPr>
          <p:cNvSpPr txBox="1"/>
          <p:nvPr/>
        </p:nvSpPr>
        <p:spPr>
          <a:xfrm>
            <a:off x="935182" y="1298368"/>
            <a:ext cx="8195829" cy="4585871"/>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Conclusion :</a:t>
            </a:r>
          </a:p>
          <a:p>
            <a:pPr>
              <a:buNone/>
            </a:pPr>
            <a:endParaRPr lang="en-IN"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Successfully analysed the Netflix Movies and TV Shows dataset.</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Performed data cleaning and preprocessing.</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Identified missing values and duplicate records.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Analysed content types, countries, genres and ratings.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Studied release-year trends using Python libraries.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Presented the results through data visualizations.</a:t>
            </a:r>
          </a:p>
          <a:p>
            <a:pPr lvl="0"/>
            <a:endParaRPr lang="en-IN"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Future Scope:</a:t>
            </a:r>
          </a:p>
          <a:p>
            <a:pPr>
              <a:buNone/>
            </a:pPr>
            <a:endParaRPr lang="en-IN"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audience movie ratings and review data.</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 sentiment analysis on user reviews.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an interactive movie recommendation system.</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Create a web-based dashboard.</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Analyse movie popularity using additional datasets.</a:t>
            </a:r>
          </a:p>
        </p:txBody>
      </p:sp>
    </p:spTree>
    <p:extLst>
      <p:ext uri="{BB962C8B-B14F-4D97-AF65-F5344CB8AC3E}">
        <p14:creationId xmlns:p14="http://schemas.microsoft.com/office/powerpoint/2010/main" val="992659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3C5FCA77-74FE-2DA3-6197-EDAAA42C56DF}"/>
              </a:ext>
            </a:extLst>
          </p:cNvPr>
          <p:cNvPicPr/>
          <p:nvPr/>
        </p:nvPicPr>
        <p:blipFill>
          <a:blip r:embed="rId2" cstate="print"/>
          <a:stretch>
            <a:fillRect/>
          </a:stretch>
        </p:blipFill>
        <p:spPr>
          <a:xfrm>
            <a:off x="116589" y="86469"/>
            <a:ext cx="1358249" cy="598086"/>
          </a:xfrm>
          <a:prstGeom prst="rect">
            <a:avLst/>
          </a:prstGeom>
        </p:spPr>
      </p:pic>
      <p:pic>
        <p:nvPicPr>
          <p:cNvPr id="5" name="Content Placeholder 3">
            <a:extLst>
              <a:ext uri="{FF2B5EF4-FFF2-40B4-BE49-F238E27FC236}">
                <a16:creationId xmlns:a16="http://schemas.microsoft.com/office/drawing/2014/main" id="{500C118E-C4F1-01E5-1F49-9C89201C8DFE}"/>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a:xfrm>
            <a:off x="1911998" y="1016031"/>
            <a:ext cx="9525000" cy="5367114"/>
          </a:xfrm>
          <a:prstGeom prst="rect">
            <a:avLst/>
          </a:prstGeom>
        </p:spPr>
      </p:pic>
    </p:spTree>
    <p:extLst>
      <p:ext uri="{BB962C8B-B14F-4D97-AF65-F5344CB8AC3E}">
        <p14:creationId xmlns:p14="http://schemas.microsoft.com/office/powerpoint/2010/main" val="325380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1790</Words>
  <Application>Microsoft Office PowerPoint</Application>
  <PresentationFormat>Widescreen</PresentationFormat>
  <Paragraphs>349</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Bhagya Mattaparthi</dc:creator>
  <cp:lastModifiedBy>Bhagya Mattaparthi</cp:lastModifiedBy>
  <cp:revision>2</cp:revision>
  <dcterms:created xsi:type="dcterms:W3CDTF">2026-10-30T08:14:55Z</dcterms:created>
  <dcterms:modified xsi:type="dcterms:W3CDTF">2026-10-30T11:23:09Z</dcterms:modified>
</cp:coreProperties>
</file>