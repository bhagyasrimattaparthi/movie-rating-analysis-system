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media/image26.jpg" ContentType="image/jpeg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7" r:id="rId2"/>
    <p:sldId id="258" r:id="rId3"/>
    <p:sldId id="259" r:id="rId4"/>
    <p:sldId id="260" r:id="rId5"/>
    <p:sldId id="261" r:id="rId6"/>
    <p:sldId id="273" r:id="rId7"/>
    <p:sldId id="282" r:id="rId8"/>
    <p:sldId id="283" r:id="rId9"/>
    <p:sldId id="284" r:id="rId10"/>
    <p:sldId id="285" r:id="rId11"/>
    <p:sldId id="286" r:id="rId12"/>
    <p:sldId id="287" r:id="rId13"/>
    <p:sldId id="288" r:id="rId14"/>
    <p:sldId id="290" r:id="rId15"/>
    <p:sldId id="291" r:id="rId16"/>
    <p:sldId id="289" r:id="rId17"/>
    <p:sldId id="292" r:id="rId18"/>
    <p:sldId id="293" r:id="rId19"/>
    <p:sldId id="294" r:id="rId20"/>
    <p:sldId id="29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94660"/>
  </p:normalViewPr>
  <p:slideViewPr>
    <p:cSldViewPr snapToGrid="0">
      <p:cViewPr varScale="1">
        <p:scale>
          <a:sx n="76" d="100"/>
          <a:sy n="76" d="100"/>
        </p:scale>
        <p:origin x="1099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hagya Mattaparthi" userId="e2dee64d477f3dd0" providerId="LiveId" clId="{C2709E24-23DE-465F-92FC-EA33298C57D3}"/>
    <pc:docChg chg="undo custSel modSld">
      <pc:chgData name="Bhagya Mattaparthi" userId="e2dee64d477f3dd0" providerId="LiveId" clId="{C2709E24-23DE-465F-92FC-EA33298C57D3}" dt="2026-10-23T04:39:40.254" v="116" actId="1076"/>
      <pc:docMkLst>
        <pc:docMk/>
      </pc:docMkLst>
      <pc:sldChg chg="modSp mod">
        <pc:chgData name="Bhagya Mattaparthi" userId="e2dee64d477f3dd0" providerId="LiveId" clId="{C2709E24-23DE-465F-92FC-EA33298C57D3}" dt="2026-10-04T09:21:40.441" v="35" actId="20577"/>
        <pc:sldMkLst>
          <pc:docMk/>
          <pc:sldMk cId="2240813173" sldId="257"/>
        </pc:sldMkLst>
        <pc:spChg chg="mod">
          <ac:chgData name="Bhagya Mattaparthi" userId="e2dee64d477f3dd0" providerId="LiveId" clId="{C2709E24-23DE-465F-92FC-EA33298C57D3}" dt="2026-10-04T09:21:40.441" v="35" actId="20577"/>
          <ac:spMkLst>
            <pc:docMk/>
            <pc:sldMk cId="2240813173" sldId="257"/>
            <ac:spMk id="9" creationId="{7A624A0C-2094-3812-B44E-CD2E8F8AF39E}"/>
          </ac:spMkLst>
        </pc:spChg>
      </pc:sldChg>
      <pc:sldChg chg="addSp delSp modSp mod">
        <pc:chgData name="Bhagya Mattaparthi" userId="e2dee64d477f3dd0" providerId="LiveId" clId="{C2709E24-23DE-465F-92FC-EA33298C57D3}" dt="2026-10-23T04:39:40.254" v="116" actId="1076"/>
        <pc:sldMkLst>
          <pc:docMk/>
          <pc:sldMk cId="2612608443" sldId="260"/>
        </pc:sldMkLst>
        <pc:spChg chg="mod">
          <ac:chgData name="Bhagya Mattaparthi" userId="e2dee64d477f3dd0" providerId="LiveId" clId="{C2709E24-23DE-465F-92FC-EA33298C57D3}" dt="2026-10-19T05:14:30.364" v="90" actId="14100"/>
          <ac:spMkLst>
            <pc:docMk/>
            <pc:sldMk cId="2612608443" sldId="260"/>
            <ac:spMk id="12" creationId="{702248B4-AA7E-B8D9-29F8-63B6FA79E48D}"/>
          </ac:spMkLst>
        </pc:spChg>
        <pc:spChg chg="mod">
          <ac:chgData name="Bhagya Mattaparthi" userId="e2dee64d477f3dd0" providerId="LiveId" clId="{C2709E24-23DE-465F-92FC-EA33298C57D3}" dt="2026-10-19T05:14:40.806" v="92" actId="14100"/>
          <ac:spMkLst>
            <pc:docMk/>
            <pc:sldMk cId="2612608443" sldId="260"/>
            <ac:spMk id="16" creationId="{A6D3E2E2-0137-FD8A-B156-70121E43ACBB}"/>
          </ac:spMkLst>
        </pc:spChg>
        <pc:spChg chg="mod">
          <ac:chgData name="Bhagya Mattaparthi" userId="e2dee64d477f3dd0" providerId="LiveId" clId="{C2709E24-23DE-465F-92FC-EA33298C57D3}" dt="2026-10-19T05:15:10.406" v="99" actId="1076"/>
          <ac:spMkLst>
            <pc:docMk/>
            <pc:sldMk cId="2612608443" sldId="260"/>
            <ac:spMk id="24" creationId="{73DD6D17-CAAF-CF71-7913-902C3BF612E3}"/>
          </ac:spMkLst>
        </pc:spChg>
        <pc:spChg chg="mod">
          <ac:chgData name="Bhagya Mattaparthi" userId="e2dee64d477f3dd0" providerId="LiveId" clId="{C2709E24-23DE-465F-92FC-EA33298C57D3}" dt="2026-10-19T05:14:48.084" v="94" actId="14100"/>
          <ac:spMkLst>
            <pc:docMk/>
            <pc:sldMk cId="2612608443" sldId="260"/>
            <ac:spMk id="26" creationId="{D8ACB7EF-8E4B-5918-6302-0AC998D0FBB2}"/>
          </ac:spMkLst>
        </pc:spChg>
        <pc:spChg chg="mod">
          <ac:chgData name="Bhagya Mattaparthi" userId="e2dee64d477f3dd0" providerId="LiveId" clId="{C2709E24-23DE-465F-92FC-EA33298C57D3}" dt="2026-10-23T04:39:40.254" v="116" actId="1076"/>
          <ac:spMkLst>
            <pc:docMk/>
            <pc:sldMk cId="2612608443" sldId="260"/>
            <ac:spMk id="28" creationId="{B744EF26-21E5-04ED-1EF5-650B2D38A2BE}"/>
          </ac:spMkLst>
        </pc:spChg>
        <pc:picChg chg="add mod">
          <ac:chgData name="Bhagya Mattaparthi" userId="e2dee64d477f3dd0" providerId="LiveId" clId="{C2709E24-23DE-465F-92FC-EA33298C57D3}" dt="2026-10-23T04:39:31.029" v="114" actId="14100"/>
          <ac:picMkLst>
            <pc:docMk/>
            <pc:sldMk cId="2612608443" sldId="260"/>
            <ac:picMk id="9" creationId="{385B44AE-D4D8-1AB9-201E-B2E1968896C1}"/>
          </ac:picMkLst>
        </pc:picChg>
      </pc:sldChg>
      <pc:sldChg chg="modSp mod">
        <pc:chgData name="Bhagya Mattaparthi" userId="e2dee64d477f3dd0" providerId="LiveId" clId="{C2709E24-23DE-465F-92FC-EA33298C57D3}" dt="2026-10-19T05:05:12.897" v="66" actId="20577"/>
        <pc:sldMkLst>
          <pc:docMk/>
          <pc:sldMk cId="4131084694" sldId="286"/>
        </pc:sldMkLst>
        <pc:spChg chg="mod">
          <ac:chgData name="Bhagya Mattaparthi" userId="e2dee64d477f3dd0" providerId="LiveId" clId="{C2709E24-23DE-465F-92FC-EA33298C57D3}" dt="2026-10-19T05:05:12.897" v="66" actId="20577"/>
          <ac:spMkLst>
            <pc:docMk/>
            <pc:sldMk cId="4131084694" sldId="286"/>
            <ac:spMk id="8" creationId="{1107F905-E260-4B1D-E4D3-F3A674BC3C9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F69463-7646-45F3-9CE3-DB56B559A780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4E1FE4-A89D-4E59-815C-5F7DC52C78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0790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4E1FE4-A89D-4E59-815C-5F7DC52C78BC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86584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F479D-7D2B-C39C-DE99-C530B0518B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F74D10-8C5E-5561-4863-F9172F6508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314038-EE45-9DFA-FBFA-727C8BB23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B822F-02AA-4E37-AFB5-102465DE7135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06A180-F458-0881-6E51-96049B540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389056-F879-88DD-2097-3C52611CA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4DD48-1795-4709-9B8C-4F8A1110D0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12883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7F847-DACC-AC1D-ED31-E45B0C799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B5850F-E9F8-1B00-CE31-48AD7D765F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432253-6F9E-FA2D-D22E-EBA524702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B822F-02AA-4E37-AFB5-102465DE7135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FC24C0-9B2D-2528-EA84-EEFE8D2BC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5E2968-3B21-6CA0-D3E7-62224452D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4DD48-1795-4709-9B8C-4F8A1110D0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17806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CF8A9-2C78-1178-B213-BC2C66840E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18D958-13B4-2C6C-63DD-0E74B9968D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5D38FD-2925-5D1A-D787-D7FD945F2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B822F-02AA-4E37-AFB5-102465DE7135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0D69E8-A1D3-8A73-EE65-5356B4034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BBCCDF-AD1F-7198-113A-85230FA9B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4DD48-1795-4709-9B8C-4F8A1110D0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38459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BBFFD-72D2-9FD7-A747-15EE7E625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86CF0-35B5-B08C-9A85-D7C8C75A6B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5CD61C-78BD-1971-2D19-A032F65F9F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73AC5C-5EFE-1B81-718A-9FCBF2AF9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B822F-02AA-4E37-AFB5-102465DE7135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32AA0B-30AF-9C8F-7E45-B8C183281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1C9938-72CA-7A50-7FB8-1EA97E307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4DD48-1795-4709-9B8C-4F8A1110D0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30491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9E15A-EA7D-81CA-6A71-10A301AC36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5F7EDF-07B8-7428-9B52-578083B6A8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85F396-232B-103D-6F98-B655B86664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D50928-8DB9-A26E-EFDF-44382D0E31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991EDD-1537-BB8D-CD2B-B85963DD24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6E01D1-E12B-DD67-CC4C-790C433FA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B822F-02AA-4E37-AFB5-102465DE7135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6AE557C-F828-A2FD-5CAF-CE70E09A5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55A739D-6F79-1B2B-01E5-9B075A88E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4DD48-1795-4709-9B8C-4F8A1110D0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28493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CF795-ECD7-0D9B-917F-5A137C943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7F45CC-E4EC-E791-AD32-14A5DD8BEA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B822F-02AA-4E37-AFB5-102465DE7135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5F25AB-62A6-0884-A989-B5FFD7BC0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A0E24-2D10-E943-DA8A-2A612E0F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4DD48-1795-4709-9B8C-4F8A1110D0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4409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8348B5F-D48C-B068-282A-1FA8DC06F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B822F-02AA-4E37-AFB5-102465DE7135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E4031E-F7D5-2FA4-9543-D1BCCD98F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5C1C91-9073-F400-2919-F88057EB9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4DD48-1795-4709-9B8C-4F8A1110D0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0431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AF04E-4F8A-E731-4DC1-08A5C26F91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E2D70D-BF01-DEB1-AFC1-D99B194508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8A1AB0-9C8C-D7A5-B499-5DDEAEFD03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AA56D7-FDC1-C7DD-34E5-6A4DCDF1B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B822F-02AA-4E37-AFB5-102465DE7135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84FED5-73BB-F240-924B-3EE1D8F38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96B2D7-B37D-CE9A-D960-CBB53D41F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4DD48-1795-4709-9B8C-4F8A1110D0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2316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26879-476A-07BF-BCC3-677F2FE5CE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F30D2BB-C078-A351-AC15-968F45A542FB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73156B-7841-7885-49E2-AC0C448F4D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B1A988-FAB4-1B53-01DF-386ABA480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B822F-02AA-4E37-AFB5-102465DE7135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EA5EF8-61B5-3C0B-1EBA-2F744C9BB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494DC2-CFEA-8BA5-2A07-DDAFAA007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4DD48-1795-4709-9B8C-4F8A1110D0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15852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16842-FBB7-8CBB-7758-9FBBBD4BF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6FE69C-3B63-32FE-747D-404C5BF80E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85E629-FA29-E3DE-1B66-57F7B0D84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B822F-02AA-4E37-AFB5-102465DE7135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A2DE47-1520-AEC0-A4FE-93D7AD0E0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FAB542-3CB4-0A4D-F48C-F5E87300F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4DD48-1795-4709-9B8C-4F8A1110D0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06627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CB185D-7A1B-07F6-65C5-4BD0CB5848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6365BC-8A64-601E-F875-0AA9F9AD0F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5FD37-E880-90F9-F1D6-90A55550B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B822F-02AA-4E37-AFB5-102465DE7135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C95E95-B646-8E71-1F9F-321F94BAA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09EBF2-AA3F-DD1F-AA77-41E11A91A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4DD48-1795-4709-9B8C-4F8A1110D0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73414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26F063-F83D-220C-6BEA-8BCCFB305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93F68E-45D7-8129-C663-20061E4C8D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F3738C-8129-E4A8-5870-262BD66F04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7B822F-02AA-4E37-AFB5-102465DE7135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87C46F-3A20-EB80-D5AF-3CE1CC1F1B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AFFD6A-64E1-BB67-2778-17BD56E5D5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74DD48-1795-4709-9B8C-4F8A1110D0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13573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6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8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0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2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3.png"/><Relationship Id="rId7" Type="http://schemas.openxmlformats.org/officeDocument/2006/relationships/image" Target="../media/image2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2">
            <a:extLst>
              <a:ext uri="{FF2B5EF4-FFF2-40B4-BE49-F238E27FC236}">
                <a16:creationId xmlns:a16="http://schemas.microsoft.com/office/drawing/2014/main" id="{8880D27B-F76D-0C92-22E2-5134498C19E4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83280" y="270433"/>
            <a:ext cx="4610910" cy="62864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A5A8807-265A-3DCF-3017-C62B685CC7FA}"/>
              </a:ext>
            </a:extLst>
          </p:cNvPr>
          <p:cNvSpPr txBox="1"/>
          <p:nvPr/>
        </p:nvSpPr>
        <p:spPr>
          <a:xfrm>
            <a:off x="3148734" y="1027098"/>
            <a:ext cx="5681171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1F3756"/>
                </a:solidFill>
              </a:defRPr>
            </a:pP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Analysis Essentials</a:t>
            </a:r>
            <a:b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Cornerstone Project — Second Review</a:t>
            </a:r>
            <a:br>
              <a:rPr dirty="0"/>
            </a:br>
            <a:r>
              <a:rPr sz="30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 Rating Analysis System</a:t>
            </a:r>
            <a:endParaRPr lang="en-IN" sz="30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defRPr sz="3400" b="1">
                <a:solidFill>
                  <a:srgbClr val="1F3756"/>
                </a:solidFill>
              </a:defRPr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- 7</a:t>
            </a:r>
            <a:endParaRPr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624A0C-2094-3812-B44E-CD2E8F8AF39E}"/>
              </a:ext>
            </a:extLst>
          </p:cNvPr>
          <p:cNvSpPr txBox="1"/>
          <p:nvPr/>
        </p:nvSpPr>
        <p:spPr>
          <a:xfrm>
            <a:off x="1612490" y="2491635"/>
            <a:ext cx="8967019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</a:p>
          <a:p>
            <a:pPr algn="ctr"/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 Bhagya Sri (25B11AI720)</a:t>
            </a:r>
          </a:p>
          <a:p>
            <a:pPr algn="ctr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B.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Jyostnavi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(25B11AI081)</a:t>
            </a:r>
          </a:p>
          <a:p>
            <a:pPr algn="ctr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N. Swathi (26B21AI081)</a:t>
            </a:r>
          </a:p>
          <a:p>
            <a:pPr algn="ctr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K. Sri Bhargavi(26B21AI050)</a:t>
            </a:r>
          </a:p>
          <a:p>
            <a:pPr algn="ctr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000" dirty="0"/>
              <a:t>Department of Artificial Intelligence &amp; Machine Learning</a:t>
            </a:r>
          </a:p>
          <a:p>
            <a:pPr lvl="0" algn="ctr">
              <a:lnSpc>
                <a:spcPct val="150000"/>
              </a:lnSpc>
            </a:pPr>
            <a:r>
              <a:rPr lang="en-US" sz="2000" b="1" dirty="0">
                <a:solidFill>
                  <a:srgbClr val="7030A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Under esteemed guidance of:</a:t>
            </a:r>
            <a:endParaRPr lang="en-US" sz="20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0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Mr.B.Sai Venkata Ganesh  </a:t>
            </a:r>
          </a:p>
          <a:p>
            <a:pPr algn="ctr"/>
            <a:r>
              <a:rPr lang="en-US" sz="20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M.Tech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Assistant Professor (AIML) </a:t>
            </a:r>
          </a:p>
          <a:p>
            <a:pPr algn="ctr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2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408131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>
            <a:extLst>
              <a:ext uri="{FF2B5EF4-FFF2-40B4-BE49-F238E27FC236}">
                <a16:creationId xmlns:a16="http://schemas.microsoft.com/office/drawing/2014/main" id="{493CD189-0CD3-2EC0-82E2-E5A23F1F510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588" y="80340"/>
            <a:ext cx="1358249" cy="598086"/>
          </a:xfrm>
          <a:prstGeom prst="rect">
            <a:avLst/>
          </a:prstGeom>
        </p:spPr>
      </p:pic>
      <p:grpSp>
        <p:nvGrpSpPr>
          <p:cNvPr id="4" name="object 3">
            <a:extLst>
              <a:ext uri="{FF2B5EF4-FFF2-40B4-BE49-F238E27FC236}">
                <a16:creationId xmlns:a16="http://schemas.microsoft.com/office/drawing/2014/main" id="{66CC252B-EBA9-B85B-EC74-689563430F85}"/>
              </a:ext>
            </a:extLst>
          </p:cNvPr>
          <p:cNvGrpSpPr/>
          <p:nvPr/>
        </p:nvGrpSpPr>
        <p:grpSpPr>
          <a:xfrm>
            <a:off x="3193025" y="283289"/>
            <a:ext cx="5334000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F9477AB2-140E-3FC5-32AA-B8865242A67C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6E1B54F7-FB50-D1CC-E030-A3C54F26F492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22D6827E-8A18-21D6-5388-E3D563A1CF39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627EA6A3-41E5-68B1-C0AB-6D3F032A41D6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pPr algn="ctr"/>
              <a:r>
                <a:rPr lang="en-IN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PRESENTATION OVERVIEW</a:t>
              </a:r>
              <a:endParaRPr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F1FB3F09-43A0-1665-C79F-189213BBFB3B}"/>
              </a:ext>
            </a:extLst>
          </p:cNvPr>
          <p:cNvSpPr txBox="1"/>
          <p:nvPr/>
        </p:nvSpPr>
        <p:spPr>
          <a:xfrm>
            <a:off x="846867" y="1481600"/>
            <a:ext cx="10026316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Netflix titles dataset to identify content types, release-year patterns, ratings, countries, and genres.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Clean the Netflix data, explore its structure,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important patterns, visualize the results, and generate useful insights.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Domain: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Entertainment / Media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Used: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Netflix Titles dataset containing 8,812 records and 12 columns.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Python, Pandas, NumPy, Matplotlib, Google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Colab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71262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>
            <a:extLst>
              <a:ext uri="{FF2B5EF4-FFF2-40B4-BE49-F238E27FC236}">
                <a16:creationId xmlns:a16="http://schemas.microsoft.com/office/drawing/2014/main" id="{B88A0BE3-2659-35F7-8ABA-9E04B9C747F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588" y="80340"/>
            <a:ext cx="1358249" cy="598086"/>
          </a:xfrm>
          <a:prstGeom prst="rect">
            <a:avLst/>
          </a:prstGeom>
        </p:spPr>
      </p:pic>
      <p:grpSp>
        <p:nvGrpSpPr>
          <p:cNvPr id="4" name="object 3">
            <a:extLst>
              <a:ext uri="{FF2B5EF4-FFF2-40B4-BE49-F238E27FC236}">
                <a16:creationId xmlns:a16="http://schemas.microsoft.com/office/drawing/2014/main" id="{51EA4E91-E4D6-7BA1-116C-E133FF31CEBB}"/>
              </a:ext>
            </a:extLst>
          </p:cNvPr>
          <p:cNvGrpSpPr/>
          <p:nvPr/>
        </p:nvGrpSpPr>
        <p:grpSpPr>
          <a:xfrm>
            <a:off x="3193025" y="283289"/>
            <a:ext cx="5334000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009B6D2A-0BDB-A81B-B2CA-5EA92FDDD74D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47C5470A-8E4A-6CAC-22C6-0FFFDB8A7D84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06827832-CEA7-1226-0EAB-75E28E45E63D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039624CE-48EA-F555-94E3-B735B191E7AE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pPr algn="ctr"/>
              <a:r>
                <a:rPr lang="en-IN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DATASET SNAPSHOT</a:t>
              </a:r>
              <a:endParaRPr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E9F73D0-202A-DB68-4A4C-28430862BC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0138599"/>
              </p:ext>
            </p:extLst>
          </p:nvPr>
        </p:nvGraphicFramePr>
        <p:xfrm>
          <a:off x="795712" y="1571969"/>
          <a:ext cx="5701341" cy="420155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900447">
                  <a:extLst>
                    <a:ext uri="{9D8B030D-6E8A-4147-A177-3AD203B41FA5}">
                      <a16:colId xmlns:a16="http://schemas.microsoft.com/office/drawing/2014/main" val="1285303557"/>
                    </a:ext>
                  </a:extLst>
                </a:gridCol>
                <a:gridCol w="1900447">
                  <a:extLst>
                    <a:ext uri="{9D8B030D-6E8A-4147-A177-3AD203B41FA5}">
                      <a16:colId xmlns:a16="http://schemas.microsoft.com/office/drawing/2014/main" val="3429629695"/>
                    </a:ext>
                  </a:extLst>
                </a:gridCol>
                <a:gridCol w="1900447">
                  <a:extLst>
                    <a:ext uri="{9D8B030D-6E8A-4147-A177-3AD203B41FA5}">
                      <a16:colId xmlns:a16="http://schemas.microsoft.com/office/drawing/2014/main" val="1607440883"/>
                    </a:ext>
                  </a:extLst>
                </a:gridCol>
              </a:tblGrid>
              <a:tr h="798928">
                <a:tc>
                  <a:txBody>
                    <a:bodyPr/>
                    <a:lstStyle/>
                    <a:p>
                      <a:pPr algn="ctr"/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CHECK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BEFORE CLEANING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AFTER CLEANING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96040483"/>
                  </a:ext>
                </a:extLst>
              </a:tr>
              <a:tr h="798928">
                <a:tc>
                  <a:txBody>
                    <a:bodyPr/>
                    <a:lstStyle/>
                    <a:p>
                      <a:pPr algn="ctr"/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Rows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8812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8807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0504178"/>
                  </a:ext>
                </a:extLst>
              </a:tr>
              <a:tr h="798928">
                <a:tc>
                  <a:txBody>
                    <a:bodyPr/>
                    <a:lstStyle/>
                    <a:p>
                      <a:pPr algn="ctr"/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Columns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54509092"/>
                  </a:ext>
                </a:extLst>
              </a:tr>
              <a:tr h="798928">
                <a:tc>
                  <a:txBody>
                    <a:bodyPr/>
                    <a:lstStyle/>
                    <a:p>
                      <a:pPr algn="ctr"/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Missing Values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4314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64926322"/>
                  </a:ext>
                </a:extLst>
              </a:tr>
              <a:tr h="798928">
                <a:tc>
                  <a:txBody>
                    <a:bodyPr/>
                    <a:lstStyle/>
                    <a:p>
                      <a:pPr algn="ctr"/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Duplicate rows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1854736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4CFC96E7-4864-CC4A-DE99-AE03B186A92C}"/>
              </a:ext>
            </a:extLst>
          </p:cNvPr>
          <p:cNvSpPr txBox="1"/>
          <p:nvPr/>
        </p:nvSpPr>
        <p:spPr>
          <a:xfrm>
            <a:off x="6987452" y="1159365"/>
            <a:ext cx="4104036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contains information about: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Movies and TV Shows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Directors and Cast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Countries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Release Years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Ratings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Duration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Genres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Descriptions</a:t>
            </a:r>
          </a:p>
        </p:txBody>
      </p:sp>
    </p:spTree>
    <p:extLst>
      <p:ext uri="{BB962C8B-B14F-4D97-AF65-F5344CB8AC3E}">
        <p14:creationId xmlns:p14="http://schemas.microsoft.com/office/powerpoint/2010/main" val="5637074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>
            <a:extLst>
              <a:ext uri="{FF2B5EF4-FFF2-40B4-BE49-F238E27FC236}">
                <a16:creationId xmlns:a16="http://schemas.microsoft.com/office/drawing/2014/main" id="{4D7D6BC6-0253-4156-300D-38339B38F55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589" y="86469"/>
            <a:ext cx="1358249" cy="598086"/>
          </a:xfrm>
          <a:prstGeom prst="rect">
            <a:avLst/>
          </a:prstGeom>
        </p:spPr>
      </p:pic>
      <p:grpSp>
        <p:nvGrpSpPr>
          <p:cNvPr id="4" name="object 3">
            <a:extLst>
              <a:ext uri="{FF2B5EF4-FFF2-40B4-BE49-F238E27FC236}">
                <a16:creationId xmlns:a16="http://schemas.microsoft.com/office/drawing/2014/main" id="{498EC5F1-6730-4AAA-0C38-D2AE67791274}"/>
              </a:ext>
            </a:extLst>
          </p:cNvPr>
          <p:cNvGrpSpPr/>
          <p:nvPr/>
        </p:nvGrpSpPr>
        <p:grpSpPr>
          <a:xfrm>
            <a:off x="3261557" y="86469"/>
            <a:ext cx="5334000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DA799F62-AC4D-95DB-F977-BDEF27C55E0B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08B98A6F-5893-AF0D-6CDF-8A708AC637AF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CA9AF679-C32C-DC29-06D6-36857703DBB5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D7C1AD0E-5602-ED56-FBF0-9BF85A525798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pPr algn="ctr"/>
              <a:r>
                <a:rPr lang="en-IN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DATA LOADING</a:t>
              </a:r>
              <a:endParaRPr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2" name="Rounded Rectangle 5">
            <a:extLst>
              <a:ext uri="{FF2B5EF4-FFF2-40B4-BE49-F238E27FC236}">
                <a16:creationId xmlns:a16="http://schemas.microsoft.com/office/drawing/2014/main" id="{702248B4-AA7E-B8D9-29F8-63B6FA79E48D}"/>
              </a:ext>
            </a:extLst>
          </p:cNvPr>
          <p:cNvSpPr/>
          <p:nvPr/>
        </p:nvSpPr>
        <p:spPr>
          <a:xfrm>
            <a:off x="396437" y="1400801"/>
            <a:ext cx="4577497" cy="452628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E0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sz="20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#IMPORT LIBRARIES</a:t>
            </a:r>
          </a:p>
          <a:p>
            <a:endParaRPr lang="en-IN" sz="20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 pandas as pd</a:t>
            </a:r>
          </a:p>
          <a:p>
            <a:r>
              <a:rPr lang="en-IN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 </a:t>
            </a:r>
            <a:r>
              <a:rPr lang="en-IN" dirty="0" err="1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en-IN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as np</a:t>
            </a:r>
          </a:p>
          <a:p>
            <a:endParaRPr lang="en-IN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#DATA LOADING</a:t>
            </a:r>
          </a:p>
          <a:p>
            <a:endParaRPr lang="en-IN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IN" dirty="0" err="1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google.colab</a:t>
            </a:r>
            <a:r>
              <a:rPr lang="en-IN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import files</a:t>
            </a:r>
          </a:p>
          <a:p>
            <a:r>
              <a:rPr lang="en-IN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uploaded = </a:t>
            </a:r>
            <a:r>
              <a:rPr lang="en-IN" dirty="0" err="1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files.upload</a:t>
            </a:r>
            <a:r>
              <a:rPr lang="en-IN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r>
              <a:rPr lang="en-IN" dirty="0" err="1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file_name</a:t>
            </a:r>
            <a:r>
              <a:rPr lang="en-IN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list(</a:t>
            </a:r>
            <a:r>
              <a:rPr lang="en-IN" dirty="0" err="1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uploaded.keys</a:t>
            </a:r>
            <a:r>
              <a:rPr lang="en-IN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())[0]</a:t>
            </a:r>
          </a:p>
          <a:p>
            <a:r>
              <a:rPr lang="en-IN" dirty="0" err="1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IN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dirty="0" err="1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pd.read_csv</a:t>
            </a:r>
            <a:r>
              <a:rPr lang="en-IN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dirty="0" err="1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file_name</a:t>
            </a:r>
            <a:r>
              <a:rPr lang="en-IN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IN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print("Dataset loaded successfully")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ounded Rectangle 6">
            <a:extLst>
              <a:ext uri="{FF2B5EF4-FFF2-40B4-BE49-F238E27FC236}">
                <a16:creationId xmlns:a16="http://schemas.microsoft.com/office/drawing/2014/main" id="{B37B2E4D-25B9-E4CC-4E80-08D0BAA2AA1C}"/>
              </a:ext>
            </a:extLst>
          </p:cNvPr>
          <p:cNvSpPr/>
          <p:nvPr/>
        </p:nvSpPr>
        <p:spPr>
          <a:xfrm>
            <a:off x="795713" y="1603479"/>
            <a:ext cx="1302185" cy="343307"/>
          </a:xfrm>
          <a:prstGeom prst="roundRect">
            <a:avLst/>
          </a:prstGeom>
          <a:solidFill>
            <a:srgbClr val="1531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:</a:t>
            </a:r>
          </a:p>
        </p:txBody>
      </p:sp>
      <p:sp>
        <p:nvSpPr>
          <p:cNvPr id="16" name="Rounded Rectangle 9">
            <a:extLst>
              <a:ext uri="{FF2B5EF4-FFF2-40B4-BE49-F238E27FC236}">
                <a16:creationId xmlns:a16="http://schemas.microsoft.com/office/drawing/2014/main" id="{A6D3E2E2-0137-FD8A-B156-70121E43ACBB}"/>
              </a:ext>
            </a:extLst>
          </p:cNvPr>
          <p:cNvSpPr/>
          <p:nvPr/>
        </p:nvSpPr>
        <p:spPr>
          <a:xfrm>
            <a:off x="5433053" y="1441890"/>
            <a:ext cx="6427411" cy="2470479"/>
          </a:xfrm>
          <a:prstGeom prst="roundRect">
            <a:avLst/>
          </a:prstGeom>
          <a:solidFill>
            <a:srgbClr val="FAFCF9"/>
          </a:solidFill>
          <a:ln w="12700">
            <a:solidFill>
              <a:srgbClr val="CA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6">
            <a:extLst>
              <a:ext uri="{FF2B5EF4-FFF2-40B4-BE49-F238E27FC236}">
                <a16:creationId xmlns:a16="http://schemas.microsoft.com/office/drawing/2014/main" id="{73DD6D17-CAAF-CF71-7913-902C3BF612E3}"/>
              </a:ext>
            </a:extLst>
          </p:cNvPr>
          <p:cNvSpPr/>
          <p:nvPr/>
        </p:nvSpPr>
        <p:spPr>
          <a:xfrm>
            <a:off x="5847814" y="1672190"/>
            <a:ext cx="1302185" cy="343307"/>
          </a:xfrm>
          <a:prstGeom prst="roundRect">
            <a:avLst/>
          </a:prstGeom>
          <a:solidFill>
            <a:srgbClr val="1531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:</a:t>
            </a:r>
          </a:p>
        </p:txBody>
      </p:sp>
      <p:sp>
        <p:nvSpPr>
          <p:cNvPr id="26" name="Rounded Rectangle 13">
            <a:extLst>
              <a:ext uri="{FF2B5EF4-FFF2-40B4-BE49-F238E27FC236}">
                <a16:creationId xmlns:a16="http://schemas.microsoft.com/office/drawing/2014/main" id="{D8ACB7EF-8E4B-5918-6302-0AC998D0FBB2}"/>
              </a:ext>
            </a:extLst>
          </p:cNvPr>
          <p:cNvSpPr/>
          <p:nvPr/>
        </p:nvSpPr>
        <p:spPr>
          <a:xfrm>
            <a:off x="5433053" y="4073226"/>
            <a:ext cx="6655114" cy="2176272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E0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sz="19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9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9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dataset is uploaded directly into Google </a:t>
            </a:r>
            <a:r>
              <a:rPr lang="en-IN" sz="19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Colab</a:t>
            </a:r>
            <a:r>
              <a:rPr lang="en-IN" sz="1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loaded into a Pandas </a:t>
            </a:r>
            <a:r>
              <a:rPr lang="en-IN" sz="19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DataFrame</a:t>
            </a:r>
            <a:r>
              <a:rPr lang="en-IN" sz="1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The </a:t>
            </a:r>
            <a:r>
              <a:rPr lang="en-IN" sz="19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DataFrame</a:t>
            </a:r>
            <a:r>
              <a:rPr lang="en-IN" sz="1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9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IN" sz="1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used for further exploration, cleaning, preprocessing, and analysis.</a:t>
            </a:r>
          </a:p>
          <a:p>
            <a:b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Rounded Rectangle 6">
            <a:extLst>
              <a:ext uri="{FF2B5EF4-FFF2-40B4-BE49-F238E27FC236}">
                <a16:creationId xmlns:a16="http://schemas.microsoft.com/office/drawing/2014/main" id="{B744EF26-21E5-04ED-1EF5-650B2D38A2BE}"/>
              </a:ext>
            </a:extLst>
          </p:cNvPr>
          <p:cNvSpPr/>
          <p:nvPr/>
        </p:nvSpPr>
        <p:spPr>
          <a:xfrm>
            <a:off x="5630963" y="4277914"/>
            <a:ext cx="2143433" cy="343307"/>
          </a:xfrm>
          <a:prstGeom prst="roundRect">
            <a:avLst/>
          </a:prstGeom>
          <a:solidFill>
            <a:srgbClr val="1531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EXPLANATION :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85B44AE-D4D8-1AB9-201E-B2E1968896C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30963" y="2176354"/>
            <a:ext cx="5822317" cy="153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6084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>
            <a:extLst>
              <a:ext uri="{FF2B5EF4-FFF2-40B4-BE49-F238E27FC236}">
                <a16:creationId xmlns:a16="http://schemas.microsoft.com/office/drawing/2014/main" id="{B8A4D10A-3F4D-9E2C-10EB-2A4B8FF1AE3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589" y="86469"/>
            <a:ext cx="1358249" cy="598086"/>
          </a:xfrm>
          <a:prstGeom prst="rect">
            <a:avLst/>
          </a:prstGeom>
        </p:spPr>
      </p:pic>
      <p:grpSp>
        <p:nvGrpSpPr>
          <p:cNvPr id="4" name="object 3">
            <a:extLst>
              <a:ext uri="{FF2B5EF4-FFF2-40B4-BE49-F238E27FC236}">
                <a16:creationId xmlns:a16="http://schemas.microsoft.com/office/drawing/2014/main" id="{1E5ACAE5-A4C3-CAA2-BFDB-B31952C41B4F}"/>
              </a:ext>
            </a:extLst>
          </p:cNvPr>
          <p:cNvGrpSpPr/>
          <p:nvPr/>
        </p:nvGrpSpPr>
        <p:grpSpPr>
          <a:xfrm>
            <a:off x="3193025" y="283289"/>
            <a:ext cx="5334000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6086FE18-0B54-9C1B-0AFE-67A678F7ACC0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73FBF93D-3522-71C0-6364-AE20AAA78D9D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BC9E8D8B-6B59-DB48-B499-F5A36FAD55C4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8E7CF7F8-40AB-27ED-97DF-396D1D9EDD8A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pPr algn="ctr"/>
              <a:r>
                <a:rPr lang="en-IN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DATA UNDERSTANDING</a:t>
              </a:r>
              <a:endParaRPr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0" name="Rounded Rectangle 5">
            <a:extLst>
              <a:ext uri="{FF2B5EF4-FFF2-40B4-BE49-F238E27FC236}">
                <a16:creationId xmlns:a16="http://schemas.microsoft.com/office/drawing/2014/main" id="{C818AC8A-C907-D4C6-3E4B-589303DFCD60}"/>
              </a:ext>
            </a:extLst>
          </p:cNvPr>
          <p:cNvSpPr/>
          <p:nvPr/>
        </p:nvSpPr>
        <p:spPr>
          <a:xfrm>
            <a:off x="430277" y="1339850"/>
            <a:ext cx="5532120" cy="452628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E0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Understanding</a:t>
            </a:r>
          </a:p>
          <a:p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print("Number of Rows:", 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df.shape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[0])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print("Number of Columns:", 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df.shape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[1])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print("\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nColumn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Names:")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df.columns.tolist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())</a:t>
            </a:r>
          </a:p>
        </p:txBody>
      </p:sp>
      <p:sp>
        <p:nvSpPr>
          <p:cNvPr id="12" name="Rounded Rectangle 6">
            <a:extLst>
              <a:ext uri="{FF2B5EF4-FFF2-40B4-BE49-F238E27FC236}">
                <a16:creationId xmlns:a16="http://schemas.microsoft.com/office/drawing/2014/main" id="{75E41977-2C32-FF54-2325-740D1AFF9A4B}"/>
              </a:ext>
            </a:extLst>
          </p:cNvPr>
          <p:cNvSpPr/>
          <p:nvPr/>
        </p:nvSpPr>
        <p:spPr>
          <a:xfrm>
            <a:off x="949016" y="1682137"/>
            <a:ext cx="1302185" cy="343307"/>
          </a:xfrm>
          <a:prstGeom prst="roundRect">
            <a:avLst/>
          </a:prstGeom>
          <a:solidFill>
            <a:srgbClr val="1531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:</a:t>
            </a:r>
          </a:p>
        </p:txBody>
      </p:sp>
      <p:sp>
        <p:nvSpPr>
          <p:cNvPr id="14" name="Rounded Rectangle 9">
            <a:extLst>
              <a:ext uri="{FF2B5EF4-FFF2-40B4-BE49-F238E27FC236}">
                <a16:creationId xmlns:a16="http://schemas.microsoft.com/office/drawing/2014/main" id="{89F83F34-A11F-83E4-0106-450683AEA03E}"/>
              </a:ext>
            </a:extLst>
          </p:cNvPr>
          <p:cNvSpPr/>
          <p:nvPr/>
        </p:nvSpPr>
        <p:spPr>
          <a:xfrm>
            <a:off x="6229604" y="1454150"/>
            <a:ext cx="5468112" cy="2148840"/>
          </a:xfrm>
          <a:prstGeom prst="roundRect">
            <a:avLst/>
          </a:prstGeom>
          <a:solidFill>
            <a:srgbClr val="FAFCF9"/>
          </a:solidFill>
          <a:ln w="12700">
            <a:solidFill>
              <a:srgbClr val="CA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6">
            <a:extLst>
              <a:ext uri="{FF2B5EF4-FFF2-40B4-BE49-F238E27FC236}">
                <a16:creationId xmlns:a16="http://schemas.microsoft.com/office/drawing/2014/main" id="{4DAD3621-CA45-4130-38A4-37ACAD5395F5}"/>
              </a:ext>
            </a:extLst>
          </p:cNvPr>
          <p:cNvSpPr/>
          <p:nvPr/>
        </p:nvSpPr>
        <p:spPr>
          <a:xfrm>
            <a:off x="6498907" y="1675937"/>
            <a:ext cx="1302185" cy="343307"/>
          </a:xfrm>
          <a:prstGeom prst="roundRect">
            <a:avLst/>
          </a:prstGeom>
          <a:solidFill>
            <a:srgbClr val="1531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: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AD74446-1270-8936-B41C-0D7FA5D6545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8907" y="2173116"/>
            <a:ext cx="4817101" cy="1198311"/>
          </a:xfrm>
          <a:prstGeom prst="rect">
            <a:avLst/>
          </a:prstGeom>
        </p:spPr>
      </p:pic>
      <p:sp>
        <p:nvSpPr>
          <p:cNvPr id="24" name="Rounded Rectangle 13">
            <a:extLst>
              <a:ext uri="{FF2B5EF4-FFF2-40B4-BE49-F238E27FC236}">
                <a16:creationId xmlns:a16="http://schemas.microsoft.com/office/drawing/2014/main" id="{68B0AB11-8A4A-7A0C-784E-A85E238A599A}"/>
              </a:ext>
            </a:extLst>
          </p:cNvPr>
          <p:cNvSpPr/>
          <p:nvPr/>
        </p:nvSpPr>
        <p:spPr>
          <a:xfrm>
            <a:off x="6327451" y="3750809"/>
            <a:ext cx="5468112" cy="2176272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E0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understanding helps us identify the size and structure of the Netflix dataset before performing cleaning and analysis.</a:t>
            </a:r>
            <a:endParaRPr lang="en-IN" sz="19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Rounded Rectangle 6">
            <a:extLst>
              <a:ext uri="{FF2B5EF4-FFF2-40B4-BE49-F238E27FC236}">
                <a16:creationId xmlns:a16="http://schemas.microsoft.com/office/drawing/2014/main" id="{CF5814C4-84D8-C6C7-470E-C9B7F2177E75}"/>
              </a:ext>
            </a:extLst>
          </p:cNvPr>
          <p:cNvSpPr/>
          <p:nvPr/>
        </p:nvSpPr>
        <p:spPr>
          <a:xfrm>
            <a:off x="6597444" y="3901573"/>
            <a:ext cx="2143433" cy="343307"/>
          </a:xfrm>
          <a:prstGeom prst="roundRect">
            <a:avLst/>
          </a:prstGeom>
          <a:solidFill>
            <a:srgbClr val="1531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EXPLANATION :</a:t>
            </a:r>
          </a:p>
        </p:txBody>
      </p:sp>
    </p:spTree>
    <p:extLst>
      <p:ext uri="{BB962C8B-B14F-4D97-AF65-F5344CB8AC3E}">
        <p14:creationId xmlns:p14="http://schemas.microsoft.com/office/powerpoint/2010/main" val="14700430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B19C7-AFA9-BB06-AD20-68CD605FB5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>
            <a:extLst>
              <a:ext uri="{FF2B5EF4-FFF2-40B4-BE49-F238E27FC236}">
                <a16:creationId xmlns:a16="http://schemas.microsoft.com/office/drawing/2014/main" id="{31403253-247E-B439-AA6F-62D14F2926B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589" y="86469"/>
            <a:ext cx="1358249" cy="598086"/>
          </a:xfrm>
          <a:prstGeom prst="rect">
            <a:avLst/>
          </a:prstGeom>
        </p:spPr>
      </p:pic>
      <p:grpSp>
        <p:nvGrpSpPr>
          <p:cNvPr id="4" name="object 3">
            <a:extLst>
              <a:ext uri="{FF2B5EF4-FFF2-40B4-BE49-F238E27FC236}">
                <a16:creationId xmlns:a16="http://schemas.microsoft.com/office/drawing/2014/main" id="{92F90E5A-A81A-FBA7-9CB1-2B5AA3778234}"/>
              </a:ext>
            </a:extLst>
          </p:cNvPr>
          <p:cNvGrpSpPr/>
          <p:nvPr/>
        </p:nvGrpSpPr>
        <p:grpSpPr>
          <a:xfrm>
            <a:off x="3193025" y="283289"/>
            <a:ext cx="5334000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1F23C557-953F-003D-9B45-EB6CE2503BDD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FAABD7D6-99F9-8153-D960-20474659B58D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EF745E39-D9B8-A4A0-B9C4-6FB9BCD3140D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C5B46DE7-DB9C-A736-3981-EDE50E624047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pPr algn="ctr"/>
              <a:r>
                <a:rPr lang="en-IN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DATA INSPECTION</a:t>
              </a:r>
              <a:endParaRPr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0" name="Rounded Rectangle 5">
            <a:extLst>
              <a:ext uri="{FF2B5EF4-FFF2-40B4-BE49-F238E27FC236}">
                <a16:creationId xmlns:a16="http://schemas.microsoft.com/office/drawing/2014/main" id="{2A1276F8-6B4C-F789-5118-6FEFC2723345}"/>
              </a:ext>
            </a:extLst>
          </p:cNvPr>
          <p:cNvSpPr/>
          <p:nvPr/>
        </p:nvSpPr>
        <p:spPr>
          <a:xfrm>
            <a:off x="430277" y="1339850"/>
            <a:ext cx="5532120" cy="452628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E0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Data Inspection</a:t>
            </a:r>
          </a:p>
          <a:p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print("First 5 Records:")</a:t>
            </a:r>
          </a:p>
          <a:p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display(</a:t>
            </a:r>
            <a:r>
              <a:rPr lang="en-IN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df.head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())</a:t>
            </a:r>
          </a:p>
          <a:p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print("\</a:t>
            </a:r>
            <a:r>
              <a:rPr lang="en-IN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nDataset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Information:")</a:t>
            </a:r>
          </a:p>
          <a:p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df.info()</a:t>
            </a:r>
          </a:p>
          <a:p>
            <a:endParaRPr lang="en-I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OPERATIONS:</a:t>
            </a:r>
          </a:p>
          <a:p>
            <a:pPr lvl="0"/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head() → displays the first 5 records</a:t>
            </a:r>
          </a:p>
          <a:p>
            <a:pPr lvl="0"/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info() → shows column names, data types, and      non-null values</a:t>
            </a:r>
          </a:p>
        </p:txBody>
      </p:sp>
      <p:sp>
        <p:nvSpPr>
          <p:cNvPr id="12" name="Rounded Rectangle 6">
            <a:extLst>
              <a:ext uri="{FF2B5EF4-FFF2-40B4-BE49-F238E27FC236}">
                <a16:creationId xmlns:a16="http://schemas.microsoft.com/office/drawing/2014/main" id="{DE856E3A-FDE7-21A2-DAFB-AC56216033CF}"/>
              </a:ext>
            </a:extLst>
          </p:cNvPr>
          <p:cNvSpPr/>
          <p:nvPr/>
        </p:nvSpPr>
        <p:spPr>
          <a:xfrm>
            <a:off x="949016" y="1682137"/>
            <a:ext cx="1302185" cy="343307"/>
          </a:xfrm>
          <a:prstGeom prst="roundRect">
            <a:avLst/>
          </a:prstGeom>
          <a:solidFill>
            <a:srgbClr val="1531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:</a:t>
            </a:r>
          </a:p>
        </p:txBody>
      </p:sp>
      <p:sp>
        <p:nvSpPr>
          <p:cNvPr id="14" name="Rounded Rectangle 9">
            <a:extLst>
              <a:ext uri="{FF2B5EF4-FFF2-40B4-BE49-F238E27FC236}">
                <a16:creationId xmlns:a16="http://schemas.microsoft.com/office/drawing/2014/main" id="{9BF3196F-2F76-7138-453F-E43B6334631B}"/>
              </a:ext>
            </a:extLst>
          </p:cNvPr>
          <p:cNvSpPr/>
          <p:nvPr/>
        </p:nvSpPr>
        <p:spPr>
          <a:xfrm>
            <a:off x="6229604" y="1454150"/>
            <a:ext cx="5468112" cy="4526280"/>
          </a:xfrm>
          <a:prstGeom prst="roundRect">
            <a:avLst/>
          </a:prstGeom>
          <a:solidFill>
            <a:srgbClr val="FAFCF9"/>
          </a:solidFill>
          <a:ln w="12700">
            <a:solidFill>
              <a:srgbClr val="CA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6">
            <a:extLst>
              <a:ext uri="{FF2B5EF4-FFF2-40B4-BE49-F238E27FC236}">
                <a16:creationId xmlns:a16="http://schemas.microsoft.com/office/drawing/2014/main" id="{D3F9862B-4F59-9B6D-9E93-3E61684A66EA}"/>
              </a:ext>
            </a:extLst>
          </p:cNvPr>
          <p:cNvSpPr/>
          <p:nvPr/>
        </p:nvSpPr>
        <p:spPr>
          <a:xfrm>
            <a:off x="6498907" y="1675937"/>
            <a:ext cx="1302185" cy="343307"/>
          </a:xfrm>
          <a:prstGeom prst="roundRect">
            <a:avLst/>
          </a:prstGeom>
          <a:solidFill>
            <a:srgbClr val="1531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: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207C2C4-3548-CD6B-B7D7-308BB2B5A57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8906" y="2058536"/>
            <a:ext cx="5063829" cy="208084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1D187CC-B3B8-0EE7-A0CC-A45B6A1F02B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8906" y="4041057"/>
            <a:ext cx="5063829" cy="1641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11590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A6EC38-CA41-62F3-5B47-B838607B5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>
            <a:extLst>
              <a:ext uri="{FF2B5EF4-FFF2-40B4-BE49-F238E27FC236}">
                <a16:creationId xmlns:a16="http://schemas.microsoft.com/office/drawing/2014/main" id="{F11DA6DD-F547-9979-6BCD-E645DC0C147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589" y="86469"/>
            <a:ext cx="1358249" cy="598086"/>
          </a:xfrm>
          <a:prstGeom prst="rect">
            <a:avLst/>
          </a:prstGeom>
        </p:spPr>
      </p:pic>
      <p:grpSp>
        <p:nvGrpSpPr>
          <p:cNvPr id="4" name="object 3">
            <a:extLst>
              <a:ext uri="{FF2B5EF4-FFF2-40B4-BE49-F238E27FC236}">
                <a16:creationId xmlns:a16="http://schemas.microsoft.com/office/drawing/2014/main" id="{E41CCDC2-B2BB-4A1C-E199-75A26907EC8E}"/>
              </a:ext>
            </a:extLst>
          </p:cNvPr>
          <p:cNvGrpSpPr/>
          <p:nvPr/>
        </p:nvGrpSpPr>
        <p:grpSpPr>
          <a:xfrm>
            <a:off x="3193025" y="283289"/>
            <a:ext cx="5334000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06DC64EA-9187-72BA-3CB9-82EB678EBDB8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7D9FDC75-BC2C-7EFB-2F6C-52CFADE8F078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B271C68D-31F3-80B9-0EA3-C2C71946100A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645BA7F8-9F9D-A52E-CBB8-4693827C4456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pPr algn="ctr"/>
              <a:r>
                <a:rPr lang="en-IN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MISSING VALUE ANALYSIS</a:t>
              </a:r>
              <a:endParaRPr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0" name="Rounded Rectangle 5">
            <a:extLst>
              <a:ext uri="{FF2B5EF4-FFF2-40B4-BE49-F238E27FC236}">
                <a16:creationId xmlns:a16="http://schemas.microsoft.com/office/drawing/2014/main" id="{4925D502-4FE1-4495-DEEB-8DCB98465A9B}"/>
              </a:ext>
            </a:extLst>
          </p:cNvPr>
          <p:cNvSpPr/>
          <p:nvPr/>
        </p:nvSpPr>
        <p:spPr>
          <a:xfrm>
            <a:off x="430277" y="1339850"/>
            <a:ext cx="5532120" cy="452628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E0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Missing Value Analysis</a:t>
            </a:r>
          </a:p>
          <a:p>
            <a:endParaRPr lang="en-I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missing_values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df.isnull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().sum()</a:t>
            </a:r>
          </a:p>
          <a:p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print("Missing Values in Each Column:")</a:t>
            </a:r>
          </a:p>
          <a:p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</a:t>
            </a:r>
            <a:r>
              <a:rPr lang="en-IN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missing_values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lang="en-I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IMPORTANT FINDINGS:</a:t>
            </a:r>
          </a:p>
          <a:p>
            <a:endParaRPr lang="en-I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 missing values: 4,314</a:t>
            </a:r>
          </a:p>
          <a:p>
            <a:endParaRPr lang="en-I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ounded Rectangle 6">
            <a:extLst>
              <a:ext uri="{FF2B5EF4-FFF2-40B4-BE49-F238E27FC236}">
                <a16:creationId xmlns:a16="http://schemas.microsoft.com/office/drawing/2014/main" id="{48D17527-E379-5961-A114-65FE8CF7EE2D}"/>
              </a:ext>
            </a:extLst>
          </p:cNvPr>
          <p:cNvSpPr/>
          <p:nvPr/>
        </p:nvSpPr>
        <p:spPr>
          <a:xfrm>
            <a:off x="949016" y="1682137"/>
            <a:ext cx="1302185" cy="343307"/>
          </a:xfrm>
          <a:prstGeom prst="roundRect">
            <a:avLst/>
          </a:prstGeom>
          <a:solidFill>
            <a:srgbClr val="1531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:</a:t>
            </a:r>
          </a:p>
        </p:txBody>
      </p:sp>
      <p:sp>
        <p:nvSpPr>
          <p:cNvPr id="14" name="Rounded Rectangle 9">
            <a:extLst>
              <a:ext uri="{FF2B5EF4-FFF2-40B4-BE49-F238E27FC236}">
                <a16:creationId xmlns:a16="http://schemas.microsoft.com/office/drawing/2014/main" id="{378D4B26-000C-ECCC-E0A1-DC1666F14479}"/>
              </a:ext>
            </a:extLst>
          </p:cNvPr>
          <p:cNvSpPr/>
          <p:nvPr/>
        </p:nvSpPr>
        <p:spPr>
          <a:xfrm>
            <a:off x="6229604" y="1454150"/>
            <a:ext cx="5468112" cy="2148840"/>
          </a:xfrm>
          <a:prstGeom prst="roundRect">
            <a:avLst/>
          </a:prstGeom>
          <a:solidFill>
            <a:srgbClr val="FAFCF9"/>
          </a:solidFill>
          <a:ln w="12700">
            <a:solidFill>
              <a:srgbClr val="CA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6">
            <a:extLst>
              <a:ext uri="{FF2B5EF4-FFF2-40B4-BE49-F238E27FC236}">
                <a16:creationId xmlns:a16="http://schemas.microsoft.com/office/drawing/2014/main" id="{5C0E99F7-A6C8-4F22-2025-4632A7F0D62A}"/>
              </a:ext>
            </a:extLst>
          </p:cNvPr>
          <p:cNvSpPr/>
          <p:nvPr/>
        </p:nvSpPr>
        <p:spPr>
          <a:xfrm>
            <a:off x="6498907" y="1675937"/>
            <a:ext cx="1302185" cy="343307"/>
          </a:xfrm>
          <a:prstGeom prst="roundRect">
            <a:avLst/>
          </a:prstGeom>
          <a:solidFill>
            <a:srgbClr val="1531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:</a:t>
            </a:r>
          </a:p>
        </p:txBody>
      </p:sp>
      <p:sp>
        <p:nvSpPr>
          <p:cNvPr id="24" name="Rounded Rectangle 13">
            <a:extLst>
              <a:ext uri="{FF2B5EF4-FFF2-40B4-BE49-F238E27FC236}">
                <a16:creationId xmlns:a16="http://schemas.microsoft.com/office/drawing/2014/main" id="{BFFC774E-9DFD-FA77-F6F9-667152C110DF}"/>
              </a:ext>
            </a:extLst>
          </p:cNvPr>
          <p:cNvSpPr/>
          <p:nvPr/>
        </p:nvSpPr>
        <p:spPr>
          <a:xfrm>
            <a:off x="6327451" y="3750809"/>
            <a:ext cx="5468112" cy="2176272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E0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Missing values were identified before cleaning so that they could be handled appropriately during the data-cleaning stage.</a:t>
            </a:r>
            <a:endParaRPr lang="en-IN" sz="19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Rounded Rectangle 6">
            <a:extLst>
              <a:ext uri="{FF2B5EF4-FFF2-40B4-BE49-F238E27FC236}">
                <a16:creationId xmlns:a16="http://schemas.microsoft.com/office/drawing/2014/main" id="{4B49CAC6-6702-8225-2797-2DDD5F205ECA}"/>
              </a:ext>
            </a:extLst>
          </p:cNvPr>
          <p:cNvSpPr/>
          <p:nvPr/>
        </p:nvSpPr>
        <p:spPr>
          <a:xfrm>
            <a:off x="6597444" y="3901573"/>
            <a:ext cx="2143433" cy="343307"/>
          </a:xfrm>
          <a:prstGeom prst="roundRect">
            <a:avLst/>
          </a:prstGeom>
          <a:solidFill>
            <a:srgbClr val="1531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EXPLANATION :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61CDA1A-4310-69C0-64F1-5F6A7CBADA1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1290" y="2106453"/>
            <a:ext cx="3365206" cy="1322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74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CA1305-6135-A735-C337-6D306E7A0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>
            <a:extLst>
              <a:ext uri="{FF2B5EF4-FFF2-40B4-BE49-F238E27FC236}">
                <a16:creationId xmlns:a16="http://schemas.microsoft.com/office/drawing/2014/main" id="{0940B3A0-B9D7-6D5B-19ED-731E2D19873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589" y="86469"/>
            <a:ext cx="1358249" cy="598086"/>
          </a:xfrm>
          <a:prstGeom prst="rect">
            <a:avLst/>
          </a:prstGeom>
        </p:spPr>
      </p:pic>
      <p:grpSp>
        <p:nvGrpSpPr>
          <p:cNvPr id="4" name="object 3">
            <a:extLst>
              <a:ext uri="{FF2B5EF4-FFF2-40B4-BE49-F238E27FC236}">
                <a16:creationId xmlns:a16="http://schemas.microsoft.com/office/drawing/2014/main" id="{A884F605-2A3B-9A4C-A855-05E011C0C3DA}"/>
              </a:ext>
            </a:extLst>
          </p:cNvPr>
          <p:cNvGrpSpPr/>
          <p:nvPr/>
        </p:nvGrpSpPr>
        <p:grpSpPr>
          <a:xfrm>
            <a:off x="3193025" y="283289"/>
            <a:ext cx="5334000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A77CCEEE-2A29-BBCA-C32E-7D258430142E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E8823E17-114E-1AF7-D008-725EC9652AB1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591C4C86-9F64-62DD-81E0-2A056DC79290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B365FBD1-9EF2-6BAA-07CB-BA95AEBF60F5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pPr algn="ctr"/>
              <a:r>
                <a:rPr lang="en-IN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DUPLICATE VALUE ANALYSIS</a:t>
              </a:r>
              <a:endParaRPr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0" name="Rounded Rectangle 5">
            <a:extLst>
              <a:ext uri="{FF2B5EF4-FFF2-40B4-BE49-F238E27FC236}">
                <a16:creationId xmlns:a16="http://schemas.microsoft.com/office/drawing/2014/main" id="{D0523EB3-DBBD-C1CB-3B4E-5AE4FDD110C6}"/>
              </a:ext>
            </a:extLst>
          </p:cNvPr>
          <p:cNvSpPr/>
          <p:nvPr/>
        </p:nvSpPr>
        <p:spPr>
          <a:xfrm>
            <a:off x="430277" y="1339850"/>
            <a:ext cx="5532120" cy="452628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E0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Duplicate Value Analysis</a:t>
            </a:r>
          </a:p>
          <a:p>
            <a:endParaRPr lang="en-IN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duplicate_count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df.duplicated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().sum()</a:t>
            </a:r>
          </a:p>
          <a:p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print("Number of Duplicate Rows:", </a:t>
            </a:r>
            <a:r>
              <a:rPr lang="en-IN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duplicate_count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12" name="Rounded Rectangle 6">
            <a:extLst>
              <a:ext uri="{FF2B5EF4-FFF2-40B4-BE49-F238E27FC236}">
                <a16:creationId xmlns:a16="http://schemas.microsoft.com/office/drawing/2014/main" id="{4A876051-844D-31A6-AF0E-C7053979F50A}"/>
              </a:ext>
            </a:extLst>
          </p:cNvPr>
          <p:cNvSpPr/>
          <p:nvPr/>
        </p:nvSpPr>
        <p:spPr>
          <a:xfrm>
            <a:off x="949016" y="1682137"/>
            <a:ext cx="1302185" cy="343307"/>
          </a:xfrm>
          <a:prstGeom prst="roundRect">
            <a:avLst/>
          </a:prstGeom>
          <a:solidFill>
            <a:srgbClr val="1531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:</a:t>
            </a:r>
          </a:p>
        </p:txBody>
      </p:sp>
      <p:sp>
        <p:nvSpPr>
          <p:cNvPr id="14" name="Rounded Rectangle 9">
            <a:extLst>
              <a:ext uri="{FF2B5EF4-FFF2-40B4-BE49-F238E27FC236}">
                <a16:creationId xmlns:a16="http://schemas.microsoft.com/office/drawing/2014/main" id="{25EB4805-5453-8C6A-0BC9-EACD7F37F575}"/>
              </a:ext>
            </a:extLst>
          </p:cNvPr>
          <p:cNvSpPr/>
          <p:nvPr/>
        </p:nvSpPr>
        <p:spPr>
          <a:xfrm>
            <a:off x="6229604" y="1454150"/>
            <a:ext cx="5468112" cy="2148840"/>
          </a:xfrm>
          <a:prstGeom prst="roundRect">
            <a:avLst/>
          </a:prstGeom>
          <a:solidFill>
            <a:srgbClr val="FAFCF9"/>
          </a:solidFill>
          <a:ln w="12700">
            <a:solidFill>
              <a:srgbClr val="CA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6">
            <a:extLst>
              <a:ext uri="{FF2B5EF4-FFF2-40B4-BE49-F238E27FC236}">
                <a16:creationId xmlns:a16="http://schemas.microsoft.com/office/drawing/2014/main" id="{F37057FF-1AB2-7B2C-BAD5-2D7BBDE9A7DF}"/>
              </a:ext>
            </a:extLst>
          </p:cNvPr>
          <p:cNvSpPr/>
          <p:nvPr/>
        </p:nvSpPr>
        <p:spPr>
          <a:xfrm>
            <a:off x="6498907" y="1675937"/>
            <a:ext cx="1302185" cy="343307"/>
          </a:xfrm>
          <a:prstGeom prst="roundRect">
            <a:avLst/>
          </a:prstGeom>
          <a:solidFill>
            <a:srgbClr val="1531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:</a:t>
            </a:r>
          </a:p>
        </p:txBody>
      </p:sp>
      <p:sp>
        <p:nvSpPr>
          <p:cNvPr id="24" name="Rounded Rectangle 13">
            <a:extLst>
              <a:ext uri="{FF2B5EF4-FFF2-40B4-BE49-F238E27FC236}">
                <a16:creationId xmlns:a16="http://schemas.microsoft.com/office/drawing/2014/main" id="{66DD5F6D-0288-8436-64F0-EA11579A4EC5}"/>
              </a:ext>
            </a:extLst>
          </p:cNvPr>
          <p:cNvSpPr/>
          <p:nvPr/>
        </p:nvSpPr>
        <p:spPr>
          <a:xfrm>
            <a:off x="6327451" y="3750809"/>
            <a:ext cx="5468112" cy="2176272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E0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Five completely duplicated records were identified in the dataset. These duplicate rows were removed before further analysis.</a:t>
            </a:r>
            <a:endParaRPr lang="en-IN" sz="19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Rounded Rectangle 6">
            <a:extLst>
              <a:ext uri="{FF2B5EF4-FFF2-40B4-BE49-F238E27FC236}">
                <a16:creationId xmlns:a16="http://schemas.microsoft.com/office/drawing/2014/main" id="{4D3C0A71-4B11-37CA-EAA9-F4191E7BD999}"/>
              </a:ext>
            </a:extLst>
          </p:cNvPr>
          <p:cNvSpPr/>
          <p:nvPr/>
        </p:nvSpPr>
        <p:spPr>
          <a:xfrm>
            <a:off x="6597444" y="3901573"/>
            <a:ext cx="2143433" cy="343307"/>
          </a:xfrm>
          <a:prstGeom prst="roundRect">
            <a:avLst/>
          </a:prstGeom>
          <a:solidFill>
            <a:srgbClr val="1531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EXPLANATION :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06AC0E9-2AB1-E2C9-8EE1-96C158675C5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7444" y="2313432"/>
            <a:ext cx="3323304" cy="386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3616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550341-FA92-D760-FAC8-FE276E31E9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>
            <a:extLst>
              <a:ext uri="{FF2B5EF4-FFF2-40B4-BE49-F238E27FC236}">
                <a16:creationId xmlns:a16="http://schemas.microsoft.com/office/drawing/2014/main" id="{1C235B9E-5AB4-45CB-033B-1CEA881E226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589" y="86469"/>
            <a:ext cx="1358249" cy="598086"/>
          </a:xfrm>
          <a:prstGeom prst="rect">
            <a:avLst/>
          </a:prstGeom>
        </p:spPr>
      </p:pic>
      <p:grpSp>
        <p:nvGrpSpPr>
          <p:cNvPr id="4" name="object 3">
            <a:extLst>
              <a:ext uri="{FF2B5EF4-FFF2-40B4-BE49-F238E27FC236}">
                <a16:creationId xmlns:a16="http://schemas.microsoft.com/office/drawing/2014/main" id="{CA5BA917-0A42-7559-F6A1-4BAF93DCFCCB}"/>
              </a:ext>
            </a:extLst>
          </p:cNvPr>
          <p:cNvGrpSpPr/>
          <p:nvPr/>
        </p:nvGrpSpPr>
        <p:grpSpPr>
          <a:xfrm>
            <a:off x="3193025" y="283289"/>
            <a:ext cx="5334000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9AB9C1AB-65EA-A82A-D130-28353DAC4DB8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F58E629E-138F-5D47-4D06-18E1EB6E305F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A2C0D47A-1373-8515-2FCD-586F2D82268E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935D5C95-5FD6-4D0F-EFAE-3209805A6173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pPr algn="ctr"/>
              <a:r>
                <a:rPr lang="en-IN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DATA CLEANING</a:t>
              </a:r>
              <a:endParaRPr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0" name="Rounded Rectangle 5">
            <a:extLst>
              <a:ext uri="{FF2B5EF4-FFF2-40B4-BE49-F238E27FC236}">
                <a16:creationId xmlns:a16="http://schemas.microsoft.com/office/drawing/2014/main" id="{93FFA8C7-2FCD-B639-726F-7431E749BFBB}"/>
              </a:ext>
            </a:extLst>
          </p:cNvPr>
          <p:cNvSpPr/>
          <p:nvPr/>
        </p:nvSpPr>
        <p:spPr>
          <a:xfrm>
            <a:off x="390700" y="1115345"/>
            <a:ext cx="5532120" cy="5572455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E0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sz="19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9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9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9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9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Remove Duplicate Rows</a:t>
            </a:r>
          </a:p>
          <a:p>
            <a:r>
              <a:rPr lang="en-IN" sz="19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IN" sz="1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19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df.drop_duplicates</a:t>
            </a:r>
            <a:r>
              <a:rPr lang="en-IN" sz="1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r>
              <a:rPr lang="en-IN" sz="1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print("Duplicate rows removed successfully")</a:t>
            </a:r>
          </a:p>
          <a:p>
            <a:r>
              <a:rPr lang="en-IN" sz="1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print("Number of Duplicate Rows:", </a:t>
            </a:r>
            <a:r>
              <a:rPr lang="en-IN" sz="19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df.duplicated</a:t>
            </a:r>
            <a:r>
              <a:rPr lang="en-IN" sz="1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().sum())</a:t>
            </a:r>
          </a:p>
          <a:p>
            <a:r>
              <a:rPr lang="en-IN" sz="1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print("Updated Dataset Shape:", </a:t>
            </a:r>
            <a:r>
              <a:rPr lang="en-IN" sz="19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df.shape</a:t>
            </a:r>
            <a:r>
              <a:rPr lang="en-IN" sz="1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IN" sz="19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#Handle Missing Values</a:t>
            </a:r>
          </a:p>
          <a:p>
            <a:r>
              <a:rPr lang="en-IN" sz="19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IN" sz="1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['director'] = </a:t>
            </a:r>
            <a:r>
              <a:rPr lang="en-IN" sz="19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IN" sz="1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['director'].</a:t>
            </a:r>
            <a:r>
              <a:rPr lang="en-IN" sz="19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fillna</a:t>
            </a:r>
            <a:r>
              <a:rPr lang="en-IN" sz="1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('Unknown')</a:t>
            </a:r>
          </a:p>
          <a:p>
            <a:r>
              <a:rPr lang="en-IN" sz="19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IN" sz="1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['cast'] = </a:t>
            </a:r>
            <a:r>
              <a:rPr lang="en-IN" sz="19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IN" sz="1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['cast'].</a:t>
            </a:r>
            <a:r>
              <a:rPr lang="en-IN" sz="19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fillna</a:t>
            </a:r>
            <a:r>
              <a:rPr lang="en-IN" sz="1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('Unknown')</a:t>
            </a:r>
          </a:p>
          <a:p>
            <a:r>
              <a:rPr lang="en-IN" sz="19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IN" sz="1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['country'] = </a:t>
            </a:r>
            <a:r>
              <a:rPr lang="en-IN" sz="19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IN" sz="1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['country'].</a:t>
            </a:r>
            <a:r>
              <a:rPr lang="en-IN" sz="19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fillna</a:t>
            </a:r>
            <a:r>
              <a:rPr lang="en-IN" sz="1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('Unknown')</a:t>
            </a:r>
          </a:p>
          <a:p>
            <a:r>
              <a:rPr lang="en-IN" sz="19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IN" sz="1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['</a:t>
            </a:r>
            <a:r>
              <a:rPr lang="en-IN" sz="19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date_added</a:t>
            </a:r>
            <a:r>
              <a:rPr lang="en-IN" sz="1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’] =</a:t>
            </a:r>
            <a:r>
              <a:rPr lang="en-IN" sz="19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IN" sz="1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['</a:t>
            </a:r>
            <a:r>
              <a:rPr lang="en-IN" sz="19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date_added</a:t>
            </a:r>
            <a:r>
              <a:rPr lang="en-IN" sz="1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'].</a:t>
            </a:r>
            <a:r>
              <a:rPr lang="en-IN" sz="19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fillna</a:t>
            </a:r>
            <a:r>
              <a:rPr lang="en-IN" sz="1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('Unknown')</a:t>
            </a:r>
          </a:p>
          <a:p>
            <a:r>
              <a:rPr lang="en-IN" sz="19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IN" sz="1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['rating'] = </a:t>
            </a:r>
            <a:r>
              <a:rPr lang="en-IN" sz="19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IN" sz="1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['rating'].</a:t>
            </a:r>
            <a:r>
              <a:rPr lang="en-IN" sz="19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fillna</a:t>
            </a:r>
            <a:r>
              <a:rPr lang="en-IN" sz="1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('Unknown')</a:t>
            </a:r>
          </a:p>
          <a:p>
            <a:r>
              <a:rPr lang="en-IN" sz="19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IN" sz="1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['duration'] = </a:t>
            </a:r>
            <a:r>
              <a:rPr lang="en-IN" sz="19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IN" sz="1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['duration'].</a:t>
            </a:r>
            <a:r>
              <a:rPr lang="en-IN" sz="19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fillna</a:t>
            </a:r>
            <a:r>
              <a:rPr lang="en-IN" sz="1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('Unknown')</a:t>
            </a:r>
          </a:p>
          <a:p>
            <a:r>
              <a:rPr lang="en-IN" sz="1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print("Missing values handled successfully")</a:t>
            </a:r>
          </a:p>
          <a:p>
            <a:r>
              <a:rPr lang="en-IN" sz="1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print("\</a:t>
            </a:r>
            <a:r>
              <a:rPr lang="en-IN" sz="19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nMissing</a:t>
            </a:r>
            <a:r>
              <a:rPr lang="en-IN" sz="1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Values After Cleaning:")</a:t>
            </a:r>
          </a:p>
          <a:p>
            <a:r>
              <a:rPr lang="en-IN" sz="1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</a:t>
            </a:r>
            <a:r>
              <a:rPr lang="en-IN" sz="19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df.isnull</a:t>
            </a:r>
            <a:r>
              <a:rPr lang="en-IN" sz="1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().sum().sum())</a:t>
            </a:r>
          </a:p>
          <a:p>
            <a:br>
              <a:rPr lang="en-IN" sz="1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19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9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ounded Rectangle 6">
            <a:extLst>
              <a:ext uri="{FF2B5EF4-FFF2-40B4-BE49-F238E27FC236}">
                <a16:creationId xmlns:a16="http://schemas.microsoft.com/office/drawing/2014/main" id="{BE0194E2-6647-90B2-A46C-4DC135DAC9FE}"/>
              </a:ext>
            </a:extLst>
          </p:cNvPr>
          <p:cNvSpPr/>
          <p:nvPr/>
        </p:nvSpPr>
        <p:spPr>
          <a:xfrm>
            <a:off x="1031746" y="1225603"/>
            <a:ext cx="1302185" cy="349507"/>
          </a:xfrm>
          <a:prstGeom prst="roundRect">
            <a:avLst/>
          </a:prstGeom>
          <a:solidFill>
            <a:srgbClr val="1531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:</a:t>
            </a:r>
          </a:p>
        </p:txBody>
      </p:sp>
      <p:sp>
        <p:nvSpPr>
          <p:cNvPr id="14" name="Rounded Rectangle 9">
            <a:extLst>
              <a:ext uri="{FF2B5EF4-FFF2-40B4-BE49-F238E27FC236}">
                <a16:creationId xmlns:a16="http://schemas.microsoft.com/office/drawing/2014/main" id="{164BDFAB-43E6-E060-6AD6-EEB30B23EF70}"/>
              </a:ext>
            </a:extLst>
          </p:cNvPr>
          <p:cNvSpPr/>
          <p:nvPr/>
        </p:nvSpPr>
        <p:spPr>
          <a:xfrm>
            <a:off x="6269182" y="1223142"/>
            <a:ext cx="5468112" cy="2148840"/>
          </a:xfrm>
          <a:prstGeom prst="roundRect">
            <a:avLst/>
          </a:prstGeom>
          <a:solidFill>
            <a:srgbClr val="FAFCF9"/>
          </a:solidFill>
          <a:ln w="12700">
            <a:solidFill>
              <a:srgbClr val="CA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6">
            <a:extLst>
              <a:ext uri="{FF2B5EF4-FFF2-40B4-BE49-F238E27FC236}">
                <a16:creationId xmlns:a16="http://schemas.microsoft.com/office/drawing/2014/main" id="{183D02A5-6D34-D544-5E1D-DAB16547C869}"/>
              </a:ext>
            </a:extLst>
          </p:cNvPr>
          <p:cNvSpPr/>
          <p:nvPr/>
        </p:nvSpPr>
        <p:spPr>
          <a:xfrm>
            <a:off x="6498907" y="1400356"/>
            <a:ext cx="1302185" cy="365735"/>
          </a:xfrm>
          <a:prstGeom prst="roundRect">
            <a:avLst/>
          </a:prstGeom>
          <a:solidFill>
            <a:srgbClr val="1531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:</a:t>
            </a:r>
          </a:p>
        </p:txBody>
      </p:sp>
      <p:sp>
        <p:nvSpPr>
          <p:cNvPr id="24" name="Rounded Rectangle 13">
            <a:extLst>
              <a:ext uri="{FF2B5EF4-FFF2-40B4-BE49-F238E27FC236}">
                <a16:creationId xmlns:a16="http://schemas.microsoft.com/office/drawing/2014/main" id="{1EC62081-1759-892F-7697-5DE20E176FC1}"/>
              </a:ext>
            </a:extLst>
          </p:cNvPr>
          <p:cNvSpPr/>
          <p:nvPr/>
        </p:nvSpPr>
        <p:spPr>
          <a:xfrm>
            <a:off x="6333188" y="3998795"/>
            <a:ext cx="5468112" cy="2176272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E0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lvl="0" indent="-342900">
              <a:buFont typeface="Wingdings" panose="05000000000000000000" pitchFamily="2" charset="2"/>
              <a:buChar char="Ø"/>
            </a:pPr>
            <a:endParaRPr lang="en-I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Duplicate rows removed: </a:t>
            </a:r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I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 row count: </a:t>
            </a:r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8,807</a:t>
            </a:r>
            <a:endParaRPr lang="en-I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Missing values were handled using </a:t>
            </a:r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"Unknown"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26" name="Rounded Rectangle 6">
            <a:extLst>
              <a:ext uri="{FF2B5EF4-FFF2-40B4-BE49-F238E27FC236}">
                <a16:creationId xmlns:a16="http://schemas.microsoft.com/office/drawing/2014/main" id="{0E84E87D-8C9D-2A27-471A-9836148D6488}"/>
              </a:ext>
            </a:extLst>
          </p:cNvPr>
          <p:cNvSpPr/>
          <p:nvPr/>
        </p:nvSpPr>
        <p:spPr>
          <a:xfrm>
            <a:off x="6498907" y="4140181"/>
            <a:ext cx="2143433" cy="343307"/>
          </a:xfrm>
          <a:prstGeom prst="roundRect">
            <a:avLst/>
          </a:prstGeom>
          <a:solidFill>
            <a:srgbClr val="1531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: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1B41247-4A60-E0B5-8B44-092C07911A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8907" y="1902816"/>
            <a:ext cx="3215919" cy="68306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3F46024-DF9A-E9F3-6A85-C5C2A7149CB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4322" y="2637399"/>
            <a:ext cx="3330229" cy="683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6519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65BF18-C85F-CDF8-E55A-5E36B5F90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>
            <a:extLst>
              <a:ext uri="{FF2B5EF4-FFF2-40B4-BE49-F238E27FC236}">
                <a16:creationId xmlns:a16="http://schemas.microsoft.com/office/drawing/2014/main" id="{D5B4309C-8E3A-9944-A02F-9AF94B73E1B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589" y="86469"/>
            <a:ext cx="1358249" cy="598086"/>
          </a:xfrm>
          <a:prstGeom prst="rect">
            <a:avLst/>
          </a:prstGeom>
        </p:spPr>
      </p:pic>
      <p:grpSp>
        <p:nvGrpSpPr>
          <p:cNvPr id="4" name="object 3">
            <a:extLst>
              <a:ext uri="{FF2B5EF4-FFF2-40B4-BE49-F238E27FC236}">
                <a16:creationId xmlns:a16="http://schemas.microsoft.com/office/drawing/2014/main" id="{1FA59074-F7A2-EB55-105B-C91D4FC9E91D}"/>
              </a:ext>
            </a:extLst>
          </p:cNvPr>
          <p:cNvGrpSpPr/>
          <p:nvPr/>
        </p:nvGrpSpPr>
        <p:grpSpPr>
          <a:xfrm>
            <a:off x="3193025" y="283289"/>
            <a:ext cx="5334000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85EA03CD-9FCE-D917-BF35-C23928AB9409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2A7F74BE-3EBA-9673-1382-2BC23999B531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CCB6C0D8-B4A2-CEB9-D0C9-FE315F966525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D63D4F31-D0E7-63B4-5A39-3CE4184AB986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pPr algn="ctr"/>
              <a:r>
                <a:rPr lang="en-IN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DATA PREPROCESSING</a:t>
              </a:r>
              <a:endParaRPr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0" name="Rounded Rectangle 5">
            <a:extLst>
              <a:ext uri="{FF2B5EF4-FFF2-40B4-BE49-F238E27FC236}">
                <a16:creationId xmlns:a16="http://schemas.microsoft.com/office/drawing/2014/main" id="{200D6C73-1EBC-57EC-E91E-E82802A3E4C9}"/>
              </a:ext>
            </a:extLst>
          </p:cNvPr>
          <p:cNvSpPr/>
          <p:nvPr/>
        </p:nvSpPr>
        <p:spPr>
          <a:xfrm>
            <a:off x="430277" y="1339850"/>
            <a:ext cx="5532120" cy="452628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E0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Data Preprocessing</a:t>
            </a:r>
          </a:p>
          <a:p>
            <a:endParaRPr lang="en-IN" dirty="0"/>
          </a:p>
          <a:p>
            <a:r>
              <a:rPr lang="en-IN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['</a:t>
            </a:r>
            <a:r>
              <a:rPr lang="en-IN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date_added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'] = </a:t>
            </a:r>
            <a:r>
              <a:rPr lang="en-IN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pd.to_datetime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</a:p>
          <a:p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IN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['</a:t>
            </a:r>
            <a:r>
              <a:rPr lang="en-IN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date_added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'],</a:t>
            </a:r>
          </a:p>
          <a:p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errors='coerce’)</a:t>
            </a:r>
          </a:p>
          <a:p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print("Date format converted successfully")</a:t>
            </a:r>
          </a:p>
          <a:p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print("\</a:t>
            </a:r>
            <a:r>
              <a:rPr lang="en-IN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nData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Types:")</a:t>
            </a:r>
          </a:p>
          <a:p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</a:t>
            </a:r>
            <a:r>
              <a:rPr lang="en-IN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df.dtypes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12" name="Rounded Rectangle 6">
            <a:extLst>
              <a:ext uri="{FF2B5EF4-FFF2-40B4-BE49-F238E27FC236}">
                <a16:creationId xmlns:a16="http://schemas.microsoft.com/office/drawing/2014/main" id="{8351FB4C-3166-1028-81F0-EECE987B0D28}"/>
              </a:ext>
            </a:extLst>
          </p:cNvPr>
          <p:cNvSpPr/>
          <p:nvPr/>
        </p:nvSpPr>
        <p:spPr>
          <a:xfrm>
            <a:off x="949016" y="1682137"/>
            <a:ext cx="1302185" cy="343307"/>
          </a:xfrm>
          <a:prstGeom prst="roundRect">
            <a:avLst/>
          </a:prstGeom>
          <a:solidFill>
            <a:srgbClr val="1531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:</a:t>
            </a:r>
          </a:p>
        </p:txBody>
      </p:sp>
      <p:sp>
        <p:nvSpPr>
          <p:cNvPr id="14" name="Rounded Rectangle 9">
            <a:extLst>
              <a:ext uri="{FF2B5EF4-FFF2-40B4-BE49-F238E27FC236}">
                <a16:creationId xmlns:a16="http://schemas.microsoft.com/office/drawing/2014/main" id="{270922BB-7165-0ADA-FDB8-AE15CBA0293A}"/>
              </a:ext>
            </a:extLst>
          </p:cNvPr>
          <p:cNvSpPr/>
          <p:nvPr/>
        </p:nvSpPr>
        <p:spPr>
          <a:xfrm>
            <a:off x="6229604" y="1454150"/>
            <a:ext cx="5468112" cy="2148840"/>
          </a:xfrm>
          <a:prstGeom prst="roundRect">
            <a:avLst/>
          </a:prstGeom>
          <a:solidFill>
            <a:srgbClr val="FAFCF9"/>
          </a:solidFill>
          <a:ln w="12700">
            <a:solidFill>
              <a:srgbClr val="CA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6">
            <a:extLst>
              <a:ext uri="{FF2B5EF4-FFF2-40B4-BE49-F238E27FC236}">
                <a16:creationId xmlns:a16="http://schemas.microsoft.com/office/drawing/2014/main" id="{51CFF448-E2C7-0037-CC19-7D9DD422BADA}"/>
              </a:ext>
            </a:extLst>
          </p:cNvPr>
          <p:cNvSpPr/>
          <p:nvPr/>
        </p:nvSpPr>
        <p:spPr>
          <a:xfrm>
            <a:off x="6498907" y="1675937"/>
            <a:ext cx="1302185" cy="343307"/>
          </a:xfrm>
          <a:prstGeom prst="roundRect">
            <a:avLst/>
          </a:prstGeom>
          <a:solidFill>
            <a:srgbClr val="1531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:</a:t>
            </a:r>
          </a:p>
        </p:txBody>
      </p:sp>
      <p:sp>
        <p:nvSpPr>
          <p:cNvPr id="24" name="Rounded Rectangle 13">
            <a:extLst>
              <a:ext uri="{FF2B5EF4-FFF2-40B4-BE49-F238E27FC236}">
                <a16:creationId xmlns:a16="http://schemas.microsoft.com/office/drawing/2014/main" id="{FA6AD7CB-6BFE-BDCD-CBA1-3CA917EAD256}"/>
              </a:ext>
            </a:extLst>
          </p:cNvPr>
          <p:cNvSpPr/>
          <p:nvPr/>
        </p:nvSpPr>
        <p:spPr>
          <a:xfrm>
            <a:off x="6327451" y="3750809"/>
            <a:ext cx="5468112" cy="2176272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E0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date_added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column was converted into a proper date format. This makes the column suitable for future date-based analysis.</a:t>
            </a:r>
          </a:p>
        </p:txBody>
      </p:sp>
      <p:sp>
        <p:nvSpPr>
          <p:cNvPr id="26" name="Rounded Rectangle 6">
            <a:extLst>
              <a:ext uri="{FF2B5EF4-FFF2-40B4-BE49-F238E27FC236}">
                <a16:creationId xmlns:a16="http://schemas.microsoft.com/office/drawing/2014/main" id="{1733E93A-0642-EAC2-70BD-C1964F27F83C}"/>
              </a:ext>
            </a:extLst>
          </p:cNvPr>
          <p:cNvSpPr/>
          <p:nvPr/>
        </p:nvSpPr>
        <p:spPr>
          <a:xfrm>
            <a:off x="6597444" y="3901573"/>
            <a:ext cx="2143433" cy="343307"/>
          </a:xfrm>
          <a:prstGeom prst="roundRect">
            <a:avLst/>
          </a:prstGeom>
          <a:solidFill>
            <a:srgbClr val="1531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EXPLANATION :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9FE1AB5-AD5B-793C-126D-E36E043374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8907" y="2003871"/>
            <a:ext cx="3067880" cy="1496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0252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3CCD77-9A49-12D4-FDCE-D20B840AD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>
            <a:extLst>
              <a:ext uri="{FF2B5EF4-FFF2-40B4-BE49-F238E27FC236}">
                <a16:creationId xmlns:a16="http://schemas.microsoft.com/office/drawing/2014/main" id="{2A199E99-9E64-3E8C-DBF9-F800E1EEAD9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589" y="86469"/>
            <a:ext cx="1358249" cy="598086"/>
          </a:xfrm>
          <a:prstGeom prst="rect">
            <a:avLst/>
          </a:prstGeom>
        </p:spPr>
      </p:pic>
      <p:grpSp>
        <p:nvGrpSpPr>
          <p:cNvPr id="4" name="object 3">
            <a:extLst>
              <a:ext uri="{FF2B5EF4-FFF2-40B4-BE49-F238E27FC236}">
                <a16:creationId xmlns:a16="http://schemas.microsoft.com/office/drawing/2014/main" id="{4C6699F3-294A-704D-5296-9E549656F7F5}"/>
              </a:ext>
            </a:extLst>
          </p:cNvPr>
          <p:cNvGrpSpPr/>
          <p:nvPr/>
        </p:nvGrpSpPr>
        <p:grpSpPr>
          <a:xfrm>
            <a:off x="3193025" y="283289"/>
            <a:ext cx="5334000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797DBEAD-B2F0-FE72-FFC4-1727CE69CC48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F127F9F8-E442-2B79-AF2C-41107C1CFCE9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308A4B9E-BE9F-B85D-EA45-ABDFADD79005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1107F905-E260-4B1D-E4D3-F3A674BC3C96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pPr algn="ctr"/>
              <a:r>
                <a:rPr lang="en-IN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DATA ANALYSIS </a:t>
              </a:r>
              <a:endParaRPr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0" name="Rounded Rectangle 5">
            <a:extLst>
              <a:ext uri="{FF2B5EF4-FFF2-40B4-BE49-F238E27FC236}">
                <a16:creationId xmlns:a16="http://schemas.microsoft.com/office/drawing/2014/main" id="{658BE4FF-AFD4-9D65-CA94-09FDEBD13272}"/>
              </a:ext>
            </a:extLst>
          </p:cNvPr>
          <p:cNvSpPr/>
          <p:nvPr/>
        </p:nvSpPr>
        <p:spPr>
          <a:xfrm>
            <a:off x="430277" y="1339849"/>
            <a:ext cx="5532120" cy="4999118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E0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Data Analysis - Movies vs TV Shows</a:t>
            </a:r>
          </a:p>
          <a:p>
            <a:endParaRPr lang="en-I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type_count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['type'].</a:t>
            </a:r>
            <a:r>
              <a:rPr lang="en-IN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value_counts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print("Content Type Analysis:")</a:t>
            </a:r>
          </a:p>
          <a:p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</a:t>
            </a:r>
            <a:r>
              <a:rPr lang="en-IN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type_count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IN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type_count.plot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kind='bar', title='Movies vs TV Shows', </a:t>
            </a:r>
            <a:r>
              <a:rPr lang="en-IN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xlabel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='Content Type', </a:t>
            </a:r>
            <a:r>
              <a:rPr lang="en-IN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ylabel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='Number of Titles' )</a:t>
            </a:r>
          </a:p>
          <a:p>
            <a:endParaRPr lang="en-I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ounded Rectangle 6">
            <a:extLst>
              <a:ext uri="{FF2B5EF4-FFF2-40B4-BE49-F238E27FC236}">
                <a16:creationId xmlns:a16="http://schemas.microsoft.com/office/drawing/2014/main" id="{9F4317E1-A559-233A-29CD-9E409D460916}"/>
              </a:ext>
            </a:extLst>
          </p:cNvPr>
          <p:cNvSpPr/>
          <p:nvPr/>
        </p:nvSpPr>
        <p:spPr>
          <a:xfrm>
            <a:off x="949016" y="1682137"/>
            <a:ext cx="1302185" cy="343307"/>
          </a:xfrm>
          <a:prstGeom prst="roundRect">
            <a:avLst/>
          </a:prstGeom>
          <a:solidFill>
            <a:srgbClr val="1531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:</a:t>
            </a:r>
          </a:p>
        </p:txBody>
      </p:sp>
      <p:sp>
        <p:nvSpPr>
          <p:cNvPr id="14" name="Rounded Rectangle 9">
            <a:extLst>
              <a:ext uri="{FF2B5EF4-FFF2-40B4-BE49-F238E27FC236}">
                <a16:creationId xmlns:a16="http://schemas.microsoft.com/office/drawing/2014/main" id="{ECB89425-A744-D8C2-1A0F-36487A14AA26}"/>
              </a:ext>
            </a:extLst>
          </p:cNvPr>
          <p:cNvSpPr/>
          <p:nvPr/>
        </p:nvSpPr>
        <p:spPr>
          <a:xfrm>
            <a:off x="6229604" y="1454150"/>
            <a:ext cx="5468112" cy="4718050"/>
          </a:xfrm>
          <a:prstGeom prst="roundRect">
            <a:avLst/>
          </a:prstGeom>
          <a:solidFill>
            <a:srgbClr val="FAFCF9"/>
          </a:solidFill>
          <a:ln w="12700">
            <a:solidFill>
              <a:srgbClr val="CA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6">
            <a:extLst>
              <a:ext uri="{FF2B5EF4-FFF2-40B4-BE49-F238E27FC236}">
                <a16:creationId xmlns:a16="http://schemas.microsoft.com/office/drawing/2014/main" id="{B0F01807-C80C-CBAB-55AA-B0F4A8AF5D13}"/>
              </a:ext>
            </a:extLst>
          </p:cNvPr>
          <p:cNvSpPr/>
          <p:nvPr/>
        </p:nvSpPr>
        <p:spPr>
          <a:xfrm>
            <a:off x="6481136" y="1829809"/>
            <a:ext cx="1302185" cy="343307"/>
          </a:xfrm>
          <a:prstGeom prst="roundRect">
            <a:avLst/>
          </a:prstGeom>
          <a:solidFill>
            <a:srgbClr val="1531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: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38A21B0-D72E-5F73-23D7-AED5D7EF4AD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1136" y="2261843"/>
            <a:ext cx="4737470" cy="108213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4703DAE-C40C-D3F0-1983-18AC04FF4CE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5092" y="3343977"/>
            <a:ext cx="4973445" cy="2575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10846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138E25-8658-8508-E526-CC6D2FA3C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>
            <a:extLst>
              <a:ext uri="{FF2B5EF4-FFF2-40B4-BE49-F238E27FC236}">
                <a16:creationId xmlns:a16="http://schemas.microsoft.com/office/drawing/2014/main" id="{BF47D62C-78D7-3E9C-0283-9DC1E212BA5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589" y="86469"/>
            <a:ext cx="1358249" cy="598086"/>
          </a:xfrm>
          <a:prstGeom prst="rect">
            <a:avLst/>
          </a:prstGeom>
        </p:spPr>
      </p:pic>
      <p:grpSp>
        <p:nvGrpSpPr>
          <p:cNvPr id="4" name="object 3">
            <a:extLst>
              <a:ext uri="{FF2B5EF4-FFF2-40B4-BE49-F238E27FC236}">
                <a16:creationId xmlns:a16="http://schemas.microsoft.com/office/drawing/2014/main" id="{F204E443-2302-AE5F-1030-3DBA1F28898B}"/>
              </a:ext>
            </a:extLst>
          </p:cNvPr>
          <p:cNvGrpSpPr/>
          <p:nvPr/>
        </p:nvGrpSpPr>
        <p:grpSpPr>
          <a:xfrm>
            <a:off x="3193025" y="283289"/>
            <a:ext cx="5334000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10B54A2D-DA04-8419-11A6-6B0AD35D876F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916F7A62-9F48-D004-DD75-302A6C9EA674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35DBB523-9436-4D51-D54F-BD800FDA15E5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72CFF2A6-9931-2692-DE29-ADAD0C9A30D5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pPr algn="ctr"/>
              <a:r>
                <a:rPr lang="en-IN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RELEASE YEAR ANALYSIS</a:t>
              </a:r>
              <a:endParaRPr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0" name="Rounded Rectangle 5">
            <a:extLst>
              <a:ext uri="{FF2B5EF4-FFF2-40B4-BE49-F238E27FC236}">
                <a16:creationId xmlns:a16="http://schemas.microsoft.com/office/drawing/2014/main" id="{E85E694B-DD80-5C58-0B49-C73257A81948}"/>
              </a:ext>
            </a:extLst>
          </p:cNvPr>
          <p:cNvSpPr/>
          <p:nvPr/>
        </p:nvSpPr>
        <p:spPr>
          <a:xfrm>
            <a:off x="430277" y="1339850"/>
            <a:ext cx="5532120" cy="503846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E0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Data Analysis - Release Year Analysis</a:t>
            </a: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release_year_count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['</a:t>
            </a:r>
            <a:r>
              <a:rPr lang="en-IN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release_year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'].</a:t>
            </a:r>
            <a:r>
              <a:rPr lang="en-IN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value_counts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().</a:t>
            </a:r>
            <a:r>
              <a:rPr lang="en-IN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sort_index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print("Release Year Analysis:")</a:t>
            </a:r>
          </a:p>
          <a:p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</a:t>
            </a:r>
            <a:r>
              <a:rPr lang="en-IN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release_year_count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IN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release_year_count.plot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</a:p>
          <a:p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kind='line',</a:t>
            </a:r>
          </a:p>
          <a:p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title='Content Release Trend by Year',</a:t>
            </a:r>
          </a:p>
          <a:p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IN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xlabel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='Release Year',</a:t>
            </a:r>
          </a:p>
          <a:p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IN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ylabel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='Number of Titles',</a:t>
            </a:r>
          </a:p>
          <a:p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IN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figsize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=(10, 5))</a:t>
            </a:r>
          </a:p>
          <a:p>
            <a:endParaRPr lang="en-I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ounded Rectangle 6">
            <a:extLst>
              <a:ext uri="{FF2B5EF4-FFF2-40B4-BE49-F238E27FC236}">
                <a16:creationId xmlns:a16="http://schemas.microsoft.com/office/drawing/2014/main" id="{9449C49B-B4A7-7D0C-C9B6-36BFE760A8D4}"/>
              </a:ext>
            </a:extLst>
          </p:cNvPr>
          <p:cNvSpPr/>
          <p:nvPr/>
        </p:nvSpPr>
        <p:spPr>
          <a:xfrm>
            <a:off x="949016" y="1682137"/>
            <a:ext cx="1302185" cy="343307"/>
          </a:xfrm>
          <a:prstGeom prst="roundRect">
            <a:avLst/>
          </a:prstGeom>
          <a:solidFill>
            <a:srgbClr val="1531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:</a:t>
            </a:r>
          </a:p>
        </p:txBody>
      </p:sp>
      <p:sp>
        <p:nvSpPr>
          <p:cNvPr id="14" name="Rounded Rectangle 9">
            <a:extLst>
              <a:ext uri="{FF2B5EF4-FFF2-40B4-BE49-F238E27FC236}">
                <a16:creationId xmlns:a16="http://schemas.microsoft.com/office/drawing/2014/main" id="{A4A2C608-05EC-2128-9E58-683EB1A589E5}"/>
              </a:ext>
            </a:extLst>
          </p:cNvPr>
          <p:cNvSpPr/>
          <p:nvPr/>
        </p:nvSpPr>
        <p:spPr>
          <a:xfrm>
            <a:off x="6229604" y="1454150"/>
            <a:ext cx="5468112" cy="4924160"/>
          </a:xfrm>
          <a:prstGeom prst="roundRect">
            <a:avLst/>
          </a:prstGeom>
          <a:solidFill>
            <a:srgbClr val="FAFCF9"/>
          </a:solidFill>
          <a:ln w="12700">
            <a:solidFill>
              <a:srgbClr val="CA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6">
            <a:extLst>
              <a:ext uri="{FF2B5EF4-FFF2-40B4-BE49-F238E27FC236}">
                <a16:creationId xmlns:a16="http://schemas.microsoft.com/office/drawing/2014/main" id="{640BA4C1-9D11-E9D1-F042-C8651089A4F8}"/>
              </a:ext>
            </a:extLst>
          </p:cNvPr>
          <p:cNvSpPr/>
          <p:nvPr/>
        </p:nvSpPr>
        <p:spPr>
          <a:xfrm>
            <a:off x="6871708" y="1682137"/>
            <a:ext cx="1302185" cy="343307"/>
          </a:xfrm>
          <a:prstGeom prst="roundRect">
            <a:avLst/>
          </a:prstGeom>
          <a:solidFill>
            <a:srgbClr val="1531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: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2B30E84-64BE-4A77-0CF5-5B11A2CDEA2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13607" y="2146612"/>
            <a:ext cx="4554161" cy="128238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76273BD-7804-7298-5855-874117BBB2D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86579" y="3468290"/>
            <a:ext cx="4554161" cy="2654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090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423883-49F4-F3D8-28B0-1C661EB56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>
            <a:extLst>
              <a:ext uri="{FF2B5EF4-FFF2-40B4-BE49-F238E27FC236}">
                <a16:creationId xmlns:a16="http://schemas.microsoft.com/office/drawing/2014/main" id="{EC5717E3-5A60-333A-EBAB-368DC131E20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589" y="86469"/>
            <a:ext cx="1358249" cy="598086"/>
          </a:xfrm>
          <a:prstGeom prst="rect">
            <a:avLst/>
          </a:prstGeom>
        </p:spPr>
      </p:pic>
      <p:grpSp>
        <p:nvGrpSpPr>
          <p:cNvPr id="4" name="object 3">
            <a:extLst>
              <a:ext uri="{FF2B5EF4-FFF2-40B4-BE49-F238E27FC236}">
                <a16:creationId xmlns:a16="http://schemas.microsoft.com/office/drawing/2014/main" id="{5DA7DC4C-C5FC-C68D-F089-EE006D28A0E4}"/>
              </a:ext>
            </a:extLst>
          </p:cNvPr>
          <p:cNvGrpSpPr/>
          <p:nvPr/>
        </p:nvGrpSpPr>
        <p:grpSpPr>
          <a:xfrm>
            <a:off x="3193025" y="283289"/>
            <a:ext cx="5334000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475ED267-DBD9-11D5-7853-060507419834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AB090E39-FDF6-CF18-0CA7-D33C41370C0F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718D16A1-5051-253F-EA02-3D17D3ABD8A6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8275C12C-1369-04FC-A0D3-AB3EC61AF8AE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pPr algn="ctr"/>
              <a:r>
                <a:rPr lang="en-IN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RATING ANALYSIS</a:t>
              </a:r>
              <a:endParaRPr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0" name="Rounded Rectangle 5">
            <a:extLst>
              <a:ext uri="{FF2B5EF4-FFF2-40B4-BE49-F238E27FC236}">
                <a16:creationId xmlns:a16="http://schemas.microsoft.com/office/drawing/2014/main" id="{2C99D722-F9F4-5EF3-D8F0-2AF992288689}"/>
              </a:ext>
            </a:extLst>
          </p:cNvPr>
          <p:cNvSpPr/>
          <p:nvPr/>
        </p:nvSpPr>
        <p:spPr>
          <a:xfrm>
            <a:off x="430277" y="1159365"/>
            <a:ext cx="5532120" cy="5290674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E0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Data Analysis - Rating Analysis</a:t>
            </a:r>
          </a:p>
          <a:p>
            <a:endParaRPr lang="en-IN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rating_count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['rating'].</a:t>
            </a:r>
            <a:r>
              <a:rPr lang="en-IN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value_counts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print("Rating Analysis:")</a:t>
            </a:r>
          </a:p>
          <a:p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</a:t>
            </a:r>
            <a:r>
              <a:rPr lang="en-IN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rating_count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IN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rating_count.plot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</a:p>
          <a:p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kind='bar',</a:t>
            </a:r>
          </a:p>
          <a:p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title='Content Rating Distribution',</a:t>
            </a:r>
          </a:p>
          <a:p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IN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xlabel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='Rating',</a:t>
            </a:r>
          </a:p>
          <a:p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IN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ylabel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='Number of Titles',</a:t>
            </a:r>
          </a:p>
          <a:p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IN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figsize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=(10, 5))</a:t>
            </a:r>
          </a:p>
          <a:p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2" name="Rounded Rectangle 6">
            <a:extLst>
              <a:ext uri="{FF2B5EF4-FFF2-40B4-BE49-F238E27FC236}">
                <a16:creationId xmlns:a16="http://schemas.microsoft.com/office/drawing/2014/main" id="{5E65AA76-DC1C-4742-C7EF-686BDE2206B3}"/>
              </a:ext>
            </a:extLst>
          </p:cNvPr>
          <p:cNvSpPr/>
          <p:nvPr/>
        </p:nvSpPr>
        <p:spPr>
          <a:xfrm>
            <a:off x="823745" y="1521340"/>
            <a:ext cx="1302185" cy="343307"/>
          </a:xfrm>
          <a:prstGeom prst="roundRect">
            <a:avLst/>
          </a:prstGeom>
          <a:solidFill>
            <a:srgbClr val="1531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:</a:t>
            </a:r>
          </a:p>
        </p:txBody>
      </p:sp>
      <p:sp>
        <p:nvSpPr>
          <p:cNvPr id="14" name="Rounded Rectangle 9">
            <a:extLst>
              <a:ext uri="{FF2B5EF4-FFF2-40B4-BE49-F238E27FC236}">
                <a16:creationId xmlns:a16="http://schemas.microsoft.com/office/drawing/2014/main" id="{C807F6CE-7EEC-0ED4-4A60-E4A043874D5C}"/>
              </a:ext>
            </a:extLst>
          </p:cNvPr>
          <p:cNvSpPr/>
          <p:nvPr/>
        </p:nvSpPr>
        <p:spPr>
          <a:xfrm>
            <a:off x="6229605" y="1159365"/>
            <a:ext cx="5468112" cy="5290674"/>
          </a:xfrm>
          <a:prstGeom prst="roundRect">
            <a:avLst/>
          </a:prstGeom>
          <a:solidFill>
            <a:srgbClr val="FAFCF9"/>
          </a:solidFill>
          <a:ln w="12700">
            <a:solidFill>
              <a:srgbClr val="CA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6">
            <a:extLst>
              <a:ext uri="{FF2B5EF4-FFF2-40B4-BE49-F238E27FC236}">
                <a16:creationId xmlns:a16="http://schemas.microsoft.com/office/drawing/2014/main" id="{19F060E6-60C8-25CB-52F1-B5381E5B97B5}"/>
              </a:ext>
            </a:extLst>
          </p:cNvPr>
          <p:cNvSpPr/>
          <p:nvPr/>
        </p:nvSpPr>
        <p:spPr>
          <a:xfrm>
            <a:off x="6818438" y="1525151"/>
            <a:ext cx="1302185" cy="343307"/>
          </a:xfrm>
          <a:prstGeom prst="roundRect">
            <a:avLst/>
          </a:prstGeom>
          <a:solidFill>
            <a:srgbClr val="1531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: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31B4BC4-E68A-6210-0A31-823F47E836A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18437" y="1949088"/>
            <a:ext cx="4419833" cy="140371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CD2B028-71D2-0B6C-F9DA-62EE120410B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18437" y="3404934"/>
            <a:ext cx="4567318" cy="2934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8709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2C5B42-FB5B-86AA-3B6F-EE960F9183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>
            <a:extLst>
              <a:ext uri="{FF2B5EF4-FFF2-40B4-BE49-F238E27FC236}">
                <a16:creationId xmlns:a16="http://schemas.microsoft.com/office/drawing/2014/main" id="{88C0C6C9-665D-1ED2-0F6E-FBA561C0E3D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589" y="86469"/>
            <a:ext cx="1358249" cy="598086"/>
          </a:xfrm>
          <a:prstGeom prst="rect">
            <a:avLst/>
          </a:prstGeom>
        </p:spPr>
      </p:pic>
      <p:grpSp>
        <p:nvGrpSpPr>
          <p:cNvPr id="4" name="object 3">
            <a:extLst>
              <a:ext uri="{FF2B5EF4-FFF2-40B4-BE49-F238E27FC236}">
                <a16:creationId xmlns:a16="http://schemas.microsoft.com/office/drawing/2014/main" id="{2CDD75AE-B3B0-908B-3A2A-F2983E026D2D}"/>
              </a:ext>
            </a:extLst>
          </p:cNvPr>
          <p:cNvGrpSpPr/>
          <p:nvPr/>
        </p:nvGrpSpPr>
        <p:grpSpPr>
          <a:xfrm>
            <a:off x="3193025" y="283289"/>
            <a:ext cx="5334000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FEE8E0C7-0AD6-4EAE-CF43-E6C107D83185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BCC2544F-44E5-A03F-FDE3-A933E9BE09A8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1533178D-9106-0AE5-E55C-9DA6AA2933BB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276B55A1-10AA-F105-33D8-95FF952759E6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pPr algn="ctr"/>
              <a:r>
                <a:rPr lang="en-IN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DATA UNDERSTANDING</a:t>
              </a:r>
              <a:endParaRPr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0" name="Rounded Rectangle 5">
            <a:extLst>
              <a:ext uri="{FF2B5EF4-FFF2-40B4-BE49-F238E27FC236}">
                <a16:creationId xmlns:a16="http://schemas.microsoft.com/office/drawing/2014/main" id="{3F895313-5AE5-5681-0371-E932937806E6}"/>
              </a:ext>
            </a:extLst>
          </p:cNvPr>
          <p:cNvSpPr/>
          <p:nvPr/>
        </p:nvSpPr>
        <p:spPr>
          <a:xfrm>
            <a:off x="430277" y="1159364"/>
            <a:ext cx="5532120" cy="5415347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E0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Data Analysis - Top 10 Countries</a:t>
            </a:r>
          </a:p>
          <a:p>
            <a:r>
              <a:rPr lang="en-IN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country_count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(</a:t>
            </a:r>
          </a:p>
          <a:p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IN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['country']</a:t>
            </a:r>
          </a:p>
          <a:p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.</a:t>
            </a:r>
            <a:r>
              <a:rPr lang="en-IN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str.split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(',')</a:t>
            </a:r>
          </a:p>
          <a:p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.explode()</a:t>
            </a:r>
          </a:p>
          <a:p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.</a:t>
            </a:r>
            <a:r>
              <a:rPr lang="en-IN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str.strip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.</a:t>
            </a:r>
            <a:r>
              <a:rPr lang="en-IN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value_counts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())</a:t>
            </a:r>
          </a:p>
          <a:p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print("Top 10 Countries:")</a:t>
            </a:r>
          </a:p>
          <a:p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</a:t>
            </a:r>
            <a:r>
              <a:rPr lang="en-IN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country_count.head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(10))</a:t>
            </a:r>
          </a:p>
          <a:p>
            <a:r>
              <a:rPr lang="en-IN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country_count.head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(10).plot(</a:t>
            </a:r>
          </a:p>
          <a:p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kind='bar',</a:t>
            </a:r>
          </a:p>
          <a:p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title='Top 10 Countries by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Titles',</a:t>
            </a:r>
          </a:p>
          <a:p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IN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xlabel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='Country',</a:t>
            </a:r>
          </a:p>
          <a:p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IN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ylabel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='Number of Titles',</a:t>
            </a:r>
          </a:p>
          <a:p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IN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figsize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=(10, 5))</a:t>
            </a:r>
          </a:p>
          <a:p>
            <a:endParaRPr lang="en-I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ounded Rectangle 6">
            <a:extLst>
              <a:ext uri="{FF2B5EF4-FFF2-40B4-BE49-F238E27FC236}">
                <a16:creationId xmlns:a16="http://schemas.microsoft.com/office/drawing/2014/main" id="{590AD560-71B7-2729-6670-69049108BD6E}"/>
              </a:ext>
            </a:extLst>
          </p:cNvPr>
          <p:cNvSpPr/>
          <p:nvPr/>
        </p:nvSpPr>
        <p:spPr>
          <a:xfrm>
            <a:off x="823745" y="1332630"/>
            <a:ext cx="1302185" cy="343307"/>
          </a:xfrm>
          <a:prstGeom prst="roundRect">
            <a:avLst/>
          </a:prstGeom>
          <a:solidFill>
            <a:srgbClr val="1531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:</a:t>
            </a:r>
          </a:p>
        </p:txBody>
      </p:sp>
      <p:sp>
        <p:nvSpPr>
          <p:cNvPr id="14" name="Rounded Rectangle 9">
            <a:extLst>
              <a:ext uri="{FF2B5EF4-FFF2-40B4-BE49-F238E27FC236}">
                <a16:creationId xmlns:a16="http://schemas.microsoft.com/office/drawing/2014/main" id="{7DF67ADF-B206-5DCF-03E5-CD7ACCE24DB8}"/>
              </a:ext>
            </a:extLst>
          </p:cNvPr>
          <p:cNvSpPr/>
          <p:nvPr/>
        </p:nvSpPr>
        <p:spPr>
          <a:xfrm>
            <a:off x="6229604" y="1159365"/>
            <a:ext cx="5468112" cy="5415346"/>
          </a:xfrm>
          <a:prstGeom prst="roundRect">
            <a:avLst/>
          </a:prstGeom>
          <a:solidFill>
            <a:srgbClr val="FAFCF9"/>
          </a:solidFill>
          <a:ln w="12700">
            <a:solidFill>
              <a:srgbClr val="CA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6">
            <a:extLst>
              <a:ext uri="{FF2B5EF4-FFF2-40B4-BE49-F238E27FC236}">
                <a16:creationId xmlns:a16="http://schemas.microsoft.com/office/drawing/2014/main" id="{045A43D8-9162-F728-48AB-FD850DC3578D}"/>
              </a:ext>
            </a:extLst>
          </p:cNvPr>
          <p:cNvSpPr/>
          <p:nvPr/>
        </p:nvSpPr>
        <p:spPr>
          <a:xfrm>
            <a:off x="6871708" y="1388501"/>
            <a:ext cx="1302185" cy="343307"/>
          </a:xfrm>
          <a:prstGeom prst="roundRect">
            <a:avLst/>
          </a:prstGeom>
          <a:solidFill>
            <a:srgbClr val="1531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: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873BDC0-CEC7-B0A2-3460-106FEDC838C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83098" y="1878331"/>
            <a:ext cx="4361123" cy="142530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FEF7512-2CD4-03CE-3C67-5AEB5994ACB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85040" y="3420666"/>
            <a:ext cx="5012676" cy="2753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20427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0508F4-BE47-B5D1-2951-984E658F0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>
            <a:extLst>
              <a:ext uri="{FF2B5EF4-FFF2-40B4-BE49-F238E27FC236}">
                <a16:creationId xmlns:a16="http://schemas.microsoft.com/office/drawing/2014/main" id="{87F691CC-E03B-198D-F97C-BE36CBBC6D9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589" y="86469"/>
            <a:ext cx="1358249" cy="598086"/>
          </a:xfrm>
          <a:prstGeom prst="rect">
            <a:avLst/>
          </a:prstGeom>
        </p:spPr>
      </p:pic>
      <p:grpSp>
        <p:nvGrpSpPr>
          <p:cNvPr id="4" name="object 3">
            <a:extLst>
              <a:ext uri="{FF2B5EF4-FFF2-40B4-BE49-F238E27FC236}">
                <a16:creationId xmlns:a16="http://schemas.microsoft.com/office/drawing/2014/main" id="{21DF80B8-C35C-A996-44FA-9710C6531EB8}"/>
              </a:ext>
            </a:extLst>
          </p:cNvPr>
          <p:cNvGrpSpPr/>
          <p:nvPr/>
        </p:nvGrpSpPr>
        <p:grpSpPr>
          <a:xfrm>
            <a:off x="3193025" y="283289"/>
            <a:ext cx="5334000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226C79A5-BC51-79A2-D6AF-C2FCB1AAB513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D16B4CDD-3F6B-CFCF-8DEF-8669C6AB1BA6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8B8BA61F-19C7-621D-E342-4DA2002ACFC1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C32004DC-5EC7-5872-3C82-EA9ABEFB3C87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pPr algn="ctr"/>
              <a:r>
                <a:rPr lang="en-IN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DATA UNDERSTANDING</a:t>
              </a:r>
              <a:endParaRPr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0" name="Rounded Rectangle 5">
            <a:extLst>
              <a:ext uri="{FF2B5EF4-FFF2-40B4-BE49-F238E27FC236}">
                <a16:creationId xmlns:a16="http://schemas.microsoft.com/office/drawing/2014/main" id="{EE27F264-E10B-2F5E-10C2-1FDDDF304691}"/>
              </a:ext>
            </a:extLst>
          </p:cNvPr>
          <p:cNvSpPr/>
          <p:nvPr/>
        </p:nvSpPr>
        <p:spPr>
          <a:xfrm>
            <a:off x="430277" y="1159365"/>
            <a:ext cx="5532120" cy="5415346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E0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Data Analysis - Top 10 Genres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genre_count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(</a:t>
            </a:r>
          </a:p>
          <a:p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IN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['</a:t>
            </a:r>
            <a:r>
              <a:rPr lang="en-IN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listed_in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']</a:t>
            </a:r>
          </a:p>
          <a:p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.</a:t>
            </a:r>
            <a:r>
              <a:rPr lang="en-IN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str.split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(',')</a:t>
            </a:r>
          </a:p>
          <a:p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.explode()</a:t>
            </a:r>
          </a:p>
          <a:p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.</a:t>
            </a:r>
            <a:r>
              <a:rPr lang="en-IN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str.strip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.</a:t>
            </a:r>
            <a:r>
              <a:rPr lang="en-IN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value_counts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())</a:t>
            </a:r>
          </a:p>
          <a:p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print("Top 10 Genres:")</a:t>
            </a:r>
          </a:p>
          <a:p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</a:t>
            </a:r>
            <a:r>
              <a:rPr lang="en-IN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genre_count.head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(10))</a:t>
            </a:r>
          </a:p>
          <a:p>
            <a:r>
              <a:rPr lang="en-IN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genre_count.head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(10).plot(</a:t>
            </a:r>
          </a:p>
          <a:p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kind='bar',</a:t>
            </a:r>
          </a:p>
          <a:p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title='Top 10 Genres',</a:t>
            </a:r>
          </a:p>
          <a:p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IN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xlabel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='Genre',</a:t>
            </a:r>
          </a:p>
          <a:p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IN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ylabel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='Number of Titles',</a:t>
            </a:r>
          </a:p>
          <a:p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IN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figsize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=(10, 5))</a:t>
            </a:r>
          </a:p>
          <a:p>
            <a:endParaRPr lang="en-I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ounded Rectangle 6">
            <a:extLst>
              <a:ext uri="{FF2B5EF4-FFF2-40B4-BE49-F238E27FC236}">
                <a16:creationId xmlns:a16="http://schemas.microsoft.com/office/drawing/2014/main" id="{8889DBE4-114B-F907-5DCD-2B5596748494}"/>
              </a:ext>
            </a:extLst>
          </p:cNvPr>
          <p:cNvSpPr/>
          <p:nvPr/>
        </p:nvSpPr>
        <p:spPr>
          <a:xfrm>
            <a:off x="823745" y="1332630"/>
            <a:ext cx="1302185" cy="343307"/>
          </a:xfrm>
          <a:prstGeom prst="roundRect">
            <a:avLst/>
          </a:prstGeom>
          <a:solidFill>
            <a:srgbClr val="1531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:</a:t>
            </a:r>
          </a:p>
        </p:txBody>
      </p:sp>
      <p:sp>
        <p:nvSpPr>
          <p:cNvPr id="14" name="Rounded Rectangle 9">
            <a:extLst>
              <a:ext uri="{FF2B5EF4-FFF2-40B4-BE49-F238E27FC236}">
                <a16:creationId xmlns:a16="http://schemas.microsoft.com/office/drawing/2014/main" id="{7E0E11B9-08EA-BCE5-D5D8-B81A37F8B04D}"/>
              </a:ext>
            </a:extLst>
          </p:cNvPr>
          <p:cNvSpPr/>
          <p:nvPr/>
        </p:nvSpPr>
        <p:spPr>
          <a:xfrm>
            <a:off x="6229604" y="1159365"/>
            <a:ext cx="5468112" cy="5415346"/>
          </a:xfrm>
          <a:prstGeom prst="roundRect">
            <a:avLst/>
          </a:prstGeom>
          <a:solidFill>
            <a:srgbClr val="FAFCF9"/>
          </a:solidFill>
          <a:ln w="12700">
            <a:solidFill>
              <a:srgbClr val="CA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6">
            <a:extLst>
              <a:ext uri="{FF2B5EF4-FFF2-40B4-BE49-F238E27FC236}">
                <a16:creationId xmlns:a16="http://schemas.microsoft.com/office/drawing/2014/main" id="{989C70D9-CF9A-F0D2-F9F9-76D8D20CF59A}"/>
              </a:ext>
            </a:extLst>
          </p:cNvPr>
          <p:cNvSpPr/>
          <p:nvPr/>
        </p:nvSpPr>
        <p:spPr>
          <a:xfrm>
            <a:off x="6871708" y="1388502"/>
            <a:ext cx="1302185" cy="343307"/>
          </a:xfrm>
          <a:prstGeom prst="roundRect">
            <a:avLst/>
          </a:prstGeom>
          <a:solidFill>
            <a:srgbClr val="1531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: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BE32FE5-4ED4-4FE8-8596-C7F0C16A6DB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7278" y="1811669"/>
            <a:ext cx="4798142" cy="161733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6A5D8A7-0ABC-D4F8-8938-7D448FFD559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07278" y="3939812"/>
            <a:ext cx="4798142" cy="226434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120E322-746D-47EA-0467-FBA6C6637CA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00041" y="3474386"/>
            <a:ext cx="3002540" cy="266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01298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E5A68D-6B03-2984-6485-A3D9C3B59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>
            <a:extLst>
              <a:ext uri="{FF2B5EF4-FFF2-40B4-BE49-F238E27FC236}">
                <a16:creationId xmlns:a16="http://schemas.microsoft.com/office/drawing/2014/main" id="{F52CFB60-7F77-A5B2-A148-45AEE8476D1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589" y="86469"/>
            <a:ext cx="1358249" cy="598086"/>
          </a:xfrm>
          <a:prstGeom prst="rect">
            <a:avLst/>
          </a:prstGeom>
        </p:spPr>
      </p:pic>
      <p:grpSp>
        <p:nvGrpSpPr>
          <p:cNvPr id="4" name="object 3">
            <a:extLst>
              <a:ext uri="{FF2B5EF4-FFF2-40B4-BE49-F238E27FC236}">
                <a16:creationId xmlns:a16="http://schemas.microsoft.com/office/drawing/2014/main" id="{B44DF2D0-FEEC-4D1A-713C-5B25A20B38DE}"/>
              </a:ext>
            </a:extLst>
          </p:cNvPr>
          <p:cNvGrpSpPr/>
          <p:nvPr/>
        </p:nvGrpSpPr>
        <p:grpSpPr>
          <a:xfrm>
            <a:off x="3193025" y="283289"/>
            <a:ext cx="5334000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71EF8751-8994-7DF6-9941-36AE185ECCCD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92AAD1D2-1273-3EA9-0A14-BAC927450DB1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F66FD0C3-A102-12D0-F496-B578C5336595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B1B17537-18A8-E8C9-82E1-5BEB3A044B54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pPr algn="ctr"/>
              <a:r>
                <a:rPr lang="en-IN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RESULTS</a:t>
              </a:r>
              <a:endParaRPr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868A74F4-72D4-A74C-F222-2B0299153099}"/>
              </a:ext>
            </a:extLst>
          </p:cNvPr>
          <p:cNvSpPr txBox="1"/>
          <p:nvPr/>
        </p:nvSpPr>
        <p:spPr>
          <a:xfrm>
            <a:off x="609600" y="1159365"/>
            <a:ext cx="9677400" cy="594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Findings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8,807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Cleaned Netflix records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columns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Duplicate rows removed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4,314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 values identified before cleaning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Movies &amp; TV Shows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 types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analyzed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Release Years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Year-wise content trends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analyzed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Ratings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Rating distribution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analyzed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Countries &amp; Genres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categories identified through analysis</a:t>
            </a:r>
          </a:p>
          <a:p>
            <a:pPr>
              <a:buNone/>
            </a:pP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38153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>
            <a:extLst>
              <a:ext uri="{FF2B5EF4-FFF2-40B4-BE49-F238E27FC236}">
                <a16:creationId xmlns:a16="http://schemas.microsoft.com/office/drawing/2014/main" id="{D90DC08E-9D05-DF6C-6A73-DD8A39333F9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589" y="86469"/>
            <a:ext cx="1358249" cy="598086"/>
          </a:xfrm>
          <a:prstGeom prst="rect">
            <a:avLst/>
          </a:prstGeom>
        </p:spPr>
      </p:pic>
      <p:grpSp>
        <p:nvGrpSpPr>
          <p:cNvPr id="4" name="object 3">
            <a:extLst>
              <a:ext uri="{FF2B5EF4-FFF2-40B4-BE49-F238E27FC236}">
                <a16:creationId xmlns:a16="http://schemas.microsoft.com/office/drawing/2014/main" id="{D92A380F-B2F9-2D57-BDB3-B464B6430C9E}"/>
              </a:ext>
            </a:extLst>
          </p:cNvPr>
          <p:cNvGrpSpPr/>
          <p:nvPr/>
        </p:nvGrpSpPr>
        <p:grpSpPr>
          <a:xfrm>
            <a:off x="3193025" y="283289"/>
            <a:ext cx="5334000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210BEB93-B8AE-7E4B-8C1B-B89A23CFB53B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7F55DAF8-E1D7-BECB-E82A-706CDF0B6D67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59A06DE2-4C82-FE44-120E-8EE43BB02A09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3FE3FC7D-7A80-696B-A1B6-F5D10827B572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pPr algn="ctr"/>
              <a:r>
                <a:rPr lang="en-IN" sz="2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COMPLETED PROJECT WORKFLOW</a:t>
              </a:r>
              <a:endParaRPr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5B9A7539-1665-A2CB-5370-66E4A2456609}"/>
              </a:ext>
            </a:extLst>
          </p:cNvPr>
          <p:cNvSpPr txBox="1"/>
          <p:nvPr/>
        </p:nvSpPr>
        <p:spPr>
          <a:xfrm>
            <a:off x="2651243" y="1041598"/>
            <a:ext cx="6096000" cy="5647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RAW DATASET</a:t>
            </a:r>
            <a:endParaRPr lang="en-IN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None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          </a:t>
            </a:r>
          </a:p>
          <a:p>
            <a:pPr algn="ctr">
              <a:buNone/>
            </a:pP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LOADING</a:t>
            </a:r>
            <a:endParaRPr lang="en-IN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None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</a:p>
          <a:p>
            <a:pPr algn="ctr">
              <a:buNone/>
            </a:pP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UNDERSTANDING</a:t>
            </a:r>
            <a:endParaRPr lang="en-IN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None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</a:p>
          <a:p>
            <a:pPr algn="ctr">
              <a:buNone/>
            </a:pP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INSPECTION</a:t>
            </a:r>
            <a:endParaRPr lang="en-IN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None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</a:p>
          <a:p>
            <a:pPr algn="ctr">
              <a:buNone/>
            </a:pP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 VALUE ANALYSIS</a:t>
            </a:r>
            <a:endParaRPr lang="en-IN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None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</a:p>
          <a:p>
            <a:pPr algn="ctr">
              <a:buNone/>
            </a:pP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DUPLICATE ANALYSIS</a:t>
            </a:r>
            <a:endParaRPr lang="en-IN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None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</a:p>
          <a:p>
            <a:pPr algn="ctr">
              <a:buNone/>
            </a:pP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</a:t>
            </a:r>
            <a:endParaRPr lang="en-IN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None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</a:p>
          <a:p>
            <a:pPr algn="ctr">
              <a:buNone/>
            </a:pP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  <a:endParaRPr lang="en-IN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None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</a:p>
          <a:p>
            <a:pPr algn="ctr">
              <a:buNone/>
            </a:pP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ANALYSIS</a:t>
            </a:r>
            <a:endParaRPr lang="en-IN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None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</a:p>
          <a:p>
            <a:pPr algn="ctr">
              <a:buNone/>
            </a:pP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lang="en-IN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39007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>
            <a:extLst>
              <a:ext uri="{FF2B5EF4-FFF2-40B4-BE49-F238E27FC236}">
                <a16:creationId xmlns:a16="http://schemas.microsoft.com/office/drawing/2014/main" id="{7FFCD071-4FC1-46A2-B997-BC54C876E3B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589" y="86469"/>
            <a:ext cx="1358249" cy="598086"/>
          </a:xfrm>
          <a:prstGeom prst="rect">
            <a:avLst/>
          </a:prstGeom>
        </p:spPr>
      </p:pic>
      <p:grpSp>
        <p:nvGrpSpPr>
          <p:cNvPr id="4" name="object 3">
            <a:extLst>
              <a:ext uri="{FF2B5EF4-FFF2-40B4-BE49-F238E27FC236}">
                <a16:creationId xmlns:a16="http://schemas.microsoft.com/office/drawing/2014/main" id="{0CC8BDC5-8757-E873-6D2A-87406F466189}"/>
              </a:ext>
            </a:extLst>
          </p:cNvPr>
          <p:cNvGrpSpPr/>
          <p:nvPr/>
        </p:nvGrpSpPr>
        <p:grpSpPr>
          <a:xfrm>
            <a:off x="3193025" y="283289"/>
            <a:ext cx="5334000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C81BAB94-0C32-52C0-A802-91E869A1F9F5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12011D52-FB5A-E500-4A20-516D557A266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F97A3CDD-A963-0912-08C4-D8356BC41830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FF7A9B81-069E-B039-DBCD-FF2E09861FD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pPr algn="ctr"/>
              <a:r>
                <a:rPr lang="en-IN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CONCLUSION</a:t>
              </a:r>
              <a:endParaRPr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7A22F6E8-9AA7-06F2-0FD3-626558E600EC}"/>
              </a:ext>
            </a:extLst>
          </p:cNvPr>
          <p:cNvSpPr txBox="1"/>
          <p:nvPr/>
        </p:nvSpPr>
        <p:spPr>
          <a:xfrm>
            <a:off x="540772" y="1414859"/>
            <a:ext cx="10687665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Netflix Movie Rating Analysis System demonstrates a complete data analysis workflow using Python, Pandas, NumPy, and Matplotlib.</a:t>
            </a:r>
          </a:p>
          <a:p>
            <a:pPr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Netflix dataset was successfully loaded and inspected.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 values were identified and handled.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Five duplicate rows were identified and removed.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 was performed to prepare the dataset for analysis.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 type, release year, rating, country, and genre analyses were performed.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Graphs were created to visualize important patterns.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cleaned dataset was prepared for further analysis.</a:t>
            </a:r>
          </a:p>
        </p:txBody>
      </p:sp>
    </p:spTree>
    <p:extLst>
      <p:ext uri="{BB962C8B-B14F-4D97-AF65-F5344CB8AC3E}">
        <p14:creationId xmlns:p14="http://schemas.microsoft.com/office/powerpoint/2010/main" val="31774781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>
            <a:extLst>
              <a:ext uri="{FF2B5EF4-FFF2-40B4-BE49-F238E27FC236}">
                <a16:creationId xmlns:a16="http://schemas.microsoft.com/office/drawing/2014/main" id="{3A2F8655-3CF4-5B58-D72B-1F852DFEF58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589" y="86469"/>
            <a:ext cx="1358249" cy="598086"/>
          </a:xfrm>
          <a:prstGeom prst="rect">
            <a:avLst/>
          </a:prstGeom>
        </p:spPr>
      </p:pic>
      <p:grpSp>
        <p:nvGrpSpPr>
          <p:cNvPr id="4" name="object 3">
            <a:extLst>
              <a:ext uri="{FF2B5EF4-FFF2-40B4-BE49-F238E27FC236}">
                <a16:creationId xmlns:a16="http://schemas.microsoft.com/office/drawing/2014/main" id="{B844D99F-D46C-EEA8-C9BF-1402B67C2C62}"/>
              </a:ext>
            </a:extLst>
          </p:cNvPr>
          <p:cNvGrpSpPr/>
          <p:nvPr/>
        </p:nvGrpSpPr>
        <p:grpSpPr>
          <a:xfrm>
            <a:off x="3193025" y="283289"/>
            <a:ext cx="5334000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ADEBE87E-F5E7-19C8-85C2-93B608CC4C82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DB879038-5BBA-7283-A471-1FEEE54524DD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45ACA6E8-AF24-EAD4-4937-3697321185A8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DA1263F7-4A65-63C2-6D21-3F24D028CAE4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pPr algn="ctr"/>
              <a:r>
                <a:rPr lang="en-IN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TEAM CONTRIBUTION</a:t>
              </a:r>
              <a:endParaRPr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0" name="Rounded Rectangle 5">
            <a:extLst>
              <a:ext uri="{FF2B5EF4-FFF2-40B4-BE49-F238E27FC236}">
                <a16:creationId xmlns:a16="http://schemas.microsoft.com/office/drawing/2014/main" id="{E6ECD04A-8999-8500-F8D1-B4A446F93651}"/>
              </a:ext>
            </a:extLst>
          </p:cNvPr>
          <p:cNvSpPr/>
          <p:nvPr/>
        </p:nvSpPr>
        <p:spPr>
          <a:xfrm>
            <a:off x="472195" y="1438143"/>
            <a:ext cx="5257800" cy="1874519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E0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solidFill>
                  <a:srgbClr val="1531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M.BHAGYA SRI(25B11AI720)</a:t>
            </a:r>
          </a:p>
          <a:p>
            <a:pPr algn="ctr"/>
            <a:endParaRPr lang="en-IN" sz="1600" b="1" dirty="0">
              <a:solidFill>
                <a:srgbClr val="15315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Responsible for code implementation, dataset loading, data exploration, and preprocessing. Also handled the project code execution and screen sharing during the presentation.</a:t>
            </a:r>
            <a:endParaRPr lang="en-US" sz="16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600" b="1" dirty="0">
              <a:solidFill>
                <a:srgbClr val="15315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ounded Rectangle 5">
            <a:extLst>
              <a:ext uri="{FF2B5EF4-FFF2-40B4-BE49-F238E27FC236}">
                <a16:creationId xmlns:a16="http://schemas.microsoft.com/office/drawing/2014/main" id="{94A222F1-ECED-2A8D-39FC-810688F3EB2C}"/>
              </a:ext>
            </a:extLst>
          </p:cNvPr>
          <p:cNvSpPr/>
          <p:nvPr/>
        </p:nvSpPr>
        <p:spPr>
          <a:xfrm>
            <a:off x="6372779" y="3858670"/>
            <a:ext cx="5257800" cy="1874519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E0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solidFill>
                  <a:srgbClr val="1531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 . SRI BHARGAVI (26B21AI050)</a:t>
            </a:r>
          </a:p>
          <a:p>
            <a:pPr algn="ctr"/>
            <a:endParaRPr lang="en-IN" sz="1600" b="1" dirty="0">
              <a:solidFill>
                <a:srgbClr val="15315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Contributed to project analysis, PPT preparation, organizing project content, and presentation coordination. Also supported the team in reviewing the project outputs and arranging the content for the final review</a:t>
            </a:r>
          </a:p>
          <a:p>
            <a:pPr algn="ctr"/>
            <a:endParaRPr lang="en-IN" sz="1600" b="1" dirty="0">
              <a:solidFill>
                <a:srgbClr val="15315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ounded Rectangle 5">
            <a:extLst>
              <a:ext uri="{FF2B5EF4-FFF2-40B4-BE49-F238E27FC236}">
                <a16:creationId xmlns:a16="http://schemas.microsoft.com/office/drawing/2014/main" id="{05F222C6-3F24-59D4-17C0-51C9EC7C561C}"/>
              </a:ext>
            </a:extLst>
          </p:cNvPr>
          <p:cNvSpPr/>
          <p:nvPr/>
        </p:nvSpPr>
        <p:spPr>
          <a:xfrm>
            <a:off x="472195" y="3858670"/>
            <a:ext cx="5257800" cy="1874519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E0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solidFill>
                  <a:srgbClr val="1531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. SWATHI (26B21AI081)</a:t>
            </a:r>
          </a:p>
          <a:p>
            <a:pPr algn="ctr"/>
            <a:endParaRPr lang="en-IN" sz="1600" b="1" dirty="0">
              <a:solidFill>
                <a:srgbClr val="15315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Worked on data analysis and calculations. Contributed to identifying movie counts, unique movie names, repeated movie names, and important results.</a:t>
            </a:r>
            <a:endParaRPr lang="en-US" sz="16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1600" b="1" dirty="0">
              <a:solidFill>
                <a:srgbClr val="15315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ounded Rectangle 5">
            <a:extLst>
              <a:ext uri="{FF2B5EF4-FFF2-40B4-BE49-F238E27FC236}">
                <a16:creationId xmlns:a16="http://schemas.microsoft.com/office/drawing/2014/main" id="{292D0495-695C-B664-093B-CEF420A0E199}"/>
              </a:ext>
            </a:extLst>
          </p:cNvPr>
          <p:cNvSpPr/>
          <p:nvPr/>
        </p:nvSpPr>
        <p:spPr>
          <a:xfrm>
            <a:off x="6462005" y="1454150"/>
            <a:ext cx="5257800" cy="1874519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E0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solidFill>
                  <a:srgbClr val="1531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. JYOTSNAVI (25B11AI081)</a:t>
            </a:r>
          </a:p>
          <a:p>
            <a:pPr algn="ctr"/>
            <a:endParaRPr lang="en-IN" sz="1600" b="1" dirty="0">
              <a:solidFill>
                <a:srgbClr val="15315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Worked on dataset collection and preparation. Contributed to checking missing values, duplicate records, and overall data quality.</a:t>
            </a:r>
            <a:endParaRPr lang="en-US" sz="16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600" b="1" dirty="0">
              <a:solidFill>
                <a:srgbClr val="15315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3885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>
            <a:extLst>
              <a:ext uri="{FF2B5EF4-FFF2-40B4-BE49-F238E27FC236}">
                <a16:creationId xmlns:a16="http://schemas.microsoft.com/office/drawing/2014/main" id="{3C5FCA77-74FE-2DA3-6197-EDAAA42C56D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589" y="86469"/>
            <a:ext cx="1358249" cy="598086"/>
          </a:xfrm>
          <a:prstGeom prst="rect">
            <a:avLst/>
          </a:prstGeom>
        </p:spPr>
      </p:pic>
      <p:pic>
        <p:nvPicPr>
          <p:cNvPr id="5" name="Content Placeholder 3">
            <a:extLst>
              <a:ext uri="{FF2B5EF4-FFF2-40B4-BE49-F238E27FC236}">
                <a16:creationId xmlns:a16="http://schemas.microsoft.com/office/drawing/2014/main" id="{500C118E-C4F1-01E5-1F49-9C89201C8DFE}"/>
              </a:ext>
            </a:extLst>
          </p:cNvPr>
          <p:cNvPicPr>
            <a:picLocks noGrp="1"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1998" y="1016031"/>
            <a:ext cx="9525000" cy="5367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3801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5888</TotalTime>
  <Words>1535</Words>
  <Application>Microsoft Office PowerPoint</Application>
  <PresentationFormat>Widescreen</PresentationFormat>
  <Paragraphs>345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Bhagya Mattaparthi</dc:creator>
  <cp:lastModifiedBy>Bhagya Mattaparthi</cp:lastModifiedBy>
  <cp:revision>1</cp:revision>
  <dcterms:created xsi:type="dcterms:W3CDTF">2026-10-04T06:46:13Z</dcterms:created>
  <dcterms:modified xsi:type="dcterms:W3CDTF">2026-10-23T04:39:49Z</dcterms:modified>
</cp:coreProperties>
</file>