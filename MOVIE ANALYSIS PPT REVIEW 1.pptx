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74" r:id="rId6"/>
    <p:sldId id="279" r:id="rId7"/>
    <p:sldId id="276" r:id="rId8"/>
    <p:sldId id="283" r:id="rId9"/>
    <p:sldId id="280" r:id="rId10"/>
    <p:sldId id="278" r:id="rId11"/>
    <p:sldId id="271" r:id="rId12"/>
    <p:sldId id="281" r:id="rId13"/>
    <p:sldId id="282" r:id="rId14"/>
    <p:sldId id="268" r:id="rId15"/>
    <p:sldId id="269"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2A11A4-640E-4DBC-94B6-6BFE84A5F9DA}" v="8" dt="2026-10-23T07:06:09.98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23-10-2026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First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450945"/>
          </a:xfrm>
          <a:prstGeom prst="rect">
            <a:avLst/>
          </a:prstGeom>
        </p:spPr>
        <p:txBody>
          <a:bodyPr vert="horz" wrap="square" lIns="0" tIns="16510" rIns="0" bIns="0" rtlCol="0">
            <a:spAutoFit/>
          </a:bodyPr>
          <a:lstStyle/>
          <a:p>
            <a:pPr algn="ctr">
              <a:lnSpc>
                <a:spcPct val="100000"/>
              </a:lnSpc>
              <a:spcBef>
                <a:spcPts val="130"/>
              </a:spcBef>
            </a:pPr>
            <a:r>
              <a:rPr lang="en-IN" dirty="0">
                <a:latin typeface="Times New Roman" panose="02020603050405020304" pitchFamily="18" charset="0"/>
                <a:cs typeface="Times New Roman" panose="02020603050405020304" pitchFamily="18" charset="0"/>
              </a:rPr>
              <a:t>Movie Rating Analysis System</a:t>
            </a: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1650" spc="-10" dirty="0">
                <a:latin typeface="Times New Roman" panose="02020603050405020304" pitchFamily="18" charset="0"/>
                <a:cs typeface="Times New Roman" panose="02020603050405020304" pitchFamily="18" charset="0"/>
              </a:rPr>
              <a:t>M. Bhagya Sri (25B11AI720)</a:t>
            </a:r>
          </a:p>
          <a:p>
            <a:pPr marL="3810" algn="ctr">
              <a:lnSpc>
                <a:spcPct val="100000"/>
              </a:lnSpc>
              <a:spcBef>
                <a:spcPts val="750"/>
              </a:spcBef>
            </a:pPr>
            <a:r>
              <a:rPr lang="en-IN" sz="1650" spc="-10" dirty="0">
                <a:latin typeface="Times New Roman" panose="02020603050405020304" pitchFamily="18" charset="0"/>
                <a:cs typeface="Times New Roman" panose="02020603050405020304" pitchFamily="18" charset="0"/>
              </a:rPr>
              <a:t>B. </a:t>
            </a:r>
            <a:r>
              <a:rPr lang="en-IN" sz="1650" spc="-10" dirty="0" err="1">
                <a:latin typeface="Times New Roman" panose="02020603050405020304" pitchFamily="18" charset="0"/>
                <a:cs typeface="Times New Roman" panose="02020603050405020304" pitchFamily="18" charset="0"/>
              </a:rPr>
              <a:t>Jyotsnavi</a:t>
            </a:r>
            <a:r>
              <a:rPr lang="en-IN" sz="1650" spc="-10" dirty="0">
                <a:latin typeface="Times New Roman" panose="02020603050405020304" pitchFamily="18" charset="0"/>
                <a:cs typeface="Times New Roman" panose="02020603050405020304" pitchFamily="18" charset="0"/>
              </a:rPr>
              <a:t> (25B11AI081)</a:t>
            </a:r>
          </a:p>
          <a:p>
            <a:pPr marL="3810" algn="ctr">
              <a:lnSpc>
                <a:spcPct val="100000"/>
              </a:lnSpc>
              <a:spcBef>
                <a:spcPts val="750"/>
              </a:spcBef>
            </a:pPr>
            <a:r>
              <a:rPr lang="en-IN" sz="1650" spc="-10" dirty="0">
                <a:latin typeface="Times New Roman" panose="02020603050405020304" pitchFamily="18" charset="0"/>
                <a:cs typeface="Times New Roman" panose="02020603050405020304" pitchFamily="18" charset="0"/>
              </a:rPr>
              <a:t>N. Swathi Venkata Alekhya (26B21AI081)</a:t>
            </a:r>
          </a:p>
          <a:p>
            <a:pPr marL="3810" algn="ctr">
              <a:lnSpc>
                <a:spcPct val="100000"/>
              </a:lnSpc>
              <a:spcBef>
                <a:spcPts val="750"/>
              </a:spcBef>
            </a:pPr>
            <a:r>
              <a:rPr lang="en-IN" sz="1650" spc="-10" dirty="0">
                <a:latin typeface="Times New Roman" panose="02020603050405020304" pitchFamily="18" charset="0"/>
                <a:cs typeface="Times New Roman" panose="02020603050405020304" pitchFamily="18" charset="0"/>
              </a:rPr>
              <a:t>K. Sri Bhargavi (26B21AI050)</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19C62EB-D725-3E74-5BAE-BA21BADE8EFF}"/>
              </a:ext>
            </a:extLst>
          </p:cNvPr>
          <p:cNvSpPr txBox="1"/>
          <p:nvPr/>
        </p:nvSpPr>
        <p:spPr>
          <a:xfrm>
            <a:off x="2484824" y="5638800"/>
            <a:ext cx="5029200" cy="1169551"/>
          </a:xfrm>
          <a:prstGeom prst="rect">
            <a:avLst/>
          </a:prstGeom>
          <a:noFill/>
        </p:spPr>
        <p:txBody>
          <a:bodyPr wrap="square">
            <a:spAutoFit/>
          </a:bodyPr>
          <a:lstStyle/>
          <a:p>
            <a:pPr lvl="0" algn="ctr">
              <a:lnSpc>
                <a:spcPct val="150000"/>
              </a:lnSpc>
            </a:pPr>
            <a:r>
              <a:rPr lang="en-US" sz="2000" b="1" dirty="0">
                <a:solidFill>
                  <a:srgbClr val="7030A0"/>
                </a:solidFill>
                <a:latin typeface="Times New Roman" panose="02020603050405020304" pitchFamily="18" charset="0"/>
                <a:ea typeface="Times New Roman"/>
                <a:cs typeface="Times New Roman" panose="02020603050405020304" pitchFamily="18" charset="0"/>
                <a:sym typeface="Times New Roman"/>
              </a:rPr>
              <a:t>Under esteemed guidance of:</a:t>
            </a:r>
            <a:endParaRPr lang="en-US" sz="2000" dirty="0">
              <a:solidFill>
                <a:srgbClr val="7030A0"/>
              </a:solidFill>
              <a:latin typeface="Times New Roman" panose="02020603050405020304" pitchFamily="18" charset="0"/>
              <a:cs typeface="Times New Roman" panose="02020603050405020304" pitchFamily="18" charset="0"/>
            </a:endParaRPr>
          </a:p>
          <a:p>
            <a:pPr algn="ctr"/>
            <a:r>
              <a:rPr lang="en-US" sz="2000" noProof="1">
                <a:latin typeface="Times New Roman" panose="02020603050405020304" pitchFamily="18" charset="0"/>
                <a:cs typeface="Times New Roman" panose="02020603050405020304" pitchFamily="18" charset="0"/>
              </a:rPr>
              <a:t>Mr.B.Sai Venkata Ganesh  </a:t>
            </a:r>
          </a:p>
          <a:p>
            <a:pPr algn="ctr"/>
            <a:r>
              <a:rPr lang="en-US" sz="2000" noProof="1">
                <a:latin typeface="Times New Roman" panose="02020603050405020304" pitchFamily="18" charset="0"/>
                <a:cs typeface="Times New Roman" panose="02020603050405020304" pitchFamily="18" charset="0"/>
              </a:rPr>
              <a:t>M.Tech</a:t>
            </a:r>
            <a:r>
              <a:rPr lang="en-US" sz="2000" dirty="0">
                <a:latin typeface="Times New Roman" panose="02020603050405020304" pitchFamily="18" charset="0"/>
                <a:cs typeface="Times New Roman" panose="02020603050405020304" pitchFamily="18" charset="0"/>
              </a:rPr>
              <a:t>, Assistant Professor (AIML)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953500" cy="5509200"/>
          </a:xfrm>
          <a:prstGeom prst="rect">
            <a:avLst/>
          </a:prstGeom>
          <a:noFill/>
        </p:spPr>
        <p:txBody>
          <a:bodyPr wrap="square" rtlCol="0">
            <a:spAutoFit/>
          </a:bodyPr>
          <a:lstStyle/>
          <a:p>
            <a:r>
              <a:rPr lang="en-IN" sz="2700" dirty="0">
                <a:latin typeface="Times New Roman" panose="02020603050405020304" pitchFamily="18" charset="0"/>
                <a:cs typeface="Times New Roman" panose="02020603050405020304" pitchFamily="18" charset="0"/>
              </a:rPr>
              <a:t>The </a:t>
            </a:r>
            <a:r>
              <a:rPr lang="en-IN" sz="2700" b="1" dirty="0">
                <a:latin typeface="Times New Roman" panose="02020603050405020304" pitchFamily="18" charset="0"/>
                <a:cs typeface="Times New Roman" panose="02020603050405020304" pitchFamily="18" charset="0"/>
              </a:rPr>
              <a:t>Movie Rating Analysis System</a:t>
            </a:r>
            <a:r>
              <a:rPr lang="en-IN" sz="2700" dirty="0">
                <a:latin typeface="Times New Roman" panose="02020603050405020304" pitchFamily="18" charset="0"/>
                <a:cs typeface="Times New Roman" panose="02020603050405020304" pitchFamily="18" charset="0"/>
              </a:rPr>
              <a:t> is a Python-based data analysis project that helps </a:t>
            </a:r>
            <a:r>
              <a:rPr lang="en-IN" sz="2700" dirty="0" err="1">
                <a:latin typeface="Times New Roman" panose="02020603050405020304" pitchFamily="18" charset="0"/>
                <a:cs typeface="Times New Roman" panose="02020603050405020304" pitchFamily="18" charset="0"/>
              </a:rPr>
              <a:t>analyze</a:t>
            </a:r>
            <a:r>
              <a:rPr lang="en-IN" sz="2700" dirty="0">
                <a:latin typeface="Times New Roman" panose="02020603050405020304" pitchFamily="18" charset="0"/>
                <a:cs typeface="Times New Roman" panose="02020603050405020304" pitchFamily="18" charset="0"/>
              </a:rPr>
              <a:t> movie datasets and understand audience ratings.</a:t>
            </a:r>
          </a:p>
          <a:p>
            <a:endParaRPr lang="en-IN" sz="2700" dirty="0">
              <a:latin typeface="Times New Roman" panose="02020603050405020304" pitchFamily="18" charset="0"/>
              <a:cs typeface="Times New Roman" panose="02020603050405020304" pitchFamily="18" charset="0"/>
            </a:endParaRPr>
          </a:p>
          <a:p>
            <a:r>
              <a:rPr lang="en-IN" sz="2700" dirty="0">
                <a:latin typeface="Times New Roman" panose="02020603050405020304" pitchFamily="18" charset="0"/>
                <a:cs typeface="Times New Roman" panose="02020603050405020304" pitchFamily="18" charset="0"/>
              </a:rPr>
              <a:t>The project uses the </a:t>
            </a:r>
            <a:r>
              <a:rPr lang="en-IN" sz="2700" b="1" dirty="0">
                <a:latin typeface="Times New Roman" panose="02020603050405020304" pitchFamily="18" charset="0"/>
                <a:cs typeface="Times New Roman" panose="02020603050405020304" pitchFamily="18" charset="0"/>
              </a:rPr>
              <a:t>Pandas</a:t>
            </a:r>
            <a:r>
              <a:rPr lang="en-IN" sz="2700" dirty="0">
                <a:latin typeface="Times New Roman" panose="02020603050405020304" pitchFamily="18" charset="0"/>
                <a:cs typeface="Times New Roman" panose="02020603050405020304" pitchFamily="18" charset="0"/>
              </a:rPr>
              <a:t> library to load and process movie datasets, cleans missing ratings, sorts movies according to ratings, filters movies by genre and release year, computes average ratings, and visualizes the results using different charts.</a:t>
            </a:r>
          </a:p>
          <a:p>
            <a:endParaRPr lang="en-IN" sz="2700" dirty="0">
              <a:latin typeface="Times New Roman" panose="02020603050405020304" pitchFamily="18" charset="0"/>
              <a:cs typeface="Times New Roman" panose="02020603050405020304" pitchFamily="18" charset="0"/>
            </a:endParaRPr>
          </a:p>
          <a:p>
            <a:r>
              <a:rPr lang="en-IN" sz="2700" dirty="0">
                <a:latin typeface="Times New Roman" panose="02020603050405020304" pitchFamily="18" charset="0"/>
                <a:cs typeface="Times New Roman" panose="02020603050405020304" pitchFamily="18" charset="0"/>
              </a:rPr>
              <a:t>The project demonstrates the complete workflow of data analysis and helps users identify top-rated movies and rating trends.</a:t>
            </a:r>
          </a:p>
          <a:p>
            <a:pPr algn="just"/>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6447919"/>
          </a:xfrm>
          <a:prstGeom prst="rect">
            <a:avLst/>
          </a:prstGeom>
          <a:noFill/>
        </p:spPr>
        <p:txBody>
          <a:bodyPr wrap="square" rtlCol="0">
            <a:spAutoFit/>
          </a:bodyPr>
          <a:lstStyle/>
          <a:p>
            <a:r>
              <a:rPr lang="en-IN" sz="2300" dirty="0">
                <a:latin typeface="Times New Roman" panose="02020603050405020304" pitchFamily="18" charset="0"/>
                <a:cs typeface="Times New Roman" panose="02020603050405020304" pitchFamily="18" charset="0"/>
              </a:rPr>
              <a:t>Thousands of movies are released every year.</a:t>
            </a:r>
          </a:p>
          <a:p>
            <a:r>
              <a:rPr lang="en-IN" sz="2300" dirty="0">
                <a:latin typeface="Times New Roman" panose="02020603050405020304" pitchFamily="18" charset="0"/>
                <a:cs typeface="Times New Roman" panose="02020603050405020304" pitchFamily="18" charset="0"/>
              </a:rPr>
              <a:t>Users often find it difficult to identify the best movies because of the huge amount of data.</a:t>
            </a:r>
          </a:p>
          <a:p>
            <a:r>
              <a:rPr lang="en-IN" sz="2300" dirty="0">
                <a:latin typeface="Times New Roman" panose="02020603050405020304" pitchFamily="18" charset="0"/>
                <a:cs typeface="Times New Roman" panose="02020603050405020304" pitchFamily="18" charset="0"/>
              </a:rPr>
              <a:t>Movie datasets contain information such as</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Movie Title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Genre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Release Year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Rating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Number of Votes </a:t>
            </a:r>
          </a:p>
          <a:p>
            <a:pPr lvl="0"/>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Manual analysis is</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Time consuming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Difficult for large datasets </a:t>
            </a:r>
          </a:p>
          <a:p>
            <a:pPr marL="342900" lvl="0" indent="-342900">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Error prone </a:t>
            </a:r>
          </a:p>
          <a:p>
            <a:pPr lvl="0"/>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Using Python Data Analysis, we can automatically </a:t>
            </a:r>
            <a:r>
              <a:rPr lang="en-IN" sz="2300" dirty="0" err="1">
                <a:latin typeface="Times New Roman" panose="02020603050405020304" pitchFamily="18" charset="0"/>
                <a:cs typeface="Times New Roman" panose="02020603050405020304" pitchFamily="18" charset="0"/>
              </a:rPr>
              <a:t>analyze</a:t>
            </a:r>
            <a:r>
              <a:rPr lang="en-IN" sz="2300" dirty="0">
                <a:latin typeface="Times New Roman" panose="02020603050405020304" pitchFamily="18" charset="0"/>
                <a:cs typeface="Times New Roman" panose="02020603050405020304" pitchFamily="18" charset="0"/>
              </a:rPr>
              <a:t> and visualize movie ratings for better insights.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51752" y="1322610"/>
            <a:ext cx="8534400" cy="5570756"/>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a:t>
            </a:r>
          </a:p>
          <a:p>
            <a:r>
              <a:rPr lang="en-IN" sz="2400" dirty="0">
                <a:latin typeface="Times New Roman" panose="02020603050405020304" pitchFamily="18" charset="0"/>
                <a:cs typeface="Times New Roman" panose="02020603050405020304" pitchFamily="18" charset="0"/>
              </a:rPr>
              <a:t>Movie information is generally stored in</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CSV Files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Excel Sheets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Online Databases </a:t>
            </a:r>
          </a:p>
          <a:p>
            <a:pPr lvl="0"/>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Problems include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searching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Slow analysis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ratings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Difficult to compare movies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automatic visualization</a:t>
            </a:r>
          </a:p>
          <a:p>
            <a:pPr marL="342900" indent="-342900">
              <a:spcBef>
                <a:spcPts val="1200"/>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spcBef>
                <a:spcPts val="1200"/>
              </a:spcBef>
            </a:pPr>
            <a:endParaRPr lang="en-US" sz="24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A35C976F-1965-A32D-B4DC-F0B4E4BC385C}"/>
              </a:ext>
            </a:extLst>
          </p:cNvPr>
          <p:cNvSpPr txBox="1"/>
          <p:nvPr/>
        </p:nvSpPr>
        <p:spPr>
          <a:xfrm>
            <a:off x="1143000" y="1519635"/>
            <a:ext cx="8534400" cy="4611840"/>
          </a:xfrm>
          <a:prstGeom prst="rect">
            <a:avLst/>
          </a:prstGeom>
          <a:noFill/>
        </p:spPr>
        <p:txBody>
          <a:bodyPr wrap="square" rtlCol="0">
            <a:spAutoFit/>
          </a:bodyPr>
          <a:lstStyle/>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Large amount of manual work </a:t>
            </a:r>
          </a:p>
          <a:p>
            <a:pPr marL="457200" lvl="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Missing ratings reduce analysis accuracy</a:t>
            </a:r>
          </a:p>
          <a:p>
            <a:pPr lvl="0"/>
            <a:endParaRPr lang="en-IN" sz="28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Difficult to identify top-rated movies </a:t>
            </a:r>
          </a:p>
          <a:p>
            <a:pPr marL="457200" lvl="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Time-consuming comparisons </a:t>
            </a:r>
          </a:p>
          <a:p>
            <a:pPr marL="457200" lvl="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Lack of graphical insights</a:t>
            </a:r>
          </a:p>
          <a:p>
            <a:pPr>
              <a:lnSpc>
                <a:spcPct val="150000"/>
              </a:lnSpc>
              <a:spcBef>
                <a:spcPts val="1200"/>
              </a:spcBef>
            </a:pPr>
            <a:endParaRPr lang="en-US" sz="2400" u="sng"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08CA10D6-34B3-207F-995F-71C07073E97C}"/>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CC674198-0A09-90AA-B127-197A175DED9F}"/>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6BC02999-C698-BDB8-681E-551F583666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6BA7D85B-9074-7142-F7FC-6C2FC14AC4F6}"/>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7E3985F8-90CA-F86B-E72D-1BF146DB80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000" dirty="0">
                  <a:solidFill>
                    <a:schemeClr val="bg1"/>
                  </a:solidFill>
                </a:rPr>
                <a:t>   </a:t>
              </a:r>
              <a:r>
                <a:rPr lang="en-IN" b="1" dirty="0">
                  <a:solidFill>
                    <a:schemeClr val="bg1"/>
                  </a:solidFill>
                  <a:latin typeface="Times New Roman" panose="02020603050405020304" pitchFamily="18" charset="0"/>
                  <a:cs typeface="Times New Roman" panose="02020603050405020304" pitchFamily="18" charset="0"/>
                </a:rPr>
                <a:t>LIMITATIONS OF EXISTING SYSTEM</a:t>
              </a:r>
            </a:p>
            <a:p>
              <a:endParaRPr lang="en-IN" dirty="0"/>
            </a:p>
          </p:txBody>
        </p:sp>
      </p:gr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216578"/>
            <a:ext cx="8305800" cy="674030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Movie Rating Analysis System</a:t>
            </a:r>
            <a:r>
              <a:rPr lang="en-IN" sz="2400" dirty="0">
                <a:latin typeface="Times New Roman" panose="02020603050405020304" pitchFamily="18" charset="0"/>
                <a:cs typeface="Times New Roman" panose="02020603050405020304" pitchFamily="18" charset="0"/>
              </a:rPr>
              <a:t> using Python.</a:t>
            </a:r>
          </a:p>
          <a:p>
            <a:r>
              <a:rPr lang="en-IN" sz="2400" dirty="0">
                <a:latin typeface="Times New Roman" panose="02020603050405020304" pitchFamily="18" charset="0"/>
                <a:cs typeface="Times New Roman" panose="02020603050405020304" pitchFamily="18" charset="0"/>
              </a:rPr>
              <a:t>The system performs</a:t>
            </a:r>
          </a:p>
          <a:p>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Load movie dataset using Pandas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Clean missing ratings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Sort movies based on ratings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Filter movies by genre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Filter movies by release year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Compute average ratings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Generate visualizations</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3D058333-2F72-218D-E3A0-8F48D57FBAFE}"/>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5C977662-CCD3-8D24-099E-7D08C2146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0EC98C82-D4EB-FCCF-22F7-6BDFDCF563C2}"/>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6F0D22D9-D806-6083-2396-5AB013F3CAA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56A628B6-BD86-41EB-BE40-CEAC575D529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000" dirty="0">
                  <a:solidFill>
                    <a:schemeClr val="bg1"/>
                  </a:solidFill>
                </a:rPr>
                <a:t>             </a:t>
              </a:r>
              <a:r>
                <a:rPr lang="en-IN" sz="2000" b="1" dirty="0">
                  <a:solidFill>
                    <a:schemeClr val="bg1"/>
                  </a:solidFill>
                  <a:latin typeface="Times New Roman" panose="02020603050405020304" pitchFamily="18" charset="0"/>
                  <a:cs typeface="Times New Roman" panose="02020603050405020304" pitchFamily="18" charset="0"/>
                </a:rPr>
                <a:t>PROPOSED SYSTEM</a:t>
              </a:r>
            </a:p>
            <a:p>
              <a:endParaRPr lang="en-IN" dirty="0"/>
            </a:p>
          </p:txBody>
        </p:sp>
      </p:gr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9049FC1C-7B70-9FBF-6E17-23CDB6EBBCFF}"/>
              </a:ext>
            </a:extLst>
          </p:cNvPr>
          <p:cNvGrpSpPr/>
          <p:nvPr/>
        </p:nvGrpSpPr>
        <p:grpSpPr>
          <a:xfrm>
            <a:off x="2667000" y="85008"/>
            <a:ext cx="5103904" cy="1198311"/>
            <a:chOff x="2648188" y="47148"/>
            <a:chExt cx="5103904" cy="1198311"/>
          </a:xfrm>
        </p:grpSpPr>
        <p:pic>
          <p:nvPicPr>
            <p:cNvPr id="4" name="object 4">
              <a:extLst>
                <a:ext uri="{FF2B5EF4-FFF2-40B4-BE49-F238E27FC236}">
                  <a16:creationId xmlns:a16="http://schemas.microsoft.com/office/drawing/2014/main" id="{4FEE5AF4-3C86-15E1-EE8A-30C14DEB2869}"/>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CB08DFAD-8B6D-CDBD-F353-77B0296E302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39EB8BB1-BBA0-57D9-25C8-5B7A3FEA4A8D}"/>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0954E3F1-DB6A-3480-BD3C-7DF30AE2652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000" b="1" dirty="0">
                  <a:solidFill>
                    <a:schemeClr val="bg1"/>
                  </a:solidFill>
                </a:rPr>
                <a:t>                 </a:t>
              </a:r>
              <a:r>
                <a:rPr lang="en-IN" sz="2000" b="1" dirty="0">
                  <a:solidFill>
                    <a:schemeClr val="bg1">
                      <a:lumMod val="95000"/>
                    </a:schemeClr>
                  </a:solidFill>
                  <a:latin typeface="Times New Roman" panose="02020603050405020304" pitchFamily="18" charset="0"/>
                  <a:cs typeface="Times New Roman" panose="02020603050405020304" pitchFamily="18" charset="0"/>
                </a:rPr>
                <a:t>ADVANTAGES</a:t>
              </a:r>
            </a:p>
          </p:txBody>
        </p:sp>
      </p:grpSp>
      <p:sp>
        <p:nvSpPr>
          <p:cNvPr id="14" name="TextBox 13">
            <a:extLst>
              <a:ext uri="{FF2B5EF4-FFF2-40B4-BE49-F238E27FC236}">
                <a16:creationId xmlns:a16="http://schemas.microsoft.com/office/drawing/2014/main" id="{9AE93549-2514-4DA7-CD39-F656169DA0F4}"/>
              </a:ext>
            </a:extLst>
          </p:cNvPr>
          <p:cNvSpPr txBox="1"/>
          <p:nvPr/>
        </p:nvSpPr>
        <p:spPr>
          <a:xfrm>
            <a:off x="914400" y="1283319"/>
            <a:ext cx="6629400" cy="4524315"/>
          </a:xfrm>
          <a:prstGeom prst="rect">
            <a:avLst/>
          </a:prstGeom>
          <a:noFill/>
        </p:spPr>
        <p:txBody>
          <a:bodyPr wrap="square">
            <a:spAutoFit/>
          </a:bodyPr>
          <a:lstStyle/>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Fast movie analysis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Better data quality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Automatic cleaning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Easy visualization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Quick identification of top-rated movies </a:t>
            </a:r>
          </a:p>
          <a:p>
            <a:pPr marL="342900" lvl="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Better decision making for movie recommendations</a:t>
            </a:r>
          </a:p>
        </p:txBody>
      </p:sp>
    </p:spTree>
    <p:extLst>
      <p:ext uri="{BB962C8B-B14F-4D97-AF65-F5344CB8AC3E}">
        <p14:creationId xmlns:p14="http://schemas.microsoft.com/office/powerpoint/2010/main" val="348011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CA7EE8-74F6-AF36-B9E5-7578E123718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DFCC38E1-9856-A2E3-4EB5-E8E13767AF6F}"/>
              </a:ext>
            </a:extLst>
          </p:cNvPr>
          <p:cNvSpPr txBox="1"/>
          <p:nvPr/>
        </p:nvSpPr>
        <p:spPr>
          <a:xfrm>
            <a:off x="762000" y="1143000"/>
            <a:ext cx="8534400" cy="2703625"/>
          </a:xfrm>
          <a:prstGeom prst="rect">
            <a:avLst/>
          </a:prstGeom>
          <a:noFill/>
        </p:spPr>
        <p:txBody>
          <a:bodyPr wrap="square" rtlCol="0">
            <a:spAutoFit/>
          </a:bodyPr>
          <a:lstStyle/>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aphicFrame>
        <p:nvGraphicFramePr>
          <p:cNvPr id="2" name="Table 1">
            <a:extLst>
              <a:ext uri="{FF2B5EF4-FFF2-40B4-BE49-F238E27FC236}">
                <a16:creationId xmlns:a16="http://schemas.microsoft.com/office/drawing/2014/main" id="{DEA1E91E-EF4D-C73B-A7C1-DB20552B5A16}"/>
              </a:ext>
            </a:extLst>
          </p:cNvPr>
          <p:cNvGraphicFramePr>
            <a:graphicFrameLocks noGrp="1"/>
          </p:cNvGraphicFramePr>
          <p:nvPr>
            <p:extLst>
              <p:ext uri="{D42A27DB-BD31-4B8C-83A1-F6EECF244321}">
                <p14:modId xmlns:p14="http://schemas.microsoft.com/office/powerpoint/2010/main" val="814782569"/>
              </p:ext>
            </p:extLst>
          </p:nvPr>
        </p:nvGraphicFramePr>
        <p:xfrm>
          <a:off x="1676400" y="1440429"/>
          <a:ext cx="6705600" cy="546608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1944288598"/>
                    </a:ext>
                  </a:extLst>
                </a:gridCol>
                <a:gridCol w="3352800">
                  <a:extLst>
                    <a:ext uri="{9D8B030D-6E8A-4147-A177-3AD203B41FA5}">
                      <a16:colId xmlns:a16="http://schemas.microsoft.com/office/drawing/2014/main" val="115453955"/>
                    </a:ext>
                  </a:extLst>
                </a:gridCol>
              </a:tblGrid>
              <a:tr h="370840">
                <a:tc>
                  <a:txBody>
                    <a:bodyPr/>
                    <a:lstStyle/>
                    <a:p>
                      <a:pPr>
                        <a:buNone/>
                      </a:pPr>
                      <a:r>
                        <a:rPr lang="en-IN" dirty="0">
                          <a:latin typeface="Times New Roman" panose="02020603050405020304" pitchFamily="18" charset="0"/>
                          <a:cs typeface="Times New Roman" panose="02020603050405020304" pitchFamily="18" charset="0"/>
                        </a:rPr>
                        <a:t>Feature</a:t>
                      </a:r>
                    </a:p>
                  </a:txBody>
                  <a:tcPr anchor="ctr"/>
                </a:tc>
                <a:tc>
                  <a:txBody>
                    <a:bodyPr/>
                    <a:lstStyle/>
                    <a:p>
                      <a:pPr>
                        <a:buNone/>
                      </a:pPr>
                      <a:r>
                        <a:rPr lang="en-IN">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430319842"/>
                  </a:ext>
                </a:extLst>
              </a:tr>
              <a:tr h="370840">
                <a:tc>
                  <a:txBody>
                    <a:bodyPr/>
                    <a:lstStyle/>
                    <a:p>
                      <a:pPr>
                        <a:buNone/>
                      </a:pPr>
                      <a:r>
                        <a:rPr lang="en-IN" dirty="0">
                          <a:latin typeface="Times New Roman" panose="02020603050405020304" pitchFamily="18" charset="0"/>
                          <a:cs typeface="Times New Roman" panose="02020603050405020304" pitchFamily="18" charset="0"/>
                        </a:rPr>
                        <a:t>Movie ID</a:t>
                      </a:r>
                    </a:p>
                  </a:txBody>
                  <a:tcPr anchor="ctr"/>
                </a:tc>
                <a:tc>
                  <a:txBody>
                    <a:bodyPr/>
                    <a:lstStyle/>
                    <a:p>
                      <a:pPr>
                        <a:buNone/>
                      </a:pPr>
                      <a:r>
                        <a:rPr lang="en-IN" dirty="0">
                          <a:latin typeface="Times New Roman" panose="02020603050405020304" pitchFamily="18" charset="0"/>
                          <a:cs typeface="Times New Roman" panose="02020603050405020304" pitchFamily="18" charset="0"/>
                        </a:rPr>
                        <a:t>Unique Movie ID</a:t>
                      </a:r>
                    </a:p>
                  </a:txBody>
                  <a:tcPr anchor="ctr"/>
                </a:tc>
                <a:extLst>
                  <a:ext uri="{0D108BD9-81ED-4DB2-BD59-A6C34878D82A}">
                    <a16:rowId xmlns:a16="http://schemas.microsoft.com/office/drawing/2014/main" val="2626620897"/>
                  </a:ext>
                </a:extLst>
              </a:tr>
              <a:tr h="370840">
                <a:tc>
                  <a:txBody>
                    <a:bodyPr/>
                    <a:lstStyle/>
                    <a:p>
                      <a:pPr>
                        <a:buNone/>
                      </a:pPr>
                      <a:r>
                        <a:rPr lang="en-IN"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Movie Name</a:t>
                      </a:r>
                    </a:p>
                  </a:txBody>
                  <a:tcPr anchor="ctr"/>
                </a:tc>
                <a:extLst>
                  <a:ext uri="{0D108BD9-81ED-4DB2-BD59-A6C34878D82A}">
                    <a16:rowId xmlns:a16="http://schemas.microsoft.com/office/drawing/2014/main" val="2511511095"/>
                  </a:ext>
                </a:extLst>
              </a:tr>
              <a:tr h="370840">
                <a:tc>
                  <a:txBody>
                    <a:bodyPr/>
                    <a:lstStyle/>
                    <a:p>
                      <a:pPr>
                        <a:buNone/>
                      </a:pPr>
                      <a:r>
                        <a:rPr lang="en-IN" dirty="0">
                          <a:latin typeface="Times New Roman" panose="02020603050405020304" pitchFamily="18" charset="0"/>
                          <a:cs typeface="Times New Roman" panose="02020603050405020304" pitchFamily="18" charset="0"/>
                        </a:rPr>
                        <a:t>Genre</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Movie Category</a:t>
                      </a:r>
                    </a:p>
                  </a:txBody>
                  <a:tcPr anchor="ctr"/>
                </a:tc>
                <a:extLst>
                  <a:ext uri="{0D108BD9-81ED-4DB2-BD59-A6C34878D82A}">
                    <a16:rowId xmlns:a16="http://schemas.microsoft.com/office/drawing/2014/main" val="478132485"/>
                  </a:ext>
                </a:extLst>
              </a:tr>
              <a:tr h="370840">
                <a:tc>
                  <a:txBody>
                    <a:bodyPr/>
                    <a:lstStyle/>
                    <a:p>
                      <a:pPr>
                        <a:buNone/>
                      </a:pPr>
                      <a:r>
                        <a:rPr lang="en-IN" dirty="0">
                          <a:latin typeface="Times New Roman" panose="02020603050405020304" pitchFamily="18" charset="0"/>
                          <a:cs typeface="Times New Roman" panose="02020603050405020304" pitchFamily="18" charset="0"/>
                        </a:rPr>
                        <a:t>Year</a:t>
                      </a:r>
                    </a:p>
                  </a:txBody>
                  <a:tcPr anchor="ctr"/>
                </a:tc>
                <a:tc>
                  <a:txBody>
                    <a:bodyPr/>
                    <a:lstStyle/>
                    <a:p>
                      <a:pPr>
                        <a:buNone/>
                      </a:pPr>
                      <a:r>
                        <a:rPr lang="en-IN" dirty="0">
                          <a:latin typeface="Times New Roman" panose="02020603050405020304" pitchFamily="18" charset="0"/>
                          <a:cs typeface="Times New Roman" panose="02020603050405020304" pitchFamily="18" charset="0"/>
                        </a:rPr>
                        <a:t>Release Year</a:t>
                      </a:r>
                    </a:p>
                  </a:txBody>
                  <a:tcPr anchor="ctr"/>
                </a:tc>
                <a:extLst>
                  <a:ext uri="{0D108BD9-81ED-4DB2-BD59-A6C34878D82A}">
                    <a16:rowId xmlns:a16="http://schemas.microsoft.com/office/drawing/2014/main" val="2830447892"/>
                  </a:ext>
                </a:extLst>
              </a:tr>
              <a:tr h="508000">
                <a:tc>
                  <a:txBody>
                    <a:bodyPr/>
                    <a:lstStyle/>
                    <a:p>
                      <a:pPr>
                        <a:buNone/>
                      </a:pPr>
                      <a:r>
                        <a:rPr lang="en-IN" dirty="0">
                          <a:latin typeface="Times New Roman" panose="02020603050405020304" pitchFamily="18" charset="0"/>
                          <a:cs typeface="Times New Roman" panose="02020603050405020304" pitchFamily="18" charset="0"/>
                        </a:rPr>
                        <a:t>Rating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IMDB/User Rating</a:t>
                      </a:r>
                    </a:p>
                  </a:txBody>
                  <a:tcPr anchor="ctr"/>
                </a:tc>
                <a:extLst>
                  <a:ext uri="{0D108BD9-81ED-4DB2-BD59-A6C34878D82A}">
                    <a16:rowId xmlns:a16="http://schemas.microsoft.com/office/drawing/2014/main" val="2385607616"/>
                  </a:ext>
                </a:extLst>
              </a:tr>
              <a:tr h="370840">
                <a:tc>
                  <a:txBody>
                    <a:bodyPr/>
                    <a:lstStyle/>
                    <a:p>
                      <a:pPr>
                        <a:buNone/>
                      </a:pPr>
                      <a:r>
                        <a:rPr lang="en-IN" dirty="0">
                          <a:latin typeface="Times New Roman" panose="02020603050405020304" pitchFamily="18" charset="0"/>
                          <a:cs typeface="Times New Roman" panose="02020603050405020304" pitchFamily="18" charset="0"/>
                        </a:rPr>
                        <a:t>Votes</a:t>
                      </a:r>
                    </a:p>
                  </a:txBody>
                  <a:tcPr anchor="ctr"/>
                </a:tc>
                <a:tc>
                  <a:txBody>
                    <a:bodyPr/>
                    <a:lstStyle/>
                    <a:p>
                      <a:pPr>
                        <a:buNone/>
                      </a:pPr>
                      <a:r>
                        <a:rPr lang="en-IN" dirty="0">
                          <a:latin typeface="Times New Roman" panose="02020603050405020304" pitchFamily="18" charset="0"/>
                          <a:cs typeface="Times New Roman" panose="02020603050405020304" pitchFamily="18" charset="0"/>
                        </a:rPr>
                        <a:t>Number of User Votes</a:t>
                      </a:r>
                    </a:p>
                  </a:txBody>
                  <a:tcPr anchor="ctr"/>
                </a:tc>
                <a:extLst>
                  <a:ext uri="{0D108BD9-81ED-4DB2-BD59-A6C34878D82A}">
                    <a16:rowId xmlns:a16="http://schemas.microsoft.com/office/drawing/2014/main" val="3951019599"/>
                  </a:ext>
                </a:extLst>
              </a:tr>
              <a:tr h="370840">
                <a:tc>
                  <a:txBody>
                    <a:bodyPr/>
                    <a:lstStyle/>
                    <a:p>
                      <a:pPr>
                        <a:buNone/>
                      </a:pPr>
                      <a:r>
                        <a:rPr lang="en-IN" dirty="0">
                          <a:latin typeface="Times New Roman" panose="02020603050405020304" pitchFamily="18" charset="0"/>
                          <a:cs typeface="Times New Roman" panose="02020603050405020304" pitchFamily="18" charset="0"/>
                        </a:rPr>
                        <a:t>Duration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Movie Length</a:t>
                      </a:r>
                    </a:p>
                  </a:txBody>
                  <a:tcPr anchor="ctr"/>
                </a:tc>
                <a:extLst>
                  <a:ext uri="{0D108BD9-81ED-4DB2-BD59-A6C34878D82A}">
                    <a16:rowId xmlns:a16="http://schemas.microsoft.com/office/drawing/2014/main" val="279536793"/>
                  </a:ext>
                </a:extLst>
              </a:tr>
              <a:tr h="370840">
                <a:tc>
                  <a:txBody>
                    <a:bodyPr/>
                    <a:lstStyle/>
                    <a:p>
                      <a:pPr>
                        <a:buNone/>
                      </a:pPr>
                      <a:r>
                        <a:rPr lang="en-IN" dirty="0">
                          <a:latin typeface="Times New Roman" panose="02020603050405020304" pitchFamily="18" charset="0"/>
                          <a:cs typeface="Times New Roman" panose="02020603050405020304" pitchFamily="18" charset="0"/>
                        </a:rPr>
                        <a:t>Language</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Movie Language</a:t>
                      </a:r>
                    </a:p>
                  </a:txBody>
                  <a:tcPr anchor="ctr"/>
                </a:tc>
                <a:extLst>
                  <a:ext uri="{0D108BD9-81ED-4DB2-BD59-A6C34878D82A}">
                    <a16:rowId xmlns:a16="http://schemas.microsoft.com/office/drawing/2014/main" val="202936586"/>
                  </a:ext>
                </a:extLst>
              </a:tr>
              <a:tr h="370840">
                <a:tc>
                  <a:txBody>
                    <a:bodyPr/>
                    <a:lstStyle/>
                    <a:p>
                      <a:pPr>
                        <a:buNone/>
                      </a:pPr>
                      <a:r>
                        <a:rPr lang="en-IN" dirty="0">
                          <a:latin typeface="Times New Roman" panose="02020603050405020304" pitchFamily="18" charset="0"/>
                          <a:cs typeface="Times New Roman" panose="02020603050405020304" pitchFamily="18" charset="0"/>
                        </a:rPr>
                        <a:t>Director</a:t>
                      </a:r>
                    </a:p>
                  </a:txBody>
                  <a:tcPr anchor="ctr"/>
                </a:tc>
                <a:tc>
                  <a:txBody>
                    <a:bodyPr/>
                    <a:lstStyle/>
                    <a:p>
                      <a:pPr>
                        <a:buNone/>
                      </a:pPr>
                      <a:r>
                        <a:rPr lang="en-IN" dirty="0">
                          <a:latin typeface="Times New Roman" panose="02020603050405020304" pitchFamily="18" charset="0"/>
                          <a:cs typeface="Times New Roman" panose="02020603050405020304" pitchFamily="18" charset="0"/>
                        </a:rPr>
                        <a:t>Director of the Movie</a:t>
                      </a:r>
                    </a:p>
                  </a:txBody>
                  <a:tcPr anchor="ctr"/>
                </a:tc>
                <a:extLst>
                  <a:ext uri="{0D108BD9-81ED-4DB2-BD59-A6C34878D82A}">
                    <a16:rowId xmlns:a16="http://schemas.microsoft.com/office/drawing/2014/main" val="2155961198"/>
                  </a:ext>
                </a:extLst>
              </a:tr>
              <a:tr h="370840">
                <a:tc>
                  <a:txBody>
                    <a:bodyPr/>
                    <a:lstStyle/>
                    <a:p>
                      <a:pPr>
                        <a:buNone/>
                      </a:pPr>
                      <a:r>
                        <a:rPr lang="en-IN" dirty="0">
                          <a:latin typeface="Times New Roman" panose="02020603050405020304" pitchFamily="18" charset="0"/>
                          <a:cs typeface="Times New Roman" panose="02020603050405020304" pitchFamily="18" charset="0"/>
                        </a:rPr>
                        <a:t>Cast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Main Actors/Actresses</a:t>
                      </a:r>
                    </a:p>
                  </a:txBody>
                  <a:tcPr anchor="ctr"/>
                </a:tc>
                <a:extLst>
                  <a:ext uri="{0D108BD9-81ED-4DB2-BD59-A6C34878D82A}">
                    <a16:rowId xmlns:a16="http://schemas.microsoft.com/office/drawing/2014/main" val="2585337993"/>
                  </a:ext>
                </a:extLst>
              </a:tr>
              <a:tr h="508000">
                <a:tc>
                  <a:txBody>
                    <a:bodyPr/>
                    <a:lstStyle/>
                    <a:p>
                      <a:pPr>
                        <a:buNone/>
                      </a:pPr>
                      <a:r>
                        <a:rPr lang="en-IN" dirty="0">
                          <a:latin typeface="Times New Roman" panose="02020603050405020304" pitchFamily="18" charset="0"/>
                          <a:cs typeface="Times New Roman" panose="02020603050405020304" pitchFamily="18" charset="0"/>
                        </a:rPr>
                        <a:t>Budget</a:t>
                      </a:r>
                    </a:p>
                  </a:txBody>
                  <a:tcPr anchor="ctr"/>
                </a:tc>
                <a:tc>
                  <a:txBody>
                    <a:bodyPr/>
                    <a:lstStyle/>
                    <a:p>
                      <a:pPr>
                        <a:buNone/>
                      </a:pPr>
                      <a:r>
                        <a:rPr lang="en-IN" dirty="0">
                          <a:latin typeface="Times New Roman" panose="02020603050405020304" pitchFamily="18" charset="0"/>
                          <a:cs typeface="Times New Roman" panose="02020603050405020304" pitchFamily="18" charset="0"/>
                        </a:rPr>
                        <a:t>Total Production Budget</a:t>
                      </a:r>
                    </a:p>
                  </a:txBody>
                  <a:tcPr anchor="ctr"/>
                </a:tc>
                <a:extLst>
                  <a:ext uri="{0D108BD9-81ED-4DB2-BD59-A6C34878D82A}">
                    <a16:rowId xmlns:a16="http://schemas.microsoft.com/office/drawing/2014/main" val="2168233187"/>
                  </a:ext>
                </a:extLst>
              </a:tr>
              <a:tr h="370840">
                <a:tc>
                  <a:txBody>
                    <a:bodyPr/>
                    <a:lstStyle/>
                    <a:p>
                      <a:pPr>
                        <a:buNone/>
                      </a:pPr>
                      <a:r>
                        <a:rPr lang="en-IN" dirty="0">
                          <a:latin typeface="Times New Roman" panose="02020603050405020304" pitchFamily="18" charset="0"/>
                          <a:cs typeface="Times New Roman" panose="02020603050405020304" pitchFamily="18" charset="0"/>
                        </a:rPr>
                        <a:t>Box Office</a:t>
                      </a:r>
                    </a:p>
                  </a:txBody>
                  <a:tcPr anchor="ctr"/>
                </a:tc>
                <a:tc>
                  <a:txBody>
                    <a:bodyPr/>
                    <a:lstStyle/>
                    <a:p>
                      <a:pPr>
                        <a:buNone/>
                      </a:pPr>
                      <a:r>
                        <a:rPr lang="en-IN" dirty="0">
                          <a:latin typeface="Times New Roman" panose="02020603050405020304" pitchFamily="18" charset="0"/>
                          <a:cs typeface="Times New Roman" panose="02020603050405020304" pitchFamily="18" charset="0"/>
                        </a:rPr>
                        <a:t>Total Box Office Collection</a:t>
                      </a:r>
                    </a:p>
                  </a:txBody>
                  <a:tcPr anchor="ctr"/>
                </a:tc>
                <a:extLst>
                  <a:ext uri="{0D108BD9-81ED-4DB2-BD59-A6C34878D82A}">
                    <a16:rowId xmlns:a16="http://schemas.microsoft.com/office/drawing/2014/main" val="1402234857"/>
                  </a:ext>
                </a:extLst>
              </a:tr>
              <a:tr h="370840">
                <a:tc>
                  <a:txBody>
                    <a:bodyPr/>
                    <a:lstStyle/>
                    <a:p>
                      <a:pPr>
                        <a:buNone/>
                      </a:pPr>
                      <a:r>
                        <a:rPr lang="en-IN" dirty="0">
                          <a:latin typeface="Times New Roman" panose="02020603050405020304" pitchFamily="18" charset="0"/>
                          <a:cs typeface="Times New Roman" panose="02020603050405020304" pitchFamily="18" charset="0"/>
                        </a:rPr>
                        <a:t>Country</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Country of Production</a:t>
                      </a:r>
                    </a:p>
                  </a:txBody>
                  <a:tcPr anchor="ctr"/>
                </a:tc>
                <a:extLst>
                  <a:ext uri="{0D108BD9-81ED-4DB2-BD59-A6C34878D82A}">
                    <a16:rowId xmlns:a16="http://schemas.microsoft.com/office/drawing/2014/main" val="3663287366"/>
                  </a:ext>
                </a:extLst>
              </a:tr>
            </a:tbl>
          </a:graphicData>
        </a:graphic>
      </p:graphicFrame>
      <p:grpSp>
        <p:nvGrpSpPr>
          <p:cNvPr id="3" name="object 3">
            <a:extLst>
              <a:ext uri="{FF2B5EF4-FFF2-40B4-BE49-F238E27FC236}">
                <a16:creationId xmlns:a16="http://schemas.microsoft.com/office/drawing/2014/main" id="{C3F7239B-631C-9725-785B-99BC7302D557}"/>
              </a:ext>
            </a:extLst>
          </p:cNvPr>
          <p:cNvGrpSpPr/>
          <p:nvPr/>
        </p:nvGrpSpPr>
        <p:grpSpPr>
          <a:xfrm>
            <a:off x="2667000" y="85008"/>
            <a:ext cx="5103904" cy="1198311"/>
            <a:chOff x="2648188" y="47148"/>
            <a:chExt cx="5103904" cy="1198311"/>
          </a:xfrm>
        </p:grpSpPr>
        <p:pic>
          <p:nvPicPr>
            <p:cNvPr id="4" name="object 4">
              <a:extLst>
                <a:ext uri="{FF2B5EF4-FFF2-40B4-BE49-F238E27FC236}">
                  <a16:creationId xmlns:a16="http://schemas.microsoft.com/office/drawing/2014/main" id="{05689C43-0A83-D5B1-008D-0CB5CFD7C3B4}"/>
                </a:ext>
              </a:extLst>
            </p:cNvPr>
            <p:cNvPicPr/>
            <p:nvPr/>
          </p:nvPicPr>
          <p:blipFill>
            <a:blip r:embed="rId3"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19C5438E-942F-863E-61C0-DFF0111DC768}"/>
                </a:ext>
              </a:extLst>
            </p:cNvPr>
            <p:cNvPicPr/>
            <p:nvPr/>
          </p:nvPicPr>
          <p:blipFill>
            <a:blip r:embed="rId4"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C993545-3AA0-9244-0234-EF752D6A4E33}"/>
                </a:ext>
              </a:extLst>
            </p:cNvPr>
            <p:cNvPicPr/>
            <p:nvPr/>
          </p:nvPicPr>
          <p:blipFill>
            <a:blip r:embed="rId5"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5AEA57A5-EE5B-714E-8026-4FC5D79CA3D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000" dirty="0">
                  <a:solidFill>
                    <a:schemeClr val="bg1"/>
                  </a:solidFill>
                </a:rPr>
                <a:t>         </a:t>
              </a:r>
              <a:r>
                <a:rPr lang="en-IN" sz="2000" b="1" dirty="0">
                  <a:solidFill>
                    <a:schemeClr val="bg1"/>
                  </a:solidFill>
                  <a:latin typeface="Times New Roman" panose="02020603050405020304" pitchFamily="18" charset="0"/>
                  <a:cs typeface="Times New Roman" panose="02020603050405020304" pitchFamily="18" charset="0"/>
                </a:rPr>
                <a:t>DATASET DESCRIPTION</a:t>
              </a:r>
            </a:p>
            <a:p>
              <a:endParaRPr lang="en-IN" dirty="0"/>
            </a:p>
          </p:txBody>
        </p:sp>
      </p:grpSp>
    </p:spTree>
    <p:extLst>
      <p:ext uri="{BB962C8B-B14F-4D97-AF65-F5344CB8AC3E}">
        <p14:creationId xmlns:p14="http://schemas.microsoft.com/office/powerpoint/2010/main" val="351037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038600"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REQUIREMENTS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934735"/>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Google Collab/ Jupyter Notebook</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Libraries: </a:t>
            </a:r>
            <a:r>
              <a:rPr lang="en-IN" sz="2200" dirty="0" err="1">
                <a:latin typeface="Times New Roman" panose="02020603050405020304" pitchFamily="18" charset="0"/>
                <a:cs typeface="Times New Roman" panose="02020603050405020304" pitchFamily="18" charset="0"/>
              </a:rPr>
              <a:t>Pandas,Numpy,Matplotlib</a:t>
            </a:r>
            <a:endParaRPr lang="en-IN" sz="22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990600" y="1666180"/>
            <a:ext cx="8610599" cy="563231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Module 1</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Import Libraries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Read Movie Dataset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Display Dataset</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Module 2</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Dataset Shape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Column Names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Types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Missing Values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Statistical Summary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Module 3</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 Missing Ratings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 Duplicate Records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Correct Invalid Data</a:t>
            </a:r>
          </a:p>
          <a:p>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8057B3F-5DAB-DD41-AECE-F331B855040E}"/>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87F558-D85F-5AC0-F454-1F63CE0A07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A168F22-39BB-5B7D-3CF6-D85FE785C6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54020-DB2F-8565-330C-84D2218CC66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E7A54A0-4068-FC5A-C8B6-7CD6DED089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5F015672-148D-A104-60CF-C6A88B194918}"/>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6C365DC-19B7-1764-968A-F9C87D5E495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6D4B64F4-A7BB-5C66-D262-C3B30131FC70}"/>
              </a:ext>
            </a:extLst>
          </p:cNvPr>
          <p:cNvSpPr txBox="1"/>
          <p:nvPr/>
        </p:nvSpPr>
        <p:spPr>
          <a:xfrm>
            <a:off x="723900" y="1257355"/>
            <a:ext cx="8610599" cy="6247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Module 4</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Sort Movies by Rating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Filter Movies by Genre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Filter Movies by Year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Compute Average Ratings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Module 5</a:t>
            </a:r>
          </a:p>
          <a:p>
            <a:r>
              <a:rPr lang="en-IN" sz="2000" dirty="0">
                <a:latin typeface="Times New Roman" panose="02020603050405020304" pitchFamily="18" charset="0"/>
                <a:cs typeface="Times New Roman" panose="02020603050405020304" pitchFamily="18" charset="0"/>
              </a:rPr>
              <a:t>Generate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Bar Chart (Top Rated Movies)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Histogram (Rating Distribution)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Scatter Plot (Votes vs Ratings)</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Module 6</a:t>
            </a:r>
          </a:p>
          <a:p>
            <a:r>
              <a:rPr lang="en-IN" sz="2000" dirty="0">
                <a:latin typeface="Times New Roman" panose="02020603050405020304" pitchFamily="18" charset="0"/>
                <a:cs typeface="Times New Roman" panose="02020603050405020304" pitchFamily="18" charset="0"/>
              </a:rPr>
              <a:t>Recommend movies based on</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Highest Ratings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Genre Preference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Release Year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Popularity (Votes)</a:t>
            </a:r>
          </a:p>
          <a:p>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217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072-48CF-7A07-3283-0CB79F29AB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17C9B2-E7CC-1C9A-D7F8-2089A03BE5C7}"/>
              </a:ext>
            </a:extLst>
          </p:cNvPr>
          <p:cNvSpPr txBox="1"/>
          <p:nvPr/>
        </p:nvSpPr>
        <p:spPr>
          <a:xfrm>
            <a:off x="961785" y="1509880"/>
            <a:ext cx="8574881"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system displays:</a:t>
            </a:r>
          </a:p>
          <a:p>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 Information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Cleaned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Sorted Movies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Filtered Movies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Average Ratings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Top Rated Movies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Bar Chart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Histogram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Scatter Plot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Recommendation Results</a:t>
            </a:r>
          </a:p>
          <a:p>
            <a:endParaRPr lang="en-IN" sz="24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1D05E8A7-0BAB-CD52-0FC4-DBD8F083248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2B30C952-F60A-FB38-53A3-CC89BA08827C}"/>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866CFA0-4F50-28F0-EFC2-86D038EB211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F09A4D8-A400-E0F8-0CA6-063B8B882E6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8E97D79-7FA8-D140-E726-79CFA9A5B81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0F701E1-161B-537E-CE8F-F2E5197F401F}"/>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a:extLst>
              <a:ext uri="{FF2B5EF4-FFF2-40B4-BE49-F238E27FC236}">
                <a16:creationId xmlns:a16="http://schemas.microsoft.com/office/drawing/2014/main" id="{F12DBFE6-BE52-C24E-9E8E-C14765A305F3}"/>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942059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872251" y="1254710"/>
            <a:ext cx="8574881" cy="526297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Movie Rating Analysis System</a:t>
            </a:r>
            <a:r>
              <a:rPr lang="en-IN" sz="2400" dirty="0">
                <a:latin typeface="Times New Roman" panose="02020603050405020304" pitchFamily="18" charset="0"/>
                <a:cs typeface="Times New Roman" panose="02020603050405020304" pitchFamily="18" charset="0"/>
              </a:rPr>
              <a:t> demonstrates the complete data analysis workflow using Python.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project helps students understand</a:t>
            </a:r>
          </a:p>
          <a:p>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 Loading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Cleaning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Analysis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Visualization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Recommendation Logic </a:t>
            </a: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It provides a strong foundation for future Data Science and Machine Learning projects.</a:t>
            </a:r>
          </a:p>
          <a:p>
            <a:endParaRPr lang="en-IN" sz="24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3648</TotalTime>
  <Words>643</Words>
  <Application>Microsoft Office PowerPoint</Application>
  <PresentationFormat>Custom</PresentationFormat>
  <Paragraphs>209</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vt:lpstr>
      <vt:lpstr>Palatino Linotype</vt:lpstr>
      <vt:lpstr>Times New Roman</vt:lpstr>
      <vt:lpstr>Wingdings</vt:lpstr>
      <vt:lpstr>Office Theme</vt:lpstr>
      <vt:lpstr>Data Analysis Essentials Cornerstone Project First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vt:lpstr>
      <vt:lpstr>METHODOLOGY</vt:lpstr>
      <vt:lpstr>EXPECTED OUTPUTS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Bhagya Mattaparthi</cp:lastModifiedBy>
  <cp:revision>49</cp:revision>
  <cp:lastPrinted>2025-10-14T18:21:49Z</cp:lastPrinted>
  <dcterms:created xsi:type="dcterms:W3CDTF">2025-10-10T08:28:06Z</dcterms:created>
  <dcterms:modified xsi:type="dcterms:W3CDTF">2026-10-23T07:15:29Z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